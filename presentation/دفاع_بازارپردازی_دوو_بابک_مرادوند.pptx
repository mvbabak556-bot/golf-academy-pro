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17043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سلام و احترام به استاد راهنمای محترم و داوران گرامی. موضوع پایان‌نامه: بررسی تأثیر عملکرد بازارپردازی بر ارتقای فروش فروشگاه‌های دوو شهر اهواز، در مقطع کارشناسی ارشد مدیریت بازرگانی گرایش بازاریابی. ابتدا نقشه مسیر و سپس مبانی، روش، یافته‌ها و جمع‌بندی ارائه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نقشه مسیر ارائه در ۱۶ بخش؛ نوار پیشرفت کناری در همه اسلایدها بخش فعال را نشان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بازارپردازی مجموعه فعالیت‌های برنامه‌ریزی شده برای نمایش و چیدمان موثر محصول در نقطه فروش است و آن را فروشنده خاموش می‌نامند. این پژوهش سه بُعد مستقل و یک متغیر وابسته (ارتقای فروش) را می‌سنجد.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 اصلی: هزینه‌های بازارپردازی به‌دلیل بازخورد غیرآنی اغلب کم‌اثر تلقی می‌شود و چیدمان در بسیاری فروشگاه‌ها سلیقه‌ای است؛ سه بُعد اصلی معرفی و پرسش محوری درباره رابطه آن‌ها با فروش مطرح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اهمیت در دو سطح اجرایی (تثبیت برند، تجربه مشتری، گردش کالا) و علمی (سنجش همزمان هر سه بُعد و خلأ مطالعاتی در صنعت لوازم خانگی دوو اهواز)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هدف اصلی بررسی تأثیر بازارپردازی بر ارتقای فروش و سه هدف فرعی متناظر با سه بُعد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فرضیه اصلی رابطه مثبت و معنادار بازارپردازی و فروش و سه فرضیه فرعی برای ابعاد؛ آزمون با اسپیرمن در SPSS.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مدل مفهومی: سه بُعد مستقل (اقلام تبلیغاتی ۵ گویه، سازماندهی ۵ گویه، چیدمان ۵ گویه) بر ارتقای فروش (۴ گویه) اثر می‌گذارند؛ مجموع ۱۹ پرسش تخصصی.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مرور تعاریف کلیدی: بازارپردازی، ارتقای فروش، اقلام تبلیغاتی POSM، سازماندهی، چیدمان و نقاط داغ؛ و پنج اصل بازارپردازی بصری.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پیشینه داخلی و خارجی: مهراب‌پور ۱۳۹۸، منصوری‌موید ۱۳۹۳، سالار ۱۳۹۲، کرفوت ۲۰۱۴، فام ۲۰۱۱ و لاوو ۲۰۰۶. شکاف پژوهشی: سنجش همزمان و کمی هر سه بُعد در فروشگاه‌های لوازم خانگی دوو.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معرفی بستر: برند دوو در ۱۹۶۷ در سئول تأسیس شد، پس از بحران ۱۹۹۹ بازسازی شد و در ایران محصولات آن توسط شرکت انتخاب الکترونیک آرمان (گروه صنعتی انتخاب) در کارخانه مورچه‌خورت اصفهان تولید و با شبکه گسترده خدمات عرضه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پژوهش کاربردی و توصیفی-همبستگی است؛ داده با مطالعه کتابخانه‌ای و پرسشنامه گردآوری و در SPSS تحلیل شد. مسیر: مدل، روایی، ۱۵۰ پرسشنامه، آلفا، آزمون K-S و اسپیرمن.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جامعه ۲۴۵ نفر از کارکنان (مدیران، فروشندگان، حسابداران) فروشگاه‌های دوو اهواز در ۱۴۰۴-۱۴۰۵ است؛ نمونه ۱۵۰ نفری بر اساس مورگان با روش ترکیبی طبقه‌ای و خوشه‌ای. انحراف معیار تقریبی ۰٫۶۷، اطمینان ۹۵ درصد و خطای ۰٫۱۰۷ لحاظ شد.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ابزار پرسشنامه دو بخشی با ۱۹ پرسش لیکرت ۱ تا ۵ است. روایی محتوایی تایید و آلفای کرونباخ کل ۰٫۹۲۲ شد؛ آلفای ابعاد ۰٫۷۳۵، ۰٫۷۹۶، ۰٫۷۹۳ و فروش ۰٫۶۹۸ است که همگی قابل قبول‌اند.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متغیرها و گویه‌ها. آزمون K-S نشان داد بُعد کلی بازارپردازی نرمال (۰٫۲۰۰) اما چهار متغیر اصلی غیرنرمال‌اند؛ به همین دلیل با توجه به داده رتبه‌ای لیکرت از اسپیرمن استفاده شد.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آمار توصیفی: ۸۸ درصد مرد، ۱۲ درصد زن؛ بیشترین تحصیلات لیسانس ۴۸٫۷ درصد؛ بیشترین گروه سنی ۳۶ تا ۴۵ سال با ۳۷٫۳ درصد.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نمای کلی یافته‌ها: هر چهار فرضیه تایید شد. ضرایب اسپیرمن به ترتیب ۰٫۷۷۵ برای کل، ۰٫۷۱۰ اقلام، ۰٫۶۶۷ سازماندهی و ۰٫۷۱۰ چیدمان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کامل نتایج با سطح معناداری ۰٫۰۰۰ و N برابر ۱۵۰؛ همه روابط مثبت و معنادارند و قوی‌ترین رابطه به کل بازارپردازی تعلق 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مقایسه یافته‌ها با پیشینه: اقلام تبلیغاتی با فام ۲۰۱۱، سازماندهی با مهراب‌پور ۱۳۹۸ و چیدمان با کرفوت ۲۰۱۴ و مطالعات داخلی هم‌خوان است. یادآوری: همبستگی به‌تنهایی اثبات علیت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زنجیره تفسیر: اجرای بازارپردازی، تجربه مثبت مشتری، قصد خرید و در نهایت ارتقای فروش. کل یکپارچه بازارپردازی (۰٫۷۷۵) از هر یک از اجزا اثرگذارتر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مهم‌ترین یافته: بازارپردازی با ۰٫۷۷۵ رابطه مثبت و نسبتا قوی با فروش دارد و هر سه بُعد معنادارند؛ پایایی کل ۰٫۹۲۲ و همه فرضیه‌ها تایید شدند.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پیشنهادهای کاربردی در سه گروه اقلام تبلیغاتی، سازماندهی و چیدمان، برگرفته از فصل پنجم پایان‌نامه.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پیشنهادهای پژوهشی آینده شامل سنجش نورپردازی و رنگ، نقش میانجی تجربه مشتری، تکرار در شهرها و برندهای دیگر و روش‌های پیشرفته‌تر. محدودیت‌ها: ابزار پرسشنامه، پاسخ‌دهندگان، مکان، منابع و روش همبستگی.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جمع‌بندی: شاخص‌های کلیدی ۲۴۵ نفر جامعه، ۱۵۰ نمونه، آلفای ۰٫۹۲۲ و همبستگی ۰٫۷۷۵؛ پیام کلیدی این است که طراحی هدفمند محیط فروشگاه اهرمی اثربخش برای ارتقای فروش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از توجه استاد راهنمای محترم و داوران گرامی سپاسگزارم؛ آماده دریافت پرسش‌ها و دیدگاه‌های ارزشمند هستم.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4320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ECE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4612" y="507492"/>
            <a:ext cx="192024" cy="192024"/>
          </a:xfrm>
          <a:prstGeom prst="ellipse">
            <a:avLst/>
          </a:prstGeom>
          <a:solidFill>
            <a:srgbClr val="0D2137"/>
          </a:solidFill>
          <a:ln w="25400">
            <a:solidFill>
              <a:srgbClr val="D6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79476" y="562356"/>
            <a:ext cx="82296" cy="82296"/>
          </a:xfrm>
          <a:prstGeom prst="ellipse">
            <a:avLst/>
          </a:prstGeom>
          <a:solidFill>
            <a:srgbClr val="D6B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98348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7" name="Oval 26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29" name="Oval 28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1" name="Oval 30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3" name="Oval 32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5" name="Oval 34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22344A"/>
          </a:solidFill>
          <a:ln w="11430">
            <a:solidFill>
              <a:srgbClr val="96A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AAB2BC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۱ / ۲۵</a:t>
            </a:r>
          </a:p>
        </p:txBody>
      </p:sp>
      <p:pic>
        <p:nvPicPr>
          <p:cNvPr id="39" name="Picture 38" descr="logo_pnu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365760"/>
            <a:ext cx="658368" cy="6583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06440" y="475488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50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دانشگاه پیام نور — مرکز جویبار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84124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0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بخش مدیریت، اقتصاد و حسابداری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8668512" y="1883664"/>
            <a:ext cx="402336" cy="0"/>
          </a:xfrm>
          <a:prstGeom prst="line">
            <a:avLst/>
          </a:prstGeom>
          <a:ln w="2286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62288" y="1737360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50" b="0" lang="fa-IR" altLang="en-US" dirty="0" spc="60">
                <a:solidFill>
                  <a:srgbClr val="7FBFBF"/>
                </a:solidFill>
                <a:latin typeface="B Lotus"/>
                <a:ea typeface="B Lotus"/>
                <a:cs typeface="B Lotus"/>
              </a:rPr>
              <a:t>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2121408"/>
            <a:ext cx="528523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28000"/>
              </a:lnSpc>
            </a:pPr>
            <a:r>
              <a:rPr sz="28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بررسی تأثیر عملکرد بازارپردازی بر ارتقای فروش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401568"/>
            <a:ext cx="528523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0000"/>
              </a:lnSpc>
            </a:pPr>
            <a:r>
              <a:rPr sz="13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موردمطالعه: فروشگاه‌های لوازم خانگی دوو در شهر اهواز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8275320" y="3986784"/>
            <a:ext cx="2816352" cy="0"/>
          </a:xfrm>
          <a:prstGeom prst="line">
            <a:avLst/>
          </a:prstGeom>
          <a:ln w="12700">
            <a:solidFill>
              <a:srgbClr val="7482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646920" y="4224528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B2BAC4"/>
                </a:solidFill>
                <a:latin typeface="B Zar"/>
                <a:ea typeface="B Zar"/>
                <a:cs typeface="B Zar"/>
              </a:rPr>
              <a:t>دانشجو 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4224528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2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بابک مرادوند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562856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B2BAC4"/>
                </a:solidFill>
                <a:latin typeface="B Zar"/>
                <a:ea typeface="B Zar"/>
                <a:cs typeface="B Zar"/>
              </a:rPr>
              <a:t>استاد راهنما 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562856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2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دکتر رمضان غلامی اواتی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490118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B2BAC4"/>
                </a:solidFill>
                <a:latin typeface="B Zar"/>
                <a:ea typeface="B Zar"/>
                <a:cs typeface="B Zar"/>
              </a:rPr>
              <a:t>مقطع و رشته 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4901184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2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کارشناسی ارشد مدیریت بازرگانی (بازاریابی)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5239512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B2BAC4"/>
                </a:solidFill>
                <a:latin typeface="B Zar"/>
                <a:ea typeface="B Zar"/>
                <a:cs typeface="B Zar"/>
              </a:rPr>
              <a:t>تاریخ دفاع 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5239512"/>
            <a:ext cx="37033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2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تیر ۱۴۰۵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4612" y="507492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79476" y="562356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98348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7" name="Oval 26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29" name="Oval 28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1" name="Oval 30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3" name="Oval 32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5" name="Oval 34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  ·  عنوان و معرفی پژوهش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نقشهٔ مسیر ارائه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 / ۲۵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9408" y="1463040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0D2137"/>
          </a:solidFill>
          <a:ln w="12700">
            <a:solidFill>
              <a:srgbClr val="0D2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>
            <a:off x="9253728" y="1664208"/>
            <a:ext cx="1225296" cy="0"/>
          </a:xfrm>
          <a:prstGeom prst="line">
            <a:avLst/>
          </a:prstGeom>
          <a:ln w="1778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070848" y="1609344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D6B878"/>
                </a:solidFill>
                <a:latin typeface="B Titr"/>
                <a:ea typeface="B Titr"/>
                <a:cs typeface="B Titr"/>
              </a:rPr>
              <a:t>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7424" y="2011680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عنوان و معرفی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10528" y="1463040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1609344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544" y="2011680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کلیات پژوهش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41648" y="1463040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33087" y="1609344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9663" y="2011680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بیان مسئله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72768" y="1463040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64208" y="1609344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0784" y="2011680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اهمیت و ضرورت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79408" y="2706624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70848" y="2852928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07424" y="3255264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اهداف و فرضیه‌ها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10528" y="2706624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01968" y="2852928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8544" y="3255264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مبانی و پیشینه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41648" y="2706624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33087" y="2852928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9663" y="3255264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روش‌شناسی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72768" y="2706624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64208" y="2852928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00784" y="3255264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جامعه و نمونه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79408" y="3950208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70848" y="4096512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07424" y="449884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ابزار گردآوری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10528" y="3950208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01968" y="4096512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38544" y="449884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یافته‌ها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41648" y="3950208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33087" y="4096512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69663" y="449884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تحلیل و بحث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72768" y="3950208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64208" y="4096512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00784" y="449884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نتیجه‌گیری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79408" y="5193792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70848" y="5340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07424" y="5742431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پیشنهادها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510528" y="5193792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01968" y="5340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38544" y="5742431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محدودیت‌ها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041648" y="5193792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33087" y="5340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۱۵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69663" y="5742431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جمع‌بندی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572768" y="5193792"/>
            <a:ext cx="2322575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64208" y="5340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5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00784" y="5742431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تشکر و پاسخ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436473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24612" y="889101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9476" y="943965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879957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کلیات پژوهش</a:t>
            </a:r>
          </a:p>
        </p:txBody>
      </p:sp>
      <p:sp>
        <p:nvSpPr>
          <p:cNvPr id="10" name="Oval 9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2" name="Oval 11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4" name="Oval 13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6" name="Oval 15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۲  ·  کلیات پژوهش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مقدمه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۳ / ۲۵</a:t>
            </a:r>
          </a:p>
        </p:txBody>
      </p:sp>
      <p:pic>
        <p:nvPicPr>
          <p:cNvPr id="45" name="Picture 44" descr="c_me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81328"/>
            <a:ext cx="3794760" cy="278892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691640" y="4334256"/>
            <a:ext cx="3794760" cy="969264"/>
          </a:xfrm>
          <a:prstGeom prst="roundRect">
            <a:avLst>
              <a:gd name="adj" fmla="val 22641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74519" y="444398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0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بازارپردازی (مرچندایزینگ)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74519" y="4736592"/>
            <a:ext cx="3429000" cy="4937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0000"/>
              </a:lnSpc>
            </a:pPr>
            <a:r>
              <a:rPr sz="96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مجموعه فعالیت‌های برنامه‌ریزی‌شده برای عرضه، نمایش و چیدمان مؤثر محصول در محل فروش، با هدف جلب توجه و افزایش فروش.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178540" y="1623060"/>
            <a:ext cx="82296" cy="82296"/>
          </a:xfrm>
          <a:prstGeom prst="roundRect">
            <a:avLst>
              <a:gd name="adj" fmla="val 44444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1554480"/>
            <a:ext cx="513892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تبلیغات هدفمند و متناسب با شرایط روز، از عوامل مؤثر بر قصد خرید و تغییر تصمیم مصرف‌کننده است.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178540" y="2391156"/>
            <a:ext cx="82296" cy="82296"/>
          </a:xfrm>
          <a:prstGeom prst="roundRect">
            <a:avLst>
              <a:gd name="adj" fmla="val 44444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2322576"/>
            <a:ext cx="513892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بازارپردازی، زبان ارتباطی برند و مشتری در نقطهٔ فروش است و «فروشندهٔ خاموش» فروشگاه به‌شمار می‌رود.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178540" y="3159252"/>
            <a:ext cx="82296" cy="82296"/>
          </a:xfrm>
          <a:prstGeom prst="roundRect">
            <a:avLst>
              <a:gd name="adj" fmla="val 44444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3090672"/>
            <a:ext cx="513892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 پیچیده‌تر شدن خرید و تغییر انتظار مشتریان، بهره‌گیری از راهکارهای نوین و اثربخش فروشگاهی ضرورت یافته است.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178540" y="3927348"/>
            <a:ext cx="82296" cy="82296"/>
          </a:xfrm>
          <a:prstGeom prst="roundRect">
            <a:avLst>
              <a:gd name="adj" fmla="val 44444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0" y="3858768"/>
            <a:ext cx="513892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این پژوهش رابطهٔ سه بُعد بازارپردازی را با میزان فروش فروشگاه‌های لوازم خانگی دوو در اهواز می‌سنجد.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56448" y="5504688"/>
            <a:ext cx="3145535" cy="731520"/>
          </a:xfrm>
          <a:prstGeom prst="roundRect">
            <a:avLst>
              <a:gd name="adj" fmla="val 30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66175" y="5577840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۳ بُعد مستقل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5" y="5870448"/>
            <a:ext cx="29260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اقلام تبلیغاتی · سازماندهی · چیدمان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64608" y="5504688"/>
            <a:ext cx="3145535" cy="731520"/>
          </a:xfrm>
          <a:prstGeom prst="roundRect">
            <a:avLst>
              <a:gd name="adj" fmla="val 30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74336" y="5577840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۱ متغیر وابسته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5870448"/>
            <a:ext cx="29260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ارتقای فروش محصولات دوو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72768" y="5504688"/>
            <a:ext cx="3145535" cy="731520"/>
          </a:xfrm>
          <a:prstGeom prst="roundRect">
            <a:avLst>
              <a:gd name="adj" fmla="val 30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82496" y="5577840"/>
            <a:ext cx="292607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بستر مطالعه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82496" y="5870448"/>
            <a:ext cx="29260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فروشگاه‌های لوازم خانگی دوو ـ اهواز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818083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24612" y="1270711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9476" y="1325575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261567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بیان مسئله</a:t>
            </a:r>
          </a:p>
        </p:txBody>
      </p:sp>
      <p:sp>
        <p:nvSpPr>
          <p:cNvPr id="12" name="Oval 11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4" name="Oval 13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6" name="Oval 15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۳  ·  بیان مسئله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مسئلهٔ اصلی پژوهش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۴ / ۲۵</a:t>
            </a:r>
          </a:p>
        </p:txBody>
      </p:sp>
      <p:pic>
        <p:nvPicPr>
          <p:cNvPr id="45" name="Picture 44" descr="c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44752"/>
            <a:ext cx="3154680" cy="461772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1178540" y="1549908"/>
            <a:ext cx="82296" cy="82296"/>
          </a:xfrm>
          <a:prstGeom prst="roundRect">
            <a:avLst>
              <a:gd name="adj" fmla="val 44444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1481328"/>
            <a:ext cx="587044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هزینه‌های بازارپردازی اغلب «کم‌اثر» تلقی می‌شود، چون بازخورد آن برخلاف فروش مستقیم، آنی و ملموس نیست.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178540" y="2372868"/>
            <a:ext cx="82296" cy="82296"/>
          </a:xfrm>
          <a:prstGeom prst="roundRect">
            <a:avLst>
              <a:gd name="adj" fmla="val 44444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2304288"/>
            <a:ext cx="587044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در نبود شناخت دقیق از مشتری و اصول علمی نمایش، چیدمان بیشتر بر سلیقهٔ شخصی انجام می‌شود تا استاندارد برند.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2080" y="2926080"/>
            <a:ext cx="6089904" cy="64008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89920" y="3054096"/>
            <a:ext cx="384048" cy="384048"/>
          </a:xfrm>
          <a:prstGeom prst="ellipse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89920" y="30358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250" b="1" lang="fa-IR" altLang="en-US" dirty="0">
                <a:solidFill>
                  <a:srgbClr val="D6B878"/>
                </a:solidFill>
                <a:latin typeface="B Titr"/>
                <a:ea typeface="B Titr"/>
                <a:cs typeface="B Titr"/>
              </a:rPr>
              <a:t>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2926080"/>
            <a:ext cx="5138928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11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استقرار هدفمند اقلام تبلیغاتی در محیط فروشگاه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12080" y="3675888"/>
            <a:ext cx="6089904" cy="64008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89920" y="3803904"/>
            <a:ext cx="384048" cy="384048"/>
          </a:xfrm>
          <a:prstGeom prst="ellipse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20" y="378561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250" b="1" lang="fa-IR" altLang="en-US" dirty="0">
                <a:solidFill>
                  <a:srgbClr val="D6B878"/>
                </a:solidFill>
                <a:latin typeface="B Titr"/>
                <a:ea typeface="B Titr"/>
                <a:cs typeface="B Titr"/>
              </a:rPr>
              <a:t>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3675888"/>
            <a:ext cx="5138928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11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سازماندهی و اثربخشی فعالیت‌های بازارپردازی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2080" y="4425696"/>
            <a:ext cx="6089904" cy="64008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789920" y="4553712"/>
            <a:ext cx="384048" cy="384048"/>
          </a:xfrm>
          <a:prstGeom prst="ellipse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89920" y="45354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250" b="1" lang="fa-IR" altLang="en-US" dirty="0">
                <a:solidFill>
                  <a:srgbClr val="D6B878"/>
                </a:solidFill>
                <a:latin typeface="B Titr"/>
                <a:ea typeface="B Titr"/>
                <a:cs typeface="B Titr"/>
              </a:rPr>
              <a:t>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4425696"/>
            <a:ext cx="5138928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11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نحوهٔ چیدمان و جانمایی بهینهٔ محصولات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12080" y="5321808"/>
            <a:ext cx="6089904" cy="786384"/>
          </a:xfrm>
          <a:prstGeom prst="roundRect">
            <a:avLst>
              <a:gd name="adj" fmla="val 27906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1210544" y="5321808"/>
            <a:ext cx="91440" cy="786384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40680" y="5321808"/>
            <a:ext cx="557784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5000"/>
              </a:lnSpc>
            </a:pPr>
            <a:r>
              <a:rPr sz="12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پرسش محوری: آیا اجرای این سه بُعد با میزان فروش محصولات دوو رابطهٔ مثبت و معنادار دارد؟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1199692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24612" y="1652320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9476" y="1707184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64317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اهمیت و ضرورت</a:t>
            </a:r>
          </a:p>
        </p:txBody>
      </p:sp>
      <p:sp>
        <p:nvSpPr>
          <p:cNvPr id="14" name="Oval 13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6" name="Oval 15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۴  ·  اهمیت و ضرورت پژوهش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چرا این پژوهش؟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۵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19672" y="1444752"/>
            <a:ext cx="4782312" cy="3712463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19672" y="1444752"/>
            <a:ext cx="4782312" cy="512064"/>
          </a:xfrm>
          <a:prstGeom prst="roundRect">
            <a:avLst>
              <a:gd name="adj" fmla="val 42857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19672" y="1737360"/>
            <a:ext cx="4782312" cy="219456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02552" y="1444752"/>
            <a:ext cx="4416551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23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ضرورت اجرایی برای صنعت و برند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027663" y="218998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75704" y="212140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تثبیت جایگاه برند و شکل‌گیری ذهنیت مثبت و ماندگار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027663" y="273862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75704" y="267004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معرفی مطلوب محصولات جدید و مزیت‌های رقابتی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027663" y="328726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75704" y="321868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بهبود تجربه و تصمیم خرید مشتری در نقطهٔ فروش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027663" y="383590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75704" y="376732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افزایش سرعت گردش کالا و استفادهٔ بهینه از فضای فروشگاه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027663" y="438454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75704" y="431596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چارچوب کاربردی برای تولیدکنندگان و فعالان لوازم خانگی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572768" y="1444752"/>
            <a:ext cx="4782312" cy="3712463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572768" y="1444752"/>
            <a:ext cx="4782312" cy="512064"/>
          </a:xfrm>
          <a:prstGeom prst="roundRect">
            <a:avLst>
              <a:gd name="adj" fmla="val 42857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572768" y="1737360"/>
            <a:ext cx="4782312" cy="219456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55648" y="1444752"/>
            <a:ext cx="4416551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23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ضرورت علمی و تصمیم‌سازی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0760" y="218998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0" y="212140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سنجش هم‌زمان هر سه بُعد بازارپردازی و رابطهٔ آن‌ها با فروش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80760" y="273862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0" y="267004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شواهد تجربی برای فروشگاه‌های دوو در بازار اهواز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80760" y="328726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0" y="321868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مبنای داده برای مدیران فروش و بازاریابی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80760" y="383590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0" y="376732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پاسخ به این خلأ که مطالعات محدود همهٔ ابعاد را یکجا سنجیده‌اند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080760" y="4384548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28800" y="4315968"/>
            <a:ext cx="4215383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پایه‌ای برای پژوهش‌های تکمیلی در صنعت لوازم خانگی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56448" y="5413248"/>
            <a:ext cx="3145535" cy="804672"/>
          </a:xfrm>
          <a:prstGeom prst="roundRect">
            <a:avLst>
              <a:gd name="adj" fmla="val 2727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47888" y="5532120"/>
            <a:ext cx="296265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گروه کالایی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47888" y="5797296"/>
            <a:ext cx="296265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12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لوازم خانگی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864608" y="5413248"/>
            <a:ext cx="3145535" cy="804672"/>
          </a:xfrm>
          <a:prstGeom prst="roundRect">
            <a:avLst>
              <a:gd name="adj" fmla="val 2727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56048" y="5532120"/>
            <a:ext cx="296265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موردمطالعه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56048" y="5797296"/>
            <a:ext cx="296265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12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فروشگاه‌های دوو ـ اهواز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572768" y="5413248"/>
            <a:ext cx="3145535" cy="804672"/>
          </a:xfrm>
          <a:prstGeom prst="roundRect">
            <a:avLst>
              <a:gd name="adj" fmla="val 2727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64208" y="5532120"/>
            <a:ext cx="296265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قلمرو زمانی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64208" y="5797296"/>
            <a:ext cx="296265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12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سال ۱۴۰۴ و ۱۴۰۵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1581302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24612" y="2033930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9476" y="2088794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02478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اهداف و فرضیه‌ها</a:t>
            </a:r>
          </a:p>
        </p:txBody>
      </p:sp>
      <p:sp>
        <p:nvSpPr>
          <p:cNvPr id="16" name="Oval 15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۵  ·  اهداف و فرضیه‌ها (۱)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اهداف پژوهش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۶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72768" y="1444752"/>
            <a:ext cx="9729215" cy="1243584"/>
          </a:xfrm>
          <a:prstGeom prst="roundRect">
            <a:avLst>
              <a:gd name="adj" fmla="val 20588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884663" y="162763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84663" y="1627632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هدف اصلی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38528" y="1993392"/>
            <a:ext cx="8997695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0000"/>
              </a:lnSpc>
            </a:pPr>
            <a:r>
              <a:rPr sz="15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بررسی تأثیر عملکرد بازارپردازی در ارتقای فروش فروشگاه‌های دوو شهر اهواز.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0832" y="3054096"/>
            <a:ext cx="3121151" cy="2542032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467088" y="3273552"/>
            <a:ext cx="548640" cy="54864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7088" y="325526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7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8848" y="3950208"/>
            <a:ext cx="28651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B8903E"/>
                </a:solidFill>
                <a:latin typeface="B Lotus"/>
                <a:ea typeface="B Lotus"/>
                <a:cs typeface="B Lotus"/>
              </a:rPr>
              <a:t>هدف فرعی 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0288" y="4261104"/>
            <a:ext cx="2682239" cy="12252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50000"/>
              </a:lnSpc>
            </a:pPr>
            <a:r>
              <a:rPr sz="112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تعیین رابطهٔ بین استقرار هدفمند اقلام تبلیغاتی در محیط و میزان فروش محصولات شرکت دوو.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76800" y="3054096"/>
            <a:ext cx="3121151" cy="2542032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163056" y="3273552"/>
            <a:ext cx="548640" cy="54864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63056" y="325526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7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04816" y="3950208"/>
            <a:ext cx="28651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B8903E"/>
                </a:solidFill>
                <a:latin typeface="B Lotus"/>
                <a:ea typeface="B Lotus"/>
                <a:cs typeface="B Lotus"/>
              </a:rPr>
              <a:t>هدف فرعی 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6256" y="4261104"/>
            <a:ext cx="2682239" cy="12252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50000"/>
              </a:lnSpc>
            </a:pPr>
            <a:r>
              <a:rPr sz="112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تعیین رابطهٔ بین سازماندهی و اثربخشی فعالیت‌های بازارپردازی و میزان فروش محصولات شرکت دوو.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572768" y="3054096"/>
            <a:ext cx="3121151" cy="2542032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59024" y="3273552"/>
            <a:ext cx="548640" cy="54864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59024" y="325526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7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00784" y="3950208"/>
            <a:ext cx="28651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B8903E"/>
                </a:solidFill>
                <a:latin typeface="B Lotus"/>
                <a:ea typeface="B Lotus"/>
                <a:cs typeface="B Lotus"/>
              </a:rPr>
              <a:t>هدف فرعی 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92224" y="4261104"/>
            <a:ext cx="2682239" cy="12252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50000"/>
              </a:lnSpc>
            </a:pPr>
            <a:r>
              <a:rPr sz="112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تعیین رابطهٔ بین نحوهٔ چیدمان و جانمایی بهینهٔ محصولات و میزان فروش محصولات شرکت دوو.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72768" y="5888736"/>
            <a:ext cx="97292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هر هدف فرعی، متناظر با یکی از سه بُعد بازارپردازی است.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1581302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24612" y="2033930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9476" y="2088794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02478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اهداف و فرضیه‌ها</a:t>
            </a:r>
          </a:p>
        </p:txBody>
      </p:sp>
      <p:sp>
        <p:nvSpPr>
          <p:cNvPr id="16" name="Oval 15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۵  ·  اهداف و فرضیه‌ها (۲)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فرضیه‌های پژوهش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۷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72768" y="1426464"/>
            <a:ext cx="9729215" cy="1115568"/>
          </a:xfrm>
          <a:prstGeom prst="roundRect">
            <a:avLst>
              <a:gd name="adj" fmla="val 2295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65792" y="1591056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65792" y="1591056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فرضیهٔ اصلی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38528" y="1938528"/>
            <a:ext cx="8997695" cy="4937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0000"/>
              </a:lnSpc>
            </a:pPr>
            <a:r>
              <a:rPr sz="14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بین عملکرد کلی بازارپردازی و میزان فروش محصولات شرکت دوو رابطهٔ مثبت و معنادار وجود دارد.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0832" y="2852928"/>
            <a:ext cx="3121151" cy="210312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82000" y="3017520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>
              <a:lnSpc>
                <a:spcPct val="142000"/>
              </a:lnSpc>
            </a:pPr>
            <a:r>
              <a:rPr sz="13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ف۱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3712" y="3383280"/>
            <a:ext cx="2755391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5000"/>
              </a:lnSpc>
            </a:pPr>
            <a:r>
              <a:rPr sz="11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بین استقرار هدفمند اقلام تبلیغاتی در محیط و میزان فروش محصولات شرکت دوو رابطهٔ مثبت و معنادار وجود دارد.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45296" y="4517136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45296" y="4517136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رابطهٔ مثبت و معنادار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76800" y="2852928"/>
            <a:ext cx="3121151" cy="210312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7968" y="3017520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>
              <a:lnSpc>
                <a:spcPct val="142000"/>
              </a:lnSpc>
            </a:pPr>
            <a:r>
              <a:rPr sz="13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ف۲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59680" y="3383280"/>
            <a:ext cx="2755391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5000"/>
              </a:lnSpc>
            </a:pPr>
            <a:r>
              <a:rPr sz="11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بین سازماندهی و اثربخشی فعالیت‌های بازارپردازی و میزان فروش محصولات شرکت دوو رابطهٔ مثبت و معنادار وجود دارد.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41264" y="4517136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41264" y="4517136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رابطهٔ مثبت و معنادار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572768" y="2852928"/>
            <a:ext cx="3121151" cy="210312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73936" y="3017520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>
              <a:lnSpc>
                <a:spcPct val="142000"/>
              </a:lnSpc>
            </a:pPr>
            <a:r>
              <a:rPr sz="13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ف۳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55648" y="3383280"/>
            <a:ext cx="2755391" cy="11155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5000"/>
              </a:lnSpc>
            </a:pPr>
            <a:r>
              <a:rPr sz="11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بین نحوهٔ چیدمان و جانمایی بهینهٔ محصولات و میزان فروش محصولات شرکت دوو رابطهٔ مثبت و معنادار وجود دارد.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37232" y="4517136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37232" y="4517136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رابطهٔ مثبت و معنادار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15968" y="5285232"/>
            <a:ext cx="4242815" cy="566928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15968" y="5285232"/>
            <a:ext cx="4242815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آزمون آماری فرضیه‌ها: ضریب همبستگی رتبه‌ای اسپیرمن (SPSS)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1962912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24612" y="2415540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9476" y="2470404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0639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۶  ·  مبانی نظری و پیشینه (۱)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مدل مفهومی پژوهش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۸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72768" y="1783080"/>
            <a:ext cx="2788920" cy="3657600"/>
          </a:xfrm>
          <a:prstGeom prst="roundRect">
            <a:avLst>
              <a:gd name="adj" fmla="val 918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55648" y="2084831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10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متغیر وابسته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395728" y="2468880"/>
            <a:ext cx="1188720" cy="0"/>
          </a:xfrm>
          <a:prstGeom prst="line">
            <a:avLst/>
          </a:prstGeom>
          <a:ln w="10160">
            <a:solidFill>
              <a:srgbClr val="5064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55648" y="283464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0000"/>
              </a:lnSpc>
            </a:pPr>
            <a:r>
              <a:rPr sz="22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ارتقای فروش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5648" y="40233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50000"/>
              </a:lnSpc>
            </a:pPr>
            <a:r>
              <a:rPr sz="110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محصولات شرکت دوو</a:t>
            </a:r>
          </a:p>
          <a:p>
            <a:pPr algn="ctr" rtl="1">
              <a:lnSpc>
                <a:spcPct val="150000"/>
              </a:lnSpc>
            </a:pPr>
            <a:r>
              <a:rPr sz="110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(فروشگاه‌های اهواز)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1426464"/>
            <a:ext cx="398678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متغیرهای مستقل — ابعاد بازارپردازی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1755648"/>
            <a:ext cx="3986784" cy="1115568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844784" y="2121408"/>
            <a:ext cx="384048" cy="384048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44784" y="21031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2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19019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استقرار هدفمند اقلام تبلیغاتی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232257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۵ گویه (پرسش ۶ تا ۱۰)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4498848" y="2313432"/>
            <a:ext cx="2770632" cy="0"/>
          </a:xfrm>
          <a:prstGeom prst="line">
            <a:avLst/>
          </a:prstGeom>
          <a:ln w="21590">
            <a:solidFill>
              <a:srgbClr val="B890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315200" y="3017520"/>
            <a:ext cx="3986784" cy="1115568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44784" y="3383279"/>
            <a:ext cx="384048" cy="384048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44784" y="336499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2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31638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سازماندهی و اثربخشی فعالیت‌ها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358444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۵ گویه (پرسش ۱ تا ۵)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4498848" y="3575303"/>
            <a:ext cx="2770632" cy="0"/>
          </a:xfrm>
          <a:prstGeom prst="line">
            <a:avLst/>
          </a:prstGeom>
          <a:ln w="21590">
            <a:solidFill>
              <a:srgbClr val="B890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7315200" y="4279392"/>
            <a:ext cx="3986784" cy="1115568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844784" y="4645152"/>
            <a:ext cx="384048" cy="384048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44784" y="46268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2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79" y="442569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نحوهٔ چیدمان و جانمایی محصولات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84632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۵ گویه (پرسش ۱۱ تا ۱۵)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4498848" y="4837176"/>
            <a:ext cx="2770632" cy="0"/>
          </a:xfrm>
          <a:prstGeom prst="line">
            <a:avLst/>
          </a:prstGeom>
          <a:ln w="21590">
            <a:solidFill>
              <a:srgbClr val="B890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572768" y="5742432"/>
            <a:ext cx="97292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متغیر وابسته (ارتقای فروش) با ۴ گویه (پرسش ۱۶ تا ۱۹) سنجیده شد.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1962912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24612" y="2415540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9476" y="2470404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0639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۶  ·  مبانی نظری و پیشینه (۲)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مفاهیم کلیدی پژوهش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۹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68640" y="1417320"/>
            <a:ext cx="3133343" cy="1627632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68640" y="1417320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6384" y="1545336"/>
            <a:ext cx="2749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بازارپردازی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8479536" y="1892808"/>
            <a:ext cx="2511552" cy="0"/>
          </a:xfrm>
          <a:prstGeom prst="line">
            <a:avLst/>
          </a:prstGeom>
          <a:ln w="10160">
            <a:solidFill>
              <a:srgbClr val="E7EB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406384" y="1947672"/>
            <a:ext cx="27127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مجموعه فعالیت‌های برنامه‌ریزی‌شده برای عرضه، نمایش، چیدمان و ارائهٔ مؤثر محصول در محیط فروشگاه برای جلب توجه و تسهیل خرید.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70704" y="1417320"/>
            <a:ext cx="3133343" cy="1627632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70704" y="1417320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08448" y="1545336"/>
            <a:ext cx="2749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2E7D81"/>
                </a:solidFill>
                <a:latin typeface="B Lotus"/>
                <a:ea typeface="B Lotus"/>
                <a:cs typeface="B Lotus"/>
              </a:rPr>
              <a:t>ارتقای فروش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181600" y="1892808"/>
            <a:ext cx="2511552" cy="0"/>
          </a:xfrm>
          <a:prstGeom prst="line">
            <a:avLst/>
          </a:prstGeom>
          <a:ln w="10160">
            <a:solidFill>
              <a:srgbClr val="E7EB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08448" y="1947672"/>
            <a:ext cx="27127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اقداماتی برای افزایش میزان فروش، تحریک تقاضا و ترغیب مشتری به خرید؛ در کوتاه‌مدت فروش و در بلندمدت وفاداری.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72768" y="1417320"/>
            <a:ext cx="3133343" cy="1627632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572768" y="1417320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10512" y="1545336"/>
            <a:ext cx="2749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اقلام تبلیغاتی (POSM)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1883664" y="1892808"/>
            <a:ext cx="2511552" cy="0"/>
          </a:xfrm>
          <a:prstGeom prst="line">
            <a:avLst/>
          </a:prstGeom>
          <a:ln w="10160">
            <a:solidFill>
              <a:srgbClr val="E7EB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810512" y="1947672"/>
            <a:ext cx="27127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جانمایی اصولی استند، پوستر، دنگلر، تابلو و برچسب برای جلب توجه در لحظهٔ تصمیم خرید.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68640" y="3191256"/>
            <a:ext cx="3133343" cy="1627632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68640" y="3191256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06384" y="3319272"/>
            <a:ext cx="2749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2E7D81"/>
                </a:solidFill>
                <a:latin typeface="B Lotus"/>
                <a:ea typeface="B Lotus"/>
                <a:cs typeface="B Lotus"/>
              </a:rPr>
              <a:t>سازماندهی فعالیت‌ها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8479536" y="3666744"/>
            <a:ext cx="2511552" cy="0"/>
          </a:xfrm>
          <a:prstGeom prst="line">
            <a:avLst/>
          </a:prstGeom>
          <a:ln w="10160">
            <a:solidFill>
              <a:srgbClr val="E7EB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06384" y="3721608"/>
            <a:ext cx="27127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برنامه‌ریزی، هماهنگی، اجرا و پایش مستمر نمایش کالا، موجودی و گزارش وضعیت فروش در فروشگاه.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70704" y="3191256"/>
            <a:ext cx="3133343" cy="1627632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870704" y="3191256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08448" y="3319272"/>
            <a:ext cx="2749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چیدمان و جانمایی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5181600" y="3666744"/>
            <a:ext cx="2511552" cy="0"/>
          </a:xfrm>
          <a:prstGeom prst="line">
            <a:avLst/>
          </a:prstGeom>
          <a:ln w="10160">
            <a:solidFill>
              <a:srgbClr val="E7EB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108448" y="3721608"/>
            <a:ext cx="27127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استقرار اصولی کالا بر اساس رفتار مشتری برای افزایش مشاهده‌پذیری، دسترسی آسان و احتمال انتخاب.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72768" y="3191256"/>
            <a:ext cx="3133343" cy="1627632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572768" y="3191256"/>
            <a:ext cx="91440" cy="162763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10512" y="3319272"/>
            <a:ext cx="27492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80" b="0" lang="fa-IR" altLang="en-US" dirty="0">
                <a:solidFill>
                  <a:srgbClr val="2E7D81"/>
                </a:solidFill>
                <a:latin typeface="B Lotus"/>
                <a:ea typeface="B Lotus"/>
                <a:cs typeface="B Lotus"/>
              </a:rPr>
              <a:t>نقاط داغ فروشگاه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1883664" y="3666744"/>
            <a:ext cx="2511552" cy="0"/>
          </a:xfrm>
          <a:prstGeom prst="line">
            <a:avLst/>
          </a:prstGeom>
          <a:ln w="10160">
            <a:solidFill>
              <a:srgbClr val="E7EB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810512" y="3721608"/>
            <a:ext cx="27127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بخش‌های پرتردد و در دیدِ مشتری؛ مناسب‌ترین جا برای محصولات راهبردی و خریدهای لحظه‌ای.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572768" y="5138928"/>
            <a:ext cx="9729215" cy="1005840"/>
          </a:xfrm>
          <a:prstGeom prst="roundRect">
            <a:avLst>
              <a:gd name="adj" fmla="val 21818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47088" y="5266944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پنج اصل بازارپردازی بصری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47088" y="5596128"/>
            <a:ext cx="918057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0000"/>
              </a:lnSpc>
            </a:pPr>
            <a:r>
              <a:rPr sz="10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رنگ و هماهنگی  ·  نقطهٔ کانونی  ·  روایت‌پردازی محصول  ·  نمایش حداکثری کالا  ·  استفاده از فضاهای بلااستفاده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1962912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24612" y="2415540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9476" y="2470404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0639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۶  ·  مبانی نظری و پیشینه (۳)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پیشینه و شکاف پژوهشی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۱۰ / ۲۵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36024" y="1371600"/>
            <a:ext cx="1965960" cy="38404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1744" y="137160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پژوهشگر (سال)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07223" y="1371600"/>
            <a:ext cx="1828800" cy="38404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52944" y="1371600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حوزه / صنعت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83863" y="1371600"/>
            <a:ext cx="4023360" cy="38404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9583" y="1371600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یافتهٔ کلیدی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72767" y="1371600"/>
            <a:ext cx="1911095" cy="38404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18487" y="1371600"/>
            <a:ext cx="181965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هم‌خوانی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36024" y="1755648"/>
            <a:ext cx="1965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07223" y="1755648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83863" y="1755648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72767" y="1755648"/>
            <a:ext cx="191109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09176" y="1755648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5000"/>
              </a:lnSpc>
            </a:pPr>
            <a:r>
              <a:rPr sz="86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مهراب‌پور (۱۳۹۸)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98663" y="175564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بانکداری / خدمات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75303" y="17556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مرچندایزینگ و رضایت مشتری، وفاداری مشتری را افزایش می‌دهد.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45919" y="1755648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0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نقش بازارپردازی در پیامد فروش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36024" y="2258568"/>
            <a:ext cx="196596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07223" y="2258568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83863" y="2258568"/>
            <a:ext cx="402336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2767" y="2258568"/>
            <a:ext cx="1911095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09176" y="2258568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5000"/>
              </a:lnSpc>
            </a:pPr>
            <a:r>
              <a:rPr sz="86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منصوری‌موید و همکاران (۱۳۹۳)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98663" y="225856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خرده‌فروشی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75303" y="225856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محرک‌های اجتماعی و محیطی فروشگاه بر رفتار خرید در نقطهٔ خرید اثر دارد.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45919" y="2258568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0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اثر محیط فروشگاه بر تصمیم خرید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36024" y="2761488"/>
            <a:ext cx="1965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07223" y="2761488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83863" y="2761488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72767" y="2761488"/>
            <a:ext cx="191109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09176" y="2761488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5000"/>
              </a:lnSpc>
            </a:pPr>
            <a:r>
              <a:rPr sz="86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سالار و ابوالفضلی (۱۳۹۲)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98663" y="276148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فروشگاه‌های زنجیره‌ای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75303" y="276148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محیط و بازاریابی درون‌فروشگاهی بر خرید ناگهانی و رضایت اثرگذار است.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45919" y="2761488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0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اثر محیط بر رفتار خرید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36024" y="3264408"/>
            <a:ext cx="196596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507223" y="3264408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83863" y="3264408"/>
            <a:ext cx="402336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572767" y="3264408"/>
            <a:ext cx="1911095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09176" y="3264408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5000"/>
              </a:lnSpc>
            </a:pPr>
            <a:r>
              <a:rPr sz="86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کرفوت و همکاران (۲۰۱۴)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98663" y="326440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خرده‌فروشی پوشاک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75303" y="32644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بازارپردازی بصری به ساخت برند و شکل‌گیری رفتار خرید کمک می‌کند.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19" y="3264408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0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بُعد چیدمان و نمایش بصری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36024" y="3767328"/>
            <a:ext cx="1965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07223" y="3767328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483863" y="3767328"/>
            <a:ext cx="4023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572767" y="3767328"/>
            <a:ext cx="191109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09176" y="3767328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5000"/>
              </a:lnSpc>
            </a:pPr>
            <a:r>
              <a:rPr sz="86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کیم شاین فام و همکاران (۲۰۱۱)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663" y="376732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خرده‌فروشی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75303" y="376732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تبلیغات و قیمت‌گذاری درون فروشگاه، کلید موفقیت خرده‌فروشی است.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45919" y="3767328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0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بُعد اقلام تبلیغاتی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36024" y="4270248"/>
            <a:ext cx="196596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07223" y="4270248"/>
            <a:ext cx="182880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83863" y="4270248"/>
            <a:ext cx="4023360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572767" y="4270248"/>
            <a:ext cx="1911095" cy="502920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409176" y="4270248"/>
            <a:ext cx="1819656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5000"/>
              </a:lnSpc>
            </a:pPr>
            <a:r>
              <a:rPr sz="86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لاوو و همکاران (۲۰۰۶)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98663" y="427024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بازارپردازی بصری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75303" y="42702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5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بازارپردازی بصری واکنش عاطفی مثبت و درگیری مشتری را برمی‌انگیزد.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45919" y="4270248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0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سازوکار روانی اثرگذاری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572768" y="4846320"/>
            <a:ext cx="9729215" cy="1335024"/>
          </a:xfrm>
          <a:prstGeom prst="roundRect">
            <a:avLst>
              <a:gd name="adj" fmla="val 16438"/>
            </a:avLst>
          </a:prstGeom>
          <a:solidFill>
            <a:srgbClr val="FBF5E8"/>
          </a:solidFill>
          <a:ln w="1270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820655" y="5010912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820655" y="5010912"/>
            <a:ext cx="129844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5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شکاف پژوهشی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92807" y="5376672"/>
            <a:ext cx="9089136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50000"/>
              </a:lnSpc>
            </a:pPr>
            <a:r>
              <a:rPr sz="1060" b="0" lang="fa-IR" altLang="en-US" dirty="0">
                <a:solidFill>
                  <a:srgbClr val="5A4620"/>
                </a:solidFill>
                <a:latin typeface="B Zar"/>
                <a:ea typeface="B Zar"/>
                <a:cs typeface="B Zar"/>
              </a:rPr>
              <a:t>پژوهش‌های پیشین بیشتر بر یک بُعد (محیط یا تجربهٔ مشتری) متمرکز بوده‌اند؛ این مطالعه هر سه بُعد بازارپردازی را به‌صورت هم‌زمان و کمّی در فروشگاه‌های لوازم خانگی دوو اهواز و در رابطه با فروش می‌سنجد.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1962912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24612" y="2415540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9476" y="2470404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06396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مبانی و پیشینه</a:t>
            </a:r>
          </a:p>
        </p:txBody>
      </p:sp>
      <p:sp>
        <p:nvSpPr>
          <p:cNvPr id="18" name="Oval 17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۶  ·  مبانی نظری و پیشینه (۴)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بستر پژوهش: برند دوو در ایران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۱۱ / ۲۵</a:t>
            </a:r>
          </a:p>
        </p:txBody>
      </p:sp>
      <p:pic>
        <p:nvPicPr>
          <p:cNvPr id="45" name="Picture 44" descr="c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81328"/>
            <a:ext cx="4069080" cy="269748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691640" y="4261104"/>
            <a:ext cx="4069080" cy="1901952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01952" y="44074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دوو در ایران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1952" y="4736592"/>
            <a:ext cx="3675887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5000"/>
              </a:lnSpc>
            </a:pPr>
            <a:r>
              <a:rPr sz="98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محصولات دوو در ایران توسط شرکت «انتخاب الکترونیک آرمان» (زیرمجموعهٔ گروه صنعتی انتخاب) تولید و عرضه می‌شود؛ کارخانه در شهرک صنعتی مورچه‌خورت اصفهان مستقر است و شبکهٔ گستردهٔ فروش و خدمات پس از فروش در سراسر کشور دارد.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481328"/>
            <a:ext cx="526694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2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نگاهی کوتاه به برند دوو (Daewoo)</a:t>
            </a:r>
          </a:p>
        </p:txBody>
      </p:sp>
      <p:sp>
        <p:nvSpPr>
          <p:cNvPr id="50" name="Oval 49"/>
          <p:cNvSpPr/>
          <p:nvPr/>
        </p:nvSpPr>
        <p:spPr>
          <a:xfrm>
            <a:off x="10991088" y="1883664"/>
            <a:ext cx="146304" cy="146304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1064240" y="2048256"/>
            <a:ext cx="0" cy="731520"/>
          </a:xfrm>
          <a:prstGeom prst="line">
            <a:avLst/>
          </a:prstGeom>
          <a:ln w="1524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332720" y="1847088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019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۱۹۶۷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1847088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تأسیس گروه دوو در سئول توسط کیم وو چونگ؛ آغاز به‌عنوان شرکت بازرگانی و رشد به یکی از بزرگ‌ترین گروه‌های صنعتی کره (چِبول).</a:t>
            </a:r>
          </a:p>
        </p:txBody>
      </p:sp>
      <p:sp>
        <p:nvSpPr>
          <p:cNvPr id="54" name="Oval 53"/>
          <p:cNvSpPr/>
          <p:nvPr/>
        </p:nvSpPr>
        <p:spPr>
          <a:xfrm>
            <a:off x="10991088" y="2779776"/>
            <a:ext cx="146304" cy="146304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1064240" y="2944368"/>
            <a:ext cx="0" cy="731519"/>
          </a:xfrm>
          <a:prstGeom prst="line">
            <a:avLst/>
          </a:prstGeom>
          <a:ln w="1524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332720" y="2743200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019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دهه‌های ۷۰–۸۰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2743200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گسترش صنعتی و راهیابی محصولات به بازارهای بین‌المللی.</a:t>
            </a:r>
          </a:p>
        </p:txBody>
      </p:sp>
      <p:sp>
        <p:nvSpPr>
          <p:cNvPr id="58" name="Oval 57"/>
          <p:cNvSpPr/>
          <p:nvPr/>
        </p:nvSpPr>
        <p:spPr>
          <a:xfrm>
            <a:off x="10991088" y="3675887"/>
            <a:ext cx="146304" cy="146304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1064240" y="3840480"/>
            <a:ext cx="0" cy="731520"/>
          </a:xfrm>
          <a:prstGeom prst="line">
            <a:avLst/>
          </a:prstGeom>
          <a:ln w="1524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332720" y="3639312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019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۱۹۹۹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3639312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بازسازی گروه دوو پس از بحران مالی آسیا و تداوم برند در لوازم خانگی تحت مجوز شرکت‌های گوناگون.</a:t>
            </a:r>
          </a:p>
        </p:txBody>
      </p:sp>
      <p:sp>
        <p:nvSpPr>
          <p:cNvPr id="62" name="Oval 61"/>
          <p:cNvSpPr/>
          <p:nvPr/>
        </p:nvSpPr>
        <p:spPr>
          <a:xfrm>
            <a:off x="10991088" y="4572000"/>
            <a:ext cx="146304" cy="146304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32720" y="4535424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0000"/>
              </a:lnSpc>
            </a:pPr>
            <a:r>
              <a:rPr sz="1019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امروز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4535424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دوو الکترونیکس یخچال، ماشین لباسشویی، ظرف‌شویی، اجاق، مایکروویو و تلویزیون عرضه می‌کند؛ در ایران برندی شناخته‌شده است.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31680" y="5522976"/>
            <a:ext cx="1670303" cy="713232"/>
          </a:xfrm>
          <a:prstGeom prst="roundRect">
            <a:avLst>
              <a:gd name="adj" fmla="val 30769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86544" y="5596128"/>
            <a:ext cx="1560576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محصولات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6544" y="5852160"/>
            <a:ext cx="156057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لوازم خانگی بزرگ و کوچک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33360" y="5522976"/>
            <a:ext cx="1670303" cy="713232"/>
          </a:xfrm>
          <a:prstGeom prst="roundRect">
            <a:avLst>
              <a:gd name="adj" fmla="val 30769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88224" y="5596128"/>
            <a:ext cx="1560576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تولید در ایران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88224" y="5852160"/>
            <a:ext cx="156057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انتخاب الکترونیک آرمان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035040" y="5522976"/>
            <a:ext cx="1670303" cy="713232"/>
          </a:xfrm>
          <a:prstGeom prst="roundRect">
            <a:avLst>
              <a:gd name="adj" fmla="val 30769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9903" y="5596128"/>
            <a:ext cx="1560576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مزیت رقابتی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9903" y="5852160"/>
            <a:ext cx="1560576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شبکهٔ فروش و خدمات پس از فروش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2344521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24612" y="2797149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9476" y="2852013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788005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روش‌شناسی</a:t>
            </a:r>
          </a:p>
        </p:txBody>
      </p:sp>
      <p:sp>
        <p:nvSpPr>
          <p:cNvPr id="20" name="Oval 19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۷  ·  روش‌شناسی پژوهش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طرح کلی و روش تحقیق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۱۲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80832" y="1417320"/>
            <a:ext cx="3121151" cy="896112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0560" y="1536192"/>
            <a:ext cx="2901695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5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نوع پژوهش از نظر هدف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0560" y="1792224"/>
            <a:ext cx="290169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32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کاربردی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76800" y="1417320"/>
            <a:ext cx="3121151" cy="896112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6528" y="1536192"/>
            <a:ext cx="2901695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5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ماهیت و روش اجرا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6528" y="1792224"/>
            <a:ext cx="290169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32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توصیفی — همبستگی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72768" y="1417320"/>
            <a:ext cx="3121151" cy="896112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82496" y="1536192"/>
            <a:ext cx="2901695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5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تحلیل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82496" y="1792224"/>
            <a:ext cx="290169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32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نرم‌افزار SPSS</a:t>
            </a:r>
          </a:p>
        </p:txBody>
      </p:sp>
      <p:sp>
        <p:nvSpPr>
          <p:cNvPr id="54" name="Chevron 53"/>
          <p:cNvSpPr/>
          <p:nvPr/>
        </p:nvSpPr>
        <p:spPr>
          <a:xfrm flipH="1">
            <a:off x="9429292" y="2542032"/>
            <a:ext cx="1872691" cy="932688"/>
          </a:xfrm>
          <a:prstGeom prst="chevron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12172" y="2651760"/>
            <a:ext cx="148864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گام 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7036" y="2852928"/>
            <a:ext cx="1369771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919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تعریف متغیرها و مدل</a:t>
            </a:r>
          </a:p>
        </p:txBody>
      </p:sp>
      <p:sp>
        <p:nvSpPr>
          <p:cNvPr id="57" name="Chevron 56"/>
          <p:cNvSpPr/>
          <p:nvPr/>
        </p:nvSpPr>
        <p:spPr>
          <a:xfrm flipH="1">
            <a:off x="7465161" y="2542032"/>
            <a:ext cx="1872691" cy="932688"/>
          </a:xfrm>
          <a:prstGeom prst="chevron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48041" y="2651760"/>
            <a:ext cx="148864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گام 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02905" y="2852928"/>
            <a:ext cx="1369771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919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تأیید روایی محتوایی</a:t>
            </a:r>
          </a:p>
        </p:txBody>
      </p:sp>
      <p:sp>
        <p:nvSpPr>
          <p:cNvPr id="60" name="Chevron 59"/>
          <p:cNvSpPr/>
          <p:nvPr/>
        </p:nvSpPr>
        <p:spPr>
          <a:xfrm flipH="1">
            <a:off x="5501030" y="2542032"/>
            <a:ext cx="1872691" cy="932688"/>
          </a:xfrm>
          <a:prstGeom prst="chevron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83910" y="2651760"/>
            <a:ext cx="148864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گام 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8774" y="2852928"/>
            <a:ext cx="1369771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919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توزیع ۱۵۰ پرسشنامه</a:t>
            </a:r>
          </a:p>
        </p:txBody>
      </p:sp>
      <p:sp>
        <p:nvSpPr>
          <p:cNvPr id="63" name="Chevron 62"/>
          <p:cNvSpPr/>
          <p:nvPr/>
        </p:nvSpPr>
        <p:spPr>
          <a:xfrm flipH="1">
            <a:off x="3536899" y="2542032"/>
            <a:ext cx="1872691" cy="932688"/>
          </a:xfrm>
          <a:prstGeom prst="chevron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19779" y="2651760"/>
            <a:ext cx="148864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گام 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74643" y="2852928"/>
            <a:ext cx="1369771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919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پایایی (آلفای کرونباخ)</a:t>
            </a:r>
          </a:p>
        </p:txBody>
      </p:sp>
      <p:sp>
        <p:nvSpPr>
          <p:cNvPr id="66" name="Chevron 65"/>
          <p:cNvSpPr/>
          <p:nvPr/>
        </p:nvSpPr>
        <p:spPr>
          <a:xfrm flipH="1">
            <a:off x="1572768" y="2542032"/>
            <a:ext cx="1872691" cy="932688"/>
          </a:xfrm>
          <a:prstGeom prst="chevron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55648" y="2651760"/>
            <a:ext cx="1488643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گام 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10512" y="2852928"/>
            <a:ext cx="1369771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25000"/>
              </a:lnSpc>
            </a:pPr>
            <a:r>
              <a:rPr sz="919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آزمون K-S و اسپیرمن</a:t>
            </a:r>
          </a:p>
        </p:txBody>
      </p:sp>
      <p:pic>
        <p:nvPicPr>
          <p:cNvPr id="69" name="Picture 68" descr="c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749039"/>
            <a:ext cx="4069080" cy="2395728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5989320" y="3749039"/>
            <a:ext cx="5312664" cy="2395728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39136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2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مسیر گردآوری و تجزیه‌وتحلیل داده‌ها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064240" y="4347972"/>
            <a:ext cx="77724" cy="77724"/>
          </a:xfrm>
          <a:prstGeom prst="roundRect">
            <a:avLst>
              <a:gd name="adj" fmla="val 47058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42793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28000"/>
              </a:lnSpc>
            </a:pPr>
            <a:r>
              <a:rPr sz="10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گردآوری داده: مطالعات کتابخانه‌ای + پژوهش میدانی با پرسشنامه.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064240" y="4805172"/>
            <a:ext cx="77724" cy="77724"/>
          </a:xfrm>
          <a:prstGeom prst="roundRect">
            <a:avLst>
              <a:gd name="adj" fmla="val 47058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47365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28000"/>
              </a:lnSpc>
            </a:pPr>
            <a:r>
              <a:rPr sz="10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کدگذاری پاسخ‌های لیکرت (۱ تا ۵) و ورود داده به SPSS.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1064240" y="5262372"/>
            <a:ext cx="77724" cy="77724"/>
          </a:xfrm>
          <a:prstGeom prst="roundRect">
            <a:avLst>
              <a:gd name="adj" fmla="val 47058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51937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28000"/>
              </a:lnSpc>
            </a:pPr>
            <a:r>
              <a:rPr sz="10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آزمون کولموگروف–اسمیرنوف برای بررسی نرمال بودن توزیع.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064240" y="5719572"/>
            <a:ext cx="77724" cy="77724"/>
          </a:xfrm>
          <a:prstGeom prst="roundRect">
            <a:avLst>
              <a:gd name="adj" fmla="val 47058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56509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28000"/>
              </a:lnSpc>
            </a:pPr>
            <a:r>
              <a:rPr sz="10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به‌دلیل رتبه‌ای بودن داده و غیرنرمال بودن ابعاد، آزمون اسپیرمن.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2726131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24612" y="3178759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9476" y="3233623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69615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جامعه و نمونه</a:t>
            </a:r>
          </a:p>
        </p:txBody>
      </p:sp>
      <p:sp>
        <p:nvSpPr>
          <p:cNvPr id="22" name="Oval 21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۸  ·  جامعه و نمونهٔ آماری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جامعه، نمونه و روش نمونه‌گیری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۱۳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80832" y="1417320"/>
            <a:ext cx="3121151" cy="1298448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95104" y="1554480"/>
            <a:ext cx="292608" cy="41148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2272" y="1645920"/>
            <a:ext cx="293827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25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۲۴۵ نفر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0560" y="2176272"/>
            <a:ext cx="290169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19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جامعهٔ آماری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0560" y="2441448"/>
            <a:ext cx="2901695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کارکنان فروشگاه‌های دوو اهواز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76800" y="1417320"/>
            <a:ext cx="3121151" cy="1298448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91072" y="1554480"/>
            <a:ext cx="292608" cy="41148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68240" y="1645920"/>
            <a:ext cx="293827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25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۱۵۰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6528" y="2176272"/>
            <a:ext cx="290169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19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پرسشنامهٔ تحلیل‌شده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6528" y="2441448"/>
            <a:ext cx="2901695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حجم نمونه بر اساس جدول مورگان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72768" y="1417320"/>
            <a:ext cx="3121151" cy="1298448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987040" y="1554480"/>
            <a:ext cx="292608" cy="41148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64208" y="1645920"/>
            <a:ext cx="293827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25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ترکیبی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82496" y="2176272"/>
            <a:ext cx="290169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19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روش نمونه‌گیری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82496" y="2441448"/>
            <a:ext cx="2901695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تصادفی طبقه‌ای + خوشه‌ای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66760" y="3127248"/>
            <a:ext cx="2935224" cy="1700784"/>
          </a:xfrm>
          <a:prstGeom prst="roundRect">
            <a:avLst>
              <a:gd name="adj" fmla="val 15053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3291840"/>
            <a:ext cx="256946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جامعهٔ آماری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3566160"/>
            <a:ext cx="2569464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23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۲۴۵ نفر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41148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30000"/>
              </a:lnSpc>
            </a:pPr>
            <a:r>
              <a:rPr sz="880" b="0" lang="fa-IR" altLang="en-US" dirty="0">
                <a:solidFill>
                  <a:srgbClr val="BEC6D0"/>
                </a:solidFill>
                <a:latin typeface="B Zar"/>
                <a:ea typeface="B Zar"/>
                <a:cs typeface="B Zar"/>
              </a:rPr>
              <a:t>مدیران داخلی، فروشندگان و حسابداران فروشگاه‌های دوو در سال‌های ۱۴۰۴ و ۱۴۰۵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0368" y="279806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0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روش نمونه‌گیری ترکیبی (احتمالی)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30368" y="3127248"/>
            <a:ext cx="2560320" cy="749808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0096" y="3127248"/>
            <a:ext cx="2340864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نمونه‌گیری تصادفی طبقه‌ای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230368" y="4078224"/>
            <a:ext cx="2560320" cy="749808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40096" y="4078224"/>
            <a:ext cx="2340864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0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نمونه‌گیری تصادفی خوشه‌ای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72768" y="3127248"/>
            <a:ext cx="2935224" cy="1700784"/>
          </a:xfrm>
          <a:prstGeom prst="roundRect">
            <a:avLst>
              <a:gd name="adj" fmla="val 15053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55648" y="3291840"/>
            <a:ext cx="256946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E0F5F4"/>
                </a:solidFill>
                <a:latin typeface="B Lotus"/>
                <a:ea typeface="B Lotus"/>
                <a:cs typeface="B Lotus"/>
              </a:rPr>
              <a:t>نمونهٔ آماری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55648" y="3566160"/>
            <a:ext cx="2569464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21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۱۵۰ پرسشنامه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55648" y="4160520"/>
            <a:ext cx="256946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DCEBEB"/>
                </a:solidFill>
                <a:latin typeface="B Zar"/>
                <a:ea typeface="B Zar"/>
                <a:cs typeface="B Zar"/>
              </a:rPr>
              <a:t>همهٔ پرسشنامه‌ها تحلیل شد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7882127" y="3977639"/>
            <a:ext cx="420625" cy="0"/>
          </a:xfrm>
          <a:prstGeom prst="line">
            <a:avLst/>
          </a:prstGeom>
          <a:ln w="22860">
            <a:solidFill>
              <a:srgbClr val="B890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4590288" y="3977639"/>
            <a:ext cx="566928" cy="0"/>
          </a:xfrm>
          <a:prstGeom prst="line">
            <a:avLst/>
          </a:prstGeom>
          <a:ln w="22860">
            <a:solidFill>
              <a:srgbClr val="B890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1572768" y="5138928"/>
            <a:ext cx="9729215" cy="969264"/>
          </a:xfrm>
          <a:prstGeom prst="roundRect">
            <a:avLst>
              <a:gd name="adj" fmla="val 22641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47088" y="5266944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1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مبنای برآورد حجم نمونه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47088" y="5577840"/>
            <a:ext cx="918057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0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به‌دلیل نبود واریانس جامعه، انحراف معیار تقریبی از دامنهٔ مقیاس لیکرت (۰٫۶۷)، با سطح اطمینان ۹۵٪ و خطای مجاز ۰٫۱۰۷ برآورد و حجم نمونه با جدول مورگان برابر ۱۵۰ تعیین شد.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3107740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24612" y="356036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9476" y="3615232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51224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۹  ·  ابزار و روش گردآوری داده‌ها (۱)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ابزار، روایی و پایایی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۱۴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72768" y="1417320"/>
            <a:ext cx="3703320" cy="4773168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400300" y="1591056"/>
            <a:ext cx="2048256" cy="2048256"/>
          </a:xfrm>
          <a:prstGeom prst="ellipse">
            <a:avLst/>
          </a:prstGeom>
          <a:noFill/>
          <a:ln w="10160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lock Arc 46"/>
          <p:cNvSpPr/>
          <p:nvPr/>
        </p:nvSpPr>
        <p:spPr>
          <a:xfrm>
            <a:off x="2400300" y="1591056"/>
            <a:ext cx="2048256" cy="2048256"/>
          </a:xfrm>
          <a:prstGeom prst="blockArc">
            <a:avLst>
              <a:gd name="adj1" fmla="val 1620000000000"/>
              <a:gd name="adj2" fmla="val 3611520000000"/>
              <a:gd name="adj3" fmla="val 220000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00300" y="2157984"/>
            <a:ext cx="2048256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30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0.922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00300" y="2761488"/>
            <a:ext cx="204825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آلفای کرونباخ کل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1508" y="363931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1508" y="363931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12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۹۲٫۲٪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41148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سازماندهی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27248" y="4133087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48009" y="4133087"/>
            <a:ext cx="1096558" cy="182880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0288" y="4105656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0.735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445312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اقلام تبلیغاتی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127248" y="4471416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357003" y="4471416"/>
            <a:ext cx="1187564" cy="182880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0288" y="4443984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0.796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479145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چیدمان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27248" y="4809744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361478" y="4809744"/>
            <a:ext cx="1183089" cy="182880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90288" y="4782312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0.793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00" y="512978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میزان فروش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27248" y="5148072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503210" y="5148072"/>
            <a:ext cx="1041357" cy="182880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90288" y="51206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0.698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73936" y="5522976"/>
            <a:ext cx="330098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30000"/>
              </a:lnSpc>
            </a:pPr>
            <a:r>
              <a:rPr sz="819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همهٔ ضرایب در دامنهٔ قابل‌قبول‌اند؛ آلفای بُعد فروش ۰٫۶۹۸ (مرزی و قابل‌قبول) گزارش شده است.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532120" y="1417320"/>
            <a:ext cx="5769864" cy="1481328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884663" y="157276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84663" y="15727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19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ابزار گردآوری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720" y="1865376"/>
            <a:ext cx="531266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7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پرسشنامهٔ دو بخشی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0" y="2286000"/>
            <a:ext cx="53126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0000"/>
              </a:lnSpc>
            </a:pPr>
            <a:r>
              <a:rPr sz="10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بخش ۱: اطلاعات جمعیت‌شناختی  ·  بخش ۲: ۱۹ پرسش تخصصی در طیف پنج‌گزینه‌ای لیکرت (کاملاً مخالف=۱ تا کاملاً موافق=۵).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532120" y="3035808"/>
            <a:ext cx="5769864" cy="124358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341863" y="31912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41863" y="31912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19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روایی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60720" y="3493008"/>
            <a:ext cx="5312664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50000"/>
              </a:lnSpc>
            </a:pPr>
            <a:r>
              <a:rPr sz="110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روایی محتوایی با بازبینی استاد راهنما و استادان/متخصصان حوزهٔ مدیریت بازاریابی و اعمال اصلاحات آنان تأیید شد.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532120" y="4416552"/>
            <a:ext cx="5769864" cy="1773936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884663" y="45720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84663" y="457200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گویه‌های پرسشنامه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417052" y="4956048"/>
            <a:ext cx="2702051" cy="457200"/>
          </a:xfrm>
          <a:prstGeom prst="roundRect">
            <a:avLst>
              <a:gd name="adj" fmla="val 32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71916" y="5001768"/>
            <a:ext cx="25923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سازماندهی فعالیت‌ها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71916" y="5202936"/>
            <a:ext cx="2592323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۵ گویه · پرسش ۱ تا ۵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568696" y="4956048"/>
            <a:ext cx="2702051" cy="457200"/>
          </a:xfrm>
          <a:prstGeom prst="roundRect">
            <a:avLst>
              <a:gd name="adj" fmla="val 32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23559" y="5001768"/>
            <a:ext cx="25923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اقلام تبلیغاتی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23559" y="5202936"/>
            <a:ext cx="2592323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۵ گویه · پرسش ۶ تا ۱۰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417052" y="5522976"/>
            <a:ext cx="2702051" cy="457200"/>
          </a:xfrm>
          <a:prstGeom prst="roundRect">
            <a:avLst>
              <a:gd name="adj" fmla="val 32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71916" y="5568696"/>
            <a:ext cx="25923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چیدمان و جانمایی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71916" y="5769864"/>
            <a:ext cx="2592323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۵ گویه · پرسش ۱۱ تا ۱۵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568696" y="5522976"/>
            <a:ext cx="2702051" cy="457200"/>
          </a:xfrm>
          <a:prstGeom prst="roundRect">
            <a:avLst>
              <a:gd name="adj" fmla="val 3200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23559" y="5568696"/>
            <a:ext cx="2592323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ارتقای فروش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23559" y="5769864"/>
            <a:ext cx="2592323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۴ گویه · پرسش ۱۶ تا ۱۹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3107740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24612" y="356036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9476" y="3615232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51224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ابزار گردآوری</a:t>
            </a:r>
          </a:p>
        </p:txBody>
      </p:sp>
      <p:sp>
        <p:nvSpPr>
          <p:cNvPr id="24" name="Oval 23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۹  ·  ابزار و روش گردآوری داده‌ها (۲)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متغیرها و روش تحلیل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۱۵ / ۲۵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22992" y="1389888"/>
            <a:ext cx="1078992" cy="402336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77856" y="1389888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نوع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24144" y="1389888"/>
            <a:ext cx="4498848" cy="402336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79007" y="1389888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بُعد / متغیر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9744" y="1389888"/>
            <a:ext cx="914400" cy="402336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64607" y="1389888"/>
            <a:ext cx="804672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گویه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72767" y="1389888"/>
            <a:ext cx="3236976" cy="402336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27631" y="1389888"/>
            <a:ext cx="3127248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شماره پرسش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22992" y="1792224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24144" y="1792224"/>
            <a:ext cx="44988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09744" y="1792224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72767" y="1792224"/>
            <a:ext cx="323697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323576" y="1911095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23576" y="1911095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مستقل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70448" y="179222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10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سازماندهی و اثربخشی فعالیت‌های بازارپردازی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64607" y="1792224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27631" y="1792224"/>
            <a:ext cx="312724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۱ تا 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22992" y="2359152"/>
            <a:ext cx="1078992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24144" y="2359152"/>
            <a:ext cx="4498848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09744" y="2359152"/>
            <a:ext cx="914400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572767" y="2359152"/>
            <a:ext cx="3236976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323576" y="2478024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23576" y="2478024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مستقل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0448" y="235915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10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استقرار هدفمند اقلام تبلیغاتی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64607" y="2359152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۵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27631" y="2359152"/>
            <a:ext cx="312724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۶ تا ۱۰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22992" y="2926080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724144" y="2926080"/>
            <a:ext cx="44988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09744" y="2926080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72767" y="2926080"/>
            <a:ext cx="323697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323576" y="3044952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23576" y="3044952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مستقل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70448" y="292608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10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نحوهٔ چیدمان و جانمایی محصولات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64607" y="2926080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27631" y="2926080"/>
            <a:ext cx="312724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۱۱ تا ۱۵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3493008"/>
            <a:ext cx="1078992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724144" y="3493008"/>
            <a:ext cx="4498848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09744" y="3493008"/>
            <a:ext cx="914400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572767" y="3493008"/>
            <a:ext cx="3236976" cy="566928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323576" y="3611879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23576" y="3611879"/>
            <a:ext cx="87782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وابسته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70448" y="349300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1019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ارتقای (میزان) فروش محصولات شرکت دوو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64607" y="3493008"/>
            <a:ext cx="80467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27631" y="3493008"/>
            <a:ext cx="312724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۱۶ تا ۱۹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519672" y="4315968"/>
            <a:ext cx="4782312" cy="186537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93992" y="4462272"/>
            <a:ext cx="4233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6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گام ۱: آزمون نرمال بودن (K-S)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885932" y="4860036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75704" y="4791456"/>
            <a:ext cx="401421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سطح معناداری بُعد کلی بازارپردازی برابر 0.200 (نرمال).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885932" y="5445252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75704" y="5376672"/>
            <a:ext cx="401421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چهار متغیر اصلی (سه بُعد و فروش) سطح معناداری زیر ۰٫۰۵ دارند؛ از این رو غیرنرمال تشخیص داده شدند.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72768" y="4315968"/>
            <a:ext cx="4782312" cy="1865376"/>
          </a:xfrm>
          <a:prstGeom prst="roundRect">
            <a:avLst>
              <a:gd name="adj" fmla="val 11764"/>
            </a:avLst>
          </a:prstGeom>
          <a:solidFill>
            <a:srgbClr val="0D2137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47088" y="4462272"/>
            <a:ext cx="4233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6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گام ۲: آزمون فرضیه‌ها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47088" y="4809744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45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ضریب همبستگی رتبه‌ای اسپیرمن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47088" y="5321808"/>
            <a:ext cx="423367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0000"/>
              </a:lnSpc>
            </a:pPr>
            <a:r>
              <a:rPr sz="96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به‌دلیل ماهیت رتبه‌ای طیف لیکرت و غیرنرمال بودن ابعاد، به‌جای پیرسون از اسپیرمن استفاده شد؛ سطح معناداری ۰٫۰۵ و SPSS.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3489350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24612" y="394197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9476" y="3996842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32834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۱۰  ·  یافته‌های پژوهش (۱)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آمار توصیفی: ویژگی‌های نمونه (۱۵۰ نفر)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۱۶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1389888"/>
            <a:ext cx="5038344" cy="4809744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15361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توزیع جنسیت و سطح تحصیلات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190195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مرد  ۸۸٪ (۱۳۲ نفر)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1883664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851392" y="1883664"/>
            <a:ext cx="2212848" cy="219456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21284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زن  ۱۲٪ (۱۸ نفر)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2194560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762488" y="2194560"/>
            <a:ext cx="301751" cy="219456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492240" y="2578608"/>
            <a:ext cx="4572000" cy="0"/>
          </a:xfrm>
          <a:prstGeom prst="line">
            <a:avLst/>
          </a:prstGeom>
          <a:ln w="10160">
            <a:solidFill>
              <a:srgbClr val="E7EB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92240" y="272491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لیسانس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73568" y="2724912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69740" y="2724912"/>
            <a:ext cx="1135547" cy="201168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69296" y="271576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۴۸.۷٪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05409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دیپلم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73568" y="305409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745675" y="3054096"/>
            <a:ext cx="559612" cy="201168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69296" y="304495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۲۴.۰٪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3383279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زیر دیپلم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73568" y="3383279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869256" y="3383279"/>
            <a:ext cx="436031" cy="201168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69296" y="337413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۱۸.۷٪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3712463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فوق لیسانس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73568" y="3712463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135072" y="3712463"/>
            <a:ext cx="170215" cy="201168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69296" y="370332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۷.۳٪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404164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4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فوق دیپلم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73568" y="4041648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E7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274975" y="4041648"/>
            <a:ext cx="30312" cy="201168"/>
          </a:xfrm>
          <a:prstGeom prst="roundRect">
            <a:avLst>
              <a:gd name="adj" fmla="val 50000"/>
            </a:avLst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69296" y="403250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۱.۳٪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44988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بیشترین فراوانی: مدرک لیسانس با ۴۸٫۷٪ (۷۳ نفر).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572768" y="1389888"/>
            <a:ext cx="4617720" cy="4809744"/>
          </a:xfrm>
          <a:prstGeom prst="roundRect">
            <a:avLst>
              <a:gd name="adj" fmla="val 4752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01368" y="153619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توزیع سنی پاسخ‌دهندگان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874519" y="5532120"/>
            <a:ext cx="4023361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874519" y="3840480"/>
            <a:ext cx="4023361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874519" y="2148840"/>
            <a:ext cx="4023361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874519" y="2148840"/>
            <a:ext cx="0" cy="3383280"/>
          </a:xfrm>
          <a:prstGeom prst="line">
            <a:avLst/>
          </a:prstGeom>
          <a:ln w="12700">
            <a:solidFill>
              <a:srgbClr val="6B77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874519" y="5532120"/>
            <a:ext cx="4023361" cy="0"/>
          </a:xfrm>
          <a:prstGeom prst="line">
            <a:avLst/>
          </a:prstGeom>
          <a:ln w="12700">
            <a:solidFill>
              <a:srgbClr val="6B77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370576" y="5488137"/>
            <a:ext cx="384048" cy="4398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78552" y="5250393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۱.۳٪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05400" y="56052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۱۸–۲۵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700016" y="5058460"/>
            <a:ext cx="384048" cy="473659"/>
          </a:xfrm>
          <a:prstGeom prst="roundRect">
            <a:avLst>
              <a:gd name="adj" fmla="val 19047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07992" y="4820716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۱۴٪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34840" y="56052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۲۶–۳۵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029456" y="4270156"/>
            <a:ext cx="384048" cy="1261963"/>
          </a:xfrm>
          <a:prstGeom prst="roundRect">
            <a:avLst>
              <a:gd name="adj" fmla="val 19047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37432" y="4032412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۳۷.۳٪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64280" y="56052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۳۶–۴۵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358896" y="5193792"/>
            <a:ext cx="384048" cy="338328"/>
          </a:xfrm>
          <a:prstGeom prst="roundRect">
            <a:avLst>
              <a:gd name="adj" fmla="val 21621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66872" y="4956048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۱۰٪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93720" y="56052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۴۶–۵۵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688336" y="4946812"/>
            <a:ext cx="384048" cy="585307"/>
          </a:xfrm>
          <a:prstGeom prst="roundRect">
            <a:avLst>
              <a:gd name="adj" fmla="val 19047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96312" y="4709068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۱۷.۳٪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423160" y="56052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۵۶–۶۵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17776" y="4855464"/>
            <a:ext cx="384048" cy="676656"/>
          </a:xfrm>
          <a:prstGeom prst="roundRect">
            <a:avLst>
              <a:gd name="adj" fmla="val 19047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25752" y="4617720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۲۰٪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52600" y="56052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بالای ۶۵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01368" y="579729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0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بیشترین گروه سنی: ۳۶ تا ۴۵ سال با ۳۷٫۳٪ (۵۶ نفر).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3489350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24612" y="394197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9476" y="3996842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32834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۱۰  ·  یافته‌های پژوهش (۲)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آزمون فرضیه‌ها: نمای کلی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۱۷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72768" y="1389888"/>
            <a:ext cx="9729215" cy="896112"/>
          </a:xfrm>
          <a:prstGeom prst="roundRect">
            <a:avLst>
              <a:gd name="adj" fmla="val 28571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884663" y="168249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84663" y="168249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یافتهٔ محوری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47088" y="1389888"/>
            <a:ext cx="7808975" cy="8961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0000"/>
              </a:lnSpc>
            </a:pPr>
            <a:r>
              <a:rPr sz="13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هر چهار فرضیه تأیید شد؛ رابطهٔ کلی بازارپردازی و فروش با r = 0.775 قوی‌ترین همبستگی است.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79408" y="2468880"/>
            <a:ext cx="2322575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70848" y="2578608"/>
            <a:ext cx="2139695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فرضیهٔ اصلی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2779776"/>
            <a:ext cx="21396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بازارپردازی ← فروش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3054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400" b="1" lang="fa-IR" altLang="en-US" dirty="0">
                <a:solidFill>
                  <a:srgbClr val="B8903E"/>
                </a:solidFill>
                <a:latin typeface="B Titr"/>
                <a:ea typeface="B Titr"/>
                <a:cs typeface="B Titr"/>
              </a:rPr>
              <a:t>r = 0.775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37776" y="343814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7776" y="343814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10528" y="2468880"/>
            <a:ext cx="2322575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01968" y="2578608"/>
            <a:ext cx="2139695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فرضیهٔ فرعی 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2779776"/>
            <a:ext cx="21396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اقلام تبلیغاتی ← فروش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3054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4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r = 0.710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68896" y="343814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343814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41648" y="2468880"/>
            <a:ext cx="2322575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33087" y="2578608"/>
            <a:ext cx="2139695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فرضیهٔ فرعی 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33087" y="2779776"/>
            <a:ext cx="21396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سازماندهی ← فروش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33087" y="3054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4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r = 0.667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00016" y="343814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00016" y="343814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572768" y="2468880"/>
            <a:ext cx="2322575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64208" y="2578608"/>
            <a:ext cx="2139695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فرضیهٔ فرعی 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64208" y="2779776"/>
            <a:ext cx="21396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چیدمان ← فروش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64208" y="3054096"/>
            <a:ext cx="2139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400" b="1" lang="fa-IR" altLang="en-US" dirty="0">
                <a:solidFill>
                  <a:srgbClr val="1E5E62"/>
                </a:solidFill>
                <a:latin typeface="B Titr"/>
                <a:ea typeface="B Titr"/>
                <a:cs typeface="B Titr"/>
              </a:rPr>
              <a:t>r = 0.710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31136" y="343814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31136" y="343814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572768" y="4005072"/>
            <a:ext cx="9729215" cy="2176272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28800" y="4133087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مقایسهٔ ضرایب همبستگی اسپیرمن هر فرضیه با میزان فروش (N = 150)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28800" y="411480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E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0" y="41148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سطح معناداری ۰٫۰۵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103120" y="5779008"/>
            <a:ext cx="8915400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19072" y="567842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7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0.00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103120" y="5458968"/>
            <a:ext cx="8915400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719072" y="53583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7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0.25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103120" y="5138928"/>
            <a:ext cx="8915400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719072" y="503834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7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0.50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103120" y="4818888"/>
            <a:ext cx="8915400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719072" y="4718303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7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0.75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103120" y="4498848"/>
            <a:ext cx="8915400" cy="0"/>
          </a:xfrm>
          <a:prstGeom prst="line">
            <a:avLst/>
          </a:prstGeom>
          <a:ln w="8890">
            <a:solidFill>
              <a:srgbClr val="E7EB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719072" y="439826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76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1.00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103120" y="4498848"/>
            <a:ext cx="0" cy="1280160"/>
          </a:xfrm>
          <a:prstGeom prst="line">
            <a:avLst/>
          </a:prstGeom>
          <a:ln w="13970">
            <a:solidFill>
              <a:srgbClr val="6B77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103120" y="5779008"/>
            <a:ext cx="8915400" cy="0"/>
          </a:xfrm>
          <a:prstGeom prst="line">
            <a:avLst/>
          </a:prstGeom>
          <a:ln w="13970">
            <a:solidFill>
              <a:srgbClr val="6B77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9465183" y="4786883"/>
            <a:ext cx="603504" cy="992124"/>
          </a:xfrm>
          <a:prstGeom prst="roundRect">
            <a:avLst>
              <a:gd name="adj" fmla="val 15151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09735" y="453085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4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0.775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3703" y="587044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15000"/>
              </a:lnSpc>
            </a:pPr>
            <a:r>
              <a:rPr sz="8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بازارپردازی (کل)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327773" y="4870094"/>
            <a:ext cx="603504" cy="908913"/>
          </a:xfrm>
          <a:prstGeom prst="roundRect">
            <a:avLst>
              <a:gd name="adj" fmla="val 15151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72325" y="461406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4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0.710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16293" y="587044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15000"/>
              </a:lnSpc>
            </a:pPr>
            <a:r>
              <a:rPr sz="8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اقلام تبلیغاتی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190363" y="4925141"/>
            <a:ext cx="603504" cy="853866"/>
          </a:xfrm>
          <a:prstGeom prst="roundRect">
            <a:avLst>
              <a:gd name="adj" fmla="val 15151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34915" y="4669109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4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0.667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78883" y="587044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15000"/>
              </a:lnSpc>
            </a:pPr>
            <a:r>
              <a:rPr sz="8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سازماندهی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052953" y="4870094"/>
            <a:ext cx="603504" cy="908913"/>
          </a:xfrm>
          <a:prstGeom prst="roundRect">
            <a:avLst>
              <a:gd name="adj" fmla="val 15151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97505" y="461406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4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0.710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41473" y="587044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15000"/>
              </a:lnSpc>
            </a:pPr>
            <a:r>
              <a:rPr sz="86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چیدمان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3489350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24612" y="394197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9476" y="3996842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32834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یافته‌ها</a:t>
            </a:r>
          </a:p>
        </p:txBody>
      </p:sp>
      <p:sp>
        <p:nvSpPr>
          <p:cNvPr id="26" name="Oval 25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۱۰  ·  یافته‌های پژوهش (۳)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جدول نتایج آزمون فرضیه‌ها (اسپیرمن)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۱۸ / ۲۵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33304" y="1417320"/>
            <a:ext cx="868680" cy="420624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9880" y="1417320"/>
            <a:ext cx="795528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فرضیه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9984" y="1417320"/>
            <a:ext cx="3703320" cy="420624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1417320"/>
            <a:ext cx="3630168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شرح فرضیه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95544" y="1417320"/>
            <a:ext cx="1234440" cy="420624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1417320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r اسپیرمن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2544" y="1417320"/>
            <a:ext cx="1143000" cy="420624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1417320"/>
            <a:ext cx="1069848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Sig.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75303" y="1417320"/>
            <a:ext cx="777240" cy="420624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11879" y="1417320"/>
            <a:ext cx="704088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72767" y="1417320"/>
            <a:ext cx="2002536" cy="420624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09343" y="1417320"/>
            <a:ext cx="1929384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نتیجه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33304" y="1837944"/>
            <a:ext cx="868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729984" y="1837944"/>
            <a:ext cx="37033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95544" y="1837944"/>
            <a:ext cx="12344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52544" y="1837944"/>
            <a:ext cx="1143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75303" y="1837944"/>
            <a:ext cx="7772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72767" y="1837944"/>
            <a:ext cx="200253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60736" y="1837944"/>
            <a:ext cx="813815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اصلی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1837944"/>
            <a:ext cx="3447287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بازارپردازی (کل) بر ارتقای فروش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2120" y="1837944"/>
            <a:ext cx="11612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0.775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9120" y="1837944"/>
            <a:ext cx="106984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11879" y="1837944"/>
            <a:ext cx="7040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150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33304" y="2606040"/>
            <a:ext cx="86868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729984" y="2606040"/>
            <a:ext cx="370332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95544" y="2606040"/>
            <a:ext cx="123444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52544" y="2606040"/>
            <a:ext cx="114300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75303" y="2606040"/>
            <a:ext cx="77724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72767" y="2606040"/>
            <a:ext cx="2002536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60736" y="2606040"/>
            <a:ext cx="813815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فرعی 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2606040"/>
            <a:ext cx="3447287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استقرار اقلام تبلیغاتی بر میزان فروش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32120" y="2606040"/>
            <a:ext cx="11612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0.710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2606040"/>
            <a:ext cx="106984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11879" y="2606040"/>
            <a:ext cx="7040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150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433304" y="3374136"/>
            <a:ext cx="868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29984" y="3374136"/>
            <a:ext cx="37033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95544" y="3374136"/>
            <a:ext cx="12344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52544" y="3374136"/>
            <a:ext cx="1143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575303" y="3374136"/>
            <a:ext cx="7772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572767" y="3374136"/>
            <a:ext cx="200253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60736" y="3374136"/>
            <a:ext cx="813815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فرعی 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0" y="3374136"/>
            <a:ext cx="3447287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سازماندهی فعالیت‌های بازارپردازی بر میزان فروش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32120" y="3374136"/>
            <a:ext cx="11612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0.667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0" y="3374136"/>
            <a:ext cx="106984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11879" y="3374136"/>
            <a:ext cx="7040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433304" y="4142232"/>
            <a:ext cx="86868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729984" y="4142232"/>
            <a:ext cx="370332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95544" y="4142232"/>
            <a:ext cx="123444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52544" y="4142232"/>
            <a:ext cx="114300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575303" y="4142232"/>
            <a:ext cx="777240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72767" y="4142232"/>
            <a:ext cx="2002536" cy="768096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460736" y="4142232"/>
            <a:ext cx="813815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فرعی 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0" y="4142232"/>
            <a:ext cx="3447287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20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چیدمان و جانمایی محصولات بر میزان فروش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32120" y="4142232"/>
            <a:ext cx="11612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0.710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0" y="4142232"/>
            <a:ext cx="106984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0.000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11879" y="4142232"/>
            <a:ext cx="704088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00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150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071116" y="2048256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071116" y="204825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071116" y="2816352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1116" y="2816352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071116" y="358444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1116" y="3584448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071116" y="4352544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71116" y="4352544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6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تأیید شد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572768" y="4846320"/>
            <a:ext cx="9729215" cy="1298448"/>
          </a:xfrm>
          <a:prstGeom prst="roundRect">
            <a:avLst>
              <a:gd name="adj" fmla="val 16901"/>
            </a:avLst>
          </a:prstGeom>
          <a:solidFill>
            <a:srgbClr val="0D2137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92807" y="4992624"/>
            <a:ext cx="90891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8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تفسیر نتایج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92807" y="5303520"/>
            <a:ext cx="9089136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50000"/>
              </a:lnSpc>
            </a:pPr>
            <a:r>
              <a:rPr sz="1019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تمام ضرایب مثبت و در سطح خطای ۰٫۰۵ معنادارند (Sig. = 0.000 &lt; 0.05). قوی‌ترین رابطه به عملکرد کلی بازارپردازی (0.775) و سپس اقلام تبلیغاتی و چیدمان (هر دو 0.710) تعلق دارد؛ سازماندهی با 0.667 نیز رابطهٔ مستقیم و معنادار نشان می‌دهد.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3870960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24612" y="432358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9476" y="4378452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14444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۱۱  ·  تحلیل و بحث (۱)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پاسخ به فرضیه‌ها در یک نگاه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۱۹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72768" y="1389888"/>
            <a:ext cx="9729215" cy="932688"/>
          </a:xfrm>
          <a:prstGeom prst="roundRect">
            <a:avLst>
              <a:gd name="adj" fmla="val 2745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572768" y="1389888"/>
            <a:ext cx="91440" cy="932688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92807" y="1389888"/>
            <a:ext cx="9089136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5000"/>
              </a:lnSpc>
            </a:pPr>
            <a:r>
              <a:rPr sz="12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هر سه بُعد بازارپردازی با فروش رابطهٔ مستقیم و معنادار دارند؛ اقلام تبلیغاتی و چیدمان (0.710) اندکی قوی‌تر از سازماندهی (0.667) هستند.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52944" y="2633472"/>
            <a:ext cx="3749039" cy="384048"/>
          </a:xfrm>
          <a:prstGeom prst="rect">
            <a:avLst/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26096" y="2633472"/>
            <a:ext cx="360273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یافتهٔ پژوهش حاضر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1104" y="2633472"/>
            <a:ext cx="3291840" cy="384048"/>
          </a:xfrm>
          <a:prstGeom prst="rect">
            <a:avLst/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34256" y="2633472"/>
            <a:ext cx="314553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هم‌خوانی با پیشینه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72768" y="2633472"/>
            <a:ext cx="2688336" cy="384048"/>
          </a:xfrm>
          <a:prstGeom prst="rect">
            <a:avLst/>
          </a:prstGeom>
          <a:solidFill>
            <a:srgbClr val="1E5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45920" y="2633472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تفسیر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52944" y="3090672"/>
            <a:ext cx="3749039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61104" y="3090672"/>
            <a:ext cx="3291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72768" y="3090672"/>
            <a:ext cx="268833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1155680" y="3236976"/>
            <a:ext cx="91440" cy="91440"/>
          </a:xfrm>
          <a:prstGeom prst="roundRect">
            <a:avLst>
              <a:gd name="adj" fmla="val 4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3090672"/>
            <a:ext cx="3401568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9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اقلام تبلیغاتی ← فروش (r=0.710)، تأیید.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0832" y="3090672"/>
            <a:ext cx="3072384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2000"/>
              </a:lnSpc>
            </a:pPr>
            <a:r>
              <a:rPr sz="8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هم‌خوان با فام و همکاران (۲۰۱۱) دربارهٔ اهمیت تبلیغات درون فروشگاه.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82496" y="3090672"/>
            <a:ext cx="246888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2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اطلاع‌رسانی در لحظهٔ تصمیم، توجه و احتمال خرید را بالا می‌برد.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52944" y="3986783"/>
            <a:ext cx="3749039" cy="804672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61104" y="3986783"/>
            <a:ext cx="3291840" cy="804672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572768" y="3986783"/>
            <a:ext cx="2688336" cy="804672"/>
          </a:xfrm>
          <a:prstGeom prst="rect">
            <a:avLst/>
          </a:prstGeom>
          <a:solidFill>
            <a:srgbClr val="F8F9FA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1155680" y="4133087"/>
            <a:ext cx="91440" cy="91440"/>
          </a:xfrm>
          <a:prstGeom prst="roundRect">
            <a:avLst>
              <a:gd name="adj" fmla="val 4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3986783"/>
            <a:ext cx="3401568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9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سازماندهی فعالیت‌ها ← فروش (r=0.667)، تأیید.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0832" y="3986783"/>
            <a:ext cx="3072384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2000"/>
              </a:lnSpc>
            </a:pPr>
            <a:r>
              <a:rPr sz="8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هم‌خوان با مهراب‌پور (۱۳۹۸) بر نقش مدیریت و رضایت در پیامد فروش.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82496" y="3986783"/>
            <a:ext cx="246888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2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پایش مستمر چیدمان و موجودی، اجرای بی‌نقص فروش را تضمین می‌کند.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52944" y="4882896"/>
            <a:ext cx="3749039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61104" y="4882896"/>
            <a:ext cx="3291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72768" y="4882896"/>
            <a:ext cx="268833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155680" y="5029200"/>
            <a:ext cx="91440" cy="91440"/>
          </a:xfrm>
          <a:prstGeom prst="roundRect">
            <a:avLst>
              <a:gd name="adj" fmla="val 4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0" y="4882896"/>
            <a:ext cx="3401568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94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چیدمان و جانمایی ← فروش (r=0.710)، تأیید.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70832" y="4882896"/>
            <a:ext cx="3072384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2000"/>
              </a:lnSpc>
            </a:pPr>
            <a:r>
              <a:rPr sz="88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هم‌خوان با کرفوت (۲۰۱۴)، سالار (۱۳۹۲) و منصوری‌موید (۱۳۹۳).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82496" y="4882896"/>
            <a:ext cx="246888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2000"/>
              </a:lnSpc>
            </a:pPr>
            <a:r>
              <a:rPr sz="8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دیده‌شدن بیشتر و دسترسی آسان، مسیر مشتری تا خرید را کوتاه می‌کند.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572768" y="5852160"/>
            <a:ext cx="9729215" cy="384048"/>
          </a:xfrm>
          <a:prstGeom prst="roundRect">
            <a:avLst>
              <a:gd name="adj" fmla="val 38095"/>
            </a:avLst>
          </a:prstGeom>
          <a:solidFill>
            <a:srgbClr val="FBF5E8"/>
          </a:solidFill>
          <a:ln w="1270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55648" y="5852160"/>
            <a:ext cx="936345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919" b="0" lang="fa-IR" altLang="en-US" dirty="0">
                <a:solidFill>
                  <a:srgbClr val="785A1E"/>
                </a:solidFill>
                <a:latin typeface="B Lotus"/>
                <a:ea typeface="B Lotus"/>
                <a:cs typeface="B Lotus"/>
              </a:rPr>
              <a:t>یادداشت روشی: اسپیرمن رابطه را نشان می‌دهد و به‌تنهایی اثبات رابطهٔ علّی نیست.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3870960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24612" y="432358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9476" y="4378452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14444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تحلیل و بحث</a:t>
            </a:r>
          </a:p>
        </p:txBody>
      </p:sp>
      <p:sp>
        <p:nvSpPr>
          <p:cNvPr id="28" name="Oval 27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۱۱  ·  تحلیل و بحث (۲)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زنجیرهٔ منطقی تفسیر یافته‌ها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۲۰ / ۲۵</a:t>
            </a:r>
          </a:p>
        </p:txBody>
      </p:sp>
      <p:sp>
        <p:nvSpPr>
          <p:cNvPr id="45" name="Chevron 44"/>
          <p:cNvSpPr/>
          <p:nvPr/>
        </p:nvSpPr>
        <p:spPr>
          <a:xfrm flipH="1">
            <a:off x="8938260" y="1444752"/>
            <a:ext cx="2363723" cy="932688"/>
          </a:xfrm>
          <a:prstGeom prst="chevron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76004" y="1444752"/>
            <a:ext cx="1860803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(۱)  اجرای هدفمند بازارپردازی در فروشگاه</a:t>
            </a:r>
          </a:p>
        </p:txBody>
      </p:sp>
      <p:sp>
        <p:nvSpPr>
          <p:cNvPr id="47" name="Chevron 46"/>
          <p:cNvSpPr/>
          <p:nvPr/>
        </p:nvSpPr>
        <p:spPr>
          <a:xfrm flipH="1">
            <a:off x="6483096" y="1444752"/>
            <a:ext cx="2363723" cy="932688"/>
          </a:xfrm>
          <a:prstGeom prst="chevron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1444752"/>
            <a:ext cx="1860803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(۲)  توجه و تجربهٔ مثبت مشتری</a:t>
            </a:r>
          </a:p>
        </p:txBody>
      </p:sp>
      <p:sp>
        <p:nvSpPr>
          <p:cNvPr id="49" name="Chevron 48"/>
          <p:cNvSpPr/>
          <p:nvPr/>
        </p:nvSpPr>
        <p:spPr>
          <a:xfrm flipH="1">
            <a:off x="4027932" y="1444752"/>
            <a:ext cx="2363723" cy="932688"/>
          </a:xfrm>
          <a:prstGeom prst="chevron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5676" y="1444752"/>
            <a:ext cx="1860803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(۳)  شکل‌گیری قصد و تصمیم خرید</a:t>
            </a:r>
          </a:p>
        </p:txBody>
      </p:sp>
      <p:sp>
        <p:nvSpPr>
          <p:cNvPr id="51" name="Chevron 50"/>
          <p:cNvSpPr/>
          <p:nvPr/>
        </p:nvSpPr>
        <p:spPr>
          <a:xfrm flipH="1">
            <a:off x="1572768" y="1444752"/>
            <a:ext cx="2363723" cy="932688"/>
          </a:xfrm>
          <a:prstGeom prst="chevron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512" y="1444752"/>
            <a:ext cx="1860803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FFFFFF"/>
                </a:solidFill>
                <a:latin typeface="B Zar"/>
                <a:ea typeface="B Zar"/>
                <a:cs typeface="B Zar"/>
              </a:rPr>
              <a:t>(۴)  ارتقای میزان فروش دوو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19672" y="2670048"/>
            <a:ext cx="4782312" cy="3493008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19672" y="2670048"/>
            <a:ext cx="4782312" cy="475488"/>
          </a:xfrm>
          <a:prstGeom prst="roundRect">
            <a:avLst>
              <a:gd name="adj" fmla="val 46153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19672" y="2944368"/>
            <a:ext cx="4782312" cy="201168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02552" y="2670048"/>
            <a:ext cx="441655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10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سازگاری با مبانی و پیشینه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045952" y="3383280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57416" y="3310128"/>
            <a:ext cx="421538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رابطهٔ مثبت همهٔ ابعاد با نظریهٔ بازارپردازی بصری و «فروشندهٔ خاموش» سازگار است.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045952" y="4187952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57416" y="4114800"/>
            <a:ext cx="421538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هم‌خوان با پژوهش‌های کرفوت (۲۰۱۴)، لاوو (۲۰۰۶) و سالار (۱۳۹۲) دربارهٔ اثر محیط بر رفتار خرید.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045952" y="4992624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57416" y="4919472"/>
            <a:ext cx="421538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اثر سازماندهی با یافتهٔ مهراب‌پور (۱۳۹۸) بر نقش مدیریت و رضایت هم‌راستاست.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72768" y="2670048"/>
            <a:ext cx="4782312" cy="3493008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572768" y="2670048"/>
            <a:ext cx="4782312" cy="475488"/>
          </a:xfrm>
          <a:prstGeom prst="roundRect">
            <a:avLst>
              <a:gd name="adj" fmla="val 46153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572768" y="2944368"/>
            <a:ext cx="4782312" cy="201168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55648" y="2670048"/>
            <a:ext cx="441655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10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نکته‌های کلیدی تفسیر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99048" y="3383280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10512" y="3310128"/>
            <a:ext cx="421538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بالاترین ضریب به رابطهٔ کلی (0.775) تعلق دارد؛ کل یکپارچهٔ بازارپردازی از اجزای آن اثرگذارتر است.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99048" y="4187952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10512" y="4114800"/>
            <a:ext cx="421538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اقلام تبلیغاتی و چیدمان با 0.710 در رتبهٔ بعدی و سازماندهی با 0.667 همراه است.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099048" y="4992624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10512" y="4919472"/>
            <a:ext cx="421538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این پژوهش همبستگی است؛ از تعبیر علّیِ قطعی باید پرهیز کرد.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4252569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7" name="Oval 26"/>
          <p:cNvSpPr/>
          <p:nvPr/>
        </p:nvSpPr>
        <p:spPr>
          <a:xfrm>
            <a:off x="324612" y="4705197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9476" y="4760061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696053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نتیجه‌گیری</a:t>
            </a:r>
          </a:p>
        </p:txBody>
      </p:sp>
      <p:sp>
        <p:nvSpPr>
          <p:cNvPr id="30" name="Oval 29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۱۲  ·  نتیجه‌گیری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مهم‌ترین یافته‌های پژوهش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۲۱ / ۲۵</a:t>
            </a:r>
          </a:p>
        </p:txBody>
      </p:sp>
      <p:pic>
        <p:nvPicPr>
          <p:cNvPr id="45" name="Picture 44" descr="c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63040"/>
            <a:ext cx="2697480" cy="393192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754880" y="1463040"/>
            <a:ext cx="6547104" cy="969264"/>
          </a:xfrm>
          <a:prstGeom prst="roundRect">
            <a:avLst>
              <a:gd name="adj" fmla="val 26415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956048" y="164592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1645920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10000"/>
              </a:lnSpc>
            </a:pPr>
            <a:r>
              <a:rPr sz="919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نتیجهٔ اصلی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1463040"/>
            <a:ext cx="4901184" cy="9692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5000"/>
              </a:lnSpc>
            </a:pPr>
            <a:r>
              <a:rPr sz="130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عملکرد کلی بازارپردازی با ارتقای فروش رابطهٔ مثبت و معنادار دارد (r = 0.775).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0" y="2651760"/>
            <a:ext cx="6547104" cy="786384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53344" y="2825496"/>
            <a:ext cx="438912" cy="438912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53344" y="28072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4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2743200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استقرار هدفمند اقلام تبلیغاتی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30906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r = 0.710  ·  رابطهٔ مثبت و معنادار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0" y="3547872"/>
            <a:ext cx="6547104" cy="786384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53344" y="3721608"/>
            <a:ext cx="438912" cy="438912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53344" y="37033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4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6393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سازماندهی فعالیت‌های بازارپردازی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398678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r = 0.667  ·  رابطهٔ مثبت و معنادار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4443983"/>
            <a:ext cx="6547104" cy="786384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53344" y="4617720"/>
            <a:ext cx="438912" cy="438912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53344" y="4599431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14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4535423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چیدمان و جانمایی بهینهٔ محصولات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48828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r = 0.710  ·  رابطهٔ مثبت و معنادار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54880" y="5413248"/>
            <a:ext cx="6547104" cy="749808"/>
          </a:xfrm>
          <a:prstGeom prst="roundRect">
            <a:avLst>
              <a:gd name="adj" fmla="val 24390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83480" y="5413248"/>
            <a:ext cx="61264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0000"/>
              </a:lnSpc>
            </a:pPr>
            <a:r>
              <a:rPr sz="98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پایایی ابزار: آلفای کل 0.922  ·  حجم نمونه: ۱۵۰  ·  همهٔ فرضیه‌ها در سطح خطای ۰٫۰۵ تأیید شدند.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4634179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7" name="Oval 26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29" name="Oval 28"/>
          <p:cNvSpPr/>
          <p:nvPr/>
        </p:nvSpPr>
        <p:spPr>
          <a:xfrm>
            <a:off x="324612" y="5086807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9476" y="5141671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077663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پیشنهادها</a:t>
            </a:r>
          </a:p>
        </p:txBody>
      </p:sp>
      <p:sp>
        <p:nvSpPr>
          <p:cNvPr id="32" name="Oval 31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۱۳  ·  پیشنهادها (۱)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پیشنهادهای کاربردی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۲۲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68640" y="1417320"/>
            <a:ext cx="3133343" cy="4754880"/>
          </a:xfrm>
          <a:prstGeom prst="roundRect">
            <a:avLst>
              <a:gd name="adj" fmla="val 700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68640" y="1417320"/>
            <a:ext cx="3133343" cy="530352"/>
          </a:xfrm>
          <a:prstGeom prst="roundRect">
            <a:avLst>
              <a:gd name="adj" fmla="val 41379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68640" y="1737360"/>
            <a:ext cx="3133343" cy="210312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5800" y="1417320"/>
            <a:ext cx="285902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1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اقلام تبلیغاتی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064240" y="223113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9808" y="215798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طراحی و نصب اقلام متناسب با هر محصول و گروه هدف.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064240" y="305409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9808" y="298094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گزینش محل نصب بر اساس دید مشتری و نقاط پرتردد.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064240" y="387705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9808" y="380390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پیام‌های ساده، خوانا و هماهنگ با هویت بصری دوو.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064240" y="470001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9808" y="462686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بازبینی دوره‌ای و تعویض اقلام فرسوده و قدیمی.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70704" y="1417320"/>
            <a:ext cx="3133343" cy="4754880"/>
          </a:xfrm>
          <a:prstGeom prst="roundRect">
            <a:avLst>
              <a:gd name="adj" fmla="val 700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870704" y="1417320"/>
            <a:ext cx="3133343" cy="530352"/>
          </a:xfrm>
          <a:prstGeom prst="roundRect">
            <a:avLst>
              <a:gd name="adj" fmla="val 41379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870704" y="1737360"/>
            <a:ext cx="3133343" cy="210312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07864" y="1417320"/>
            <a:ext cx="285902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15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سازماندهی فعالیت‌ها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66304" y="223113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1872" y="215798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برنامهٔ منظم بازدید و ارزیابی دوره‌ای فروشگاه‌ها.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66304" y="305409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71872" y="298094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کنترل اجرای دستورالعمل‌های بازارپردازی و موجودی.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66304" y="387705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1872" y="380390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آموزش بازارپردازان و کارکنان دربارهٔ اصول و ارتباط با مشتری.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66304" y="470001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1872" y="462686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انتقال بازخورد فروشندگان و گزارش منظم فروش به شرکت.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72768" y="1417320"/>
            <a:ext cx="3133343" cy="4754880"/>
          </a:xfrm>
          <a:prstGeom prst="roundRect">
            <a:avLst>
              <a:gd name="adj" fmla="val 7003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572768" y="1417320"/>
            <a:ext cx="3133343" cy="530352"/>
          </a:xfrm>
          <a:prstGeom prst="roundRect">
            <a:avLst>
              <a:gd name="adj" fmla="val 41379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572768" y="1737360"/>
            <a:ext cx="3133343" cy="210312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09928" y="1417320"/>
            <a:ext cx="2859024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1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چیدمان و جانمایی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68368" y="223113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73936" y="215798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جانمایی محصولات پرفروش در نقاط داغ و در معرض دید.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68368" y="305409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73936" y="298094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طراحی مسیر حرکت مشتری برای دسترسی بدون مانع.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68368" y="387705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73936" y="380390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گروه‌بندی منسجم کالا و پرهیز از ازدحام بصری.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468368" y="4700016"/>
            <a:ext cx="77724" cy="77724"/>
          </a:xfrm>
          <a:prstGeom prst="roundRect">
            <a:avLst>
              <a:gd name="adj" fmla="val 47058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73936" y="4626864"/>
            <a:ext cx="26212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8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بازبینی دوره‌ای چیدمان متناسب با رفتار مشتری.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5015788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7" name="Oval 26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29" name="Oval 28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1" name="Oval 30"/>
          <p:cNvSpPr/>
          <p:nvPr/>
        </p:nvSpPr>
        <p:spPr>
          <a:xfrm>
            <a:off x="324612" y="546841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9476" y="5523280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459272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محدودیت‌ها</a:t>
            </a:r>
          </a:p>
        </p:txBody>
      </p:sp>
      <p:sp>
        <p:nvSpPr>
          <p:cNvPr id="34" name="Oval 33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۱۴  ·  محدودیت‌ها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پیشنهادهای پژوهشی و محدودیت‌ها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۲۳ / ۲۵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19672" y="1417320"/>
            <a:ext cx="4782312" cy="4791456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19672" y="1417320"/>
            <a:ext cx="4782312" cy="493776"/>
          </a:xfrm>
          <a:prstGeom prst="roundRect">
            <a:avLst>
              <a:gd name="adj" fmla="val 44444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19672" y="1709928"/>
            <a:ext cx="4782312" cy="201168"/>
          </a:xfrm>
          <a:prstGeom prst="roundRect">
            <a:avLst>
              <a:gd name="adj" fmla="val 50000"/>
            </a:avLst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02552" y="1417320"/>
            <a:ext cx="4416551" cy="4937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پیشنهادهایی برای تحقیقات آتی</a:t>
            </a:r>
          </a:p>
        </p:txBody>
      </p:sp>
      <p:sp>
        <p:nvSpPr>
          <p:cNvPr id="49" name="Oval 48"/>
          <p:cNvSpPr/>
          <p:nvPr/>
        </p:nvSpPr>
        <p:spPr>
          <a:xfrm>
            <a:off x="10972800" y="2121408"/>
            <a:ext cx="274320" cy="27432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0" y="2103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5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2103120"/>
            <a:ext cx="412394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بررسی رابطهٔ بازارپردازی با رفتار و تصمیم خرید مصرف‌کننده.</a:t>
            </a:r>
          </a:p>
        </p:txBody>
      </p:sp>
      <p:sp>
        <p:nvSpPr>
          <p:cNvPr id="52" name="Oval 51"/>
          <p:cNvSpPr/>
          <p:nvPr/>
        </p:nvSpPr>
        <p:spPr>
          <a:xfrm>
            <a:off x="10972800" y="2816351"/>
            <a:ext cx="274320" cy="27432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0" y="27980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5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2798063"/>
            <a:ext cx="412394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سنجش ابعاد نورپردازی، رنگ، موسیقی و طراحی ویترین.</a:t>
            </a:r>
          </a:p>
        </p:txBody>
      </p:sp>
      <p:sp>
        <p:nvSpPr>
          <p:cNvPr id="55" name="Oval 54"/>
          <p:cNvSpPr/>
          <p:nvPr/>
        </p:nvSpPr>
        <p:spPr>
          <a:xfrm>
            <a:off x="10972800" y="3511295"/>
            <a:ext cx="274320" cy="27432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0" y="349300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5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3493007"/>
            <a:ext cx="412394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نقش میانجی رضایت و تجربهٔ خرید در رابطهٔ بازارپردازی–فروش.</a:t>
            </a:r>
          </a:p>
        </p:txBody>
      </p:sp>
      <p:sp>
        <p:nvSpPr>
          <p:cNvPr id="58" name="Oval 57"/>
          <p:cNvSpPr/>
          <p:nvPr/>
        </p:nvSpPr>
        <p:spPr>
          <a:xfrm>
            <a:off x="10972800" y="4206239"/>
            <a:ext cx="274320" cy="27432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0" y="41879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5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4187951"/>
            <a:ext cx="412394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تکرار پژوهش در سایر برندها، شهرها و با حجم نمونهٔ بزرگ‌تر.</a:t>
            </a:r>
          </a:p>
        </p:txBody>
      </p:sp>
      <p:sp>
        <p:nvSpPr>
          <p:cNvPr id="61" name="Oval 60"/>
          <p:cNvSpPr/>
          <p:nvPr/>
        </p:nvSpPr>
        <p:spPr>
          <a:xfrm>
            <a:off x="10972800" y="4901183"/>
            <a:ext cx="274320" cy="274320"/>
          </a:xfrm>
          <a:prstGeom prst="ellipse">
            <a:avLst/>
          </a:prstGeom>
          <a:solidFill>
            <a:srgbClr val="2E7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00" y="488289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95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4882895"/>
            <a:ext cx="412394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35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استفاده از روش‌های آماری پیشرفته‌تر و داده‌های واقعی فروش.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72768" y="1417320"/>
            <a:ext cx="4782312" cy="4791456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572768" y="1417320"/>
            <a:ext cx="4782312" cy="493776"/>
          </a:xfrm>
          <a:prstGeom prst="roundRect">
            <a:avLst>
              <a:gd name="adj" fmla="val 44444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572768" y="1709928"/>
            <a:ext cx="4782312" cy="201168"/>
          </a:xfrm>
          <a:prstGeom prst="roundRect">
            <a:avLst>
              <a:gd name="adj" fmla="val 50000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55648" y="1417320"/>
            <a:ext cx="4416551" cy="4937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112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محدودیت‌های پژوهش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73936" y="2103120"/>
            <a:ext cx="4379975" cy="676656"/>
          </a:xfrm>
          <a:prstGeom prst="roundRect">
            <a:avLst>
              <a:gd name="adj" fmla="val 3243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0240" y="217627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ابزار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0088" y="2157984"/>
            <a:ext cx="3090671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89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اتکا به پرسشنامه و احتمال سوگیری یا پاسخ‌های محافظه‌کارانه.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773936" y="2852927"/>
            <a:ext cx="4379975" cy="676656"/>
          </a:xfrm>
          <a:prstGeom prst="roundRect">
            <a:avLst>
              <a:gd name="adj" fmla="val 3243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20240" y="2926079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پاسخ‌دهندگان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90088" y="2907791"/>
            <a:ext cx="3090671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89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احتمال بی‌دقتی یا برداشت متفاوت از پرسش‌ها به‌رغم توضیح.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773936" y="3602735"/>
            <a:ext cx="4379975" cy="676656"/>
          </a:xfrm>
          <a:prstGeom prst="roundRect">
            <a:avLst>
              <a:gd name="adj" fmla="val 3243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20240" y="3675887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مکانی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90088" y="3657599"/>
            <a:ext cx="3090671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89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محدود به فروشگاه‌های دوو اهواز؛ تعمیم با احتیاط.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773936" y="4352544"/>
            <a:ext cx="4379975" cy="676656"/>
          </a:xfrm>
          <a:prstGeom prst="roundRect">
            <a:avLst>
              <a:gd name="adj" fmla="val 3243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20240" y="442569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منابع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90088" y="4407407"/>
            <a:ext cx="3090671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89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دسترسی محدود به برخی منابع و داده‌های داخلی فروشگاه.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773936" y="5102352"/>
            <a:ext cx="4379975" cy="676656"/>
          </a:xfrm>
          <a:prstGeom prst="roundRect">
            <a:avLst>
              <a:gd name="adj" fmla="val 32432"/>
            </a:avLst>
          </a:prstGeom>
          <a:solidFill>
            <a:srgbClr val="F8F9FA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20240" y="5175504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9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روش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90088" y="5157216"/>
            <a:ext cx="3090671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30000"/>
              </a:lnSpc>
            </a:pPr>
            <a:r>
              <a:rPr sz="890" b="0" lang="fa-IR" altLang="en-US" dirty="0">
                <a:solidFill>
                  <a:srgbClr val="223140"/>
                </a:solidFill>
                <a:latin typeface="B Zar"/>
                <a:ea typeface="B Zar"/>
                <a:cs typeface="B Zar"/>
              </a:rPr>
              <a:t>طرح همبستگی، اثبات رابطهٔ علّی قطعی را ممکن نمی‌سازد.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704320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5397398"/>
          </a:xfrm>
          <a:prstGeom prst="line">
            <a:avLst/>
          </a:prstGeom>
          <a:ln w="21590">
            <a:solidFill>
              <a:srgbClr val="2E7D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7" name="Oval 26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29" name="Oval 28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1" name="Oval 30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B8903E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1E5E62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3" name="Oval 32"/>
          <p:cNvSpPr/>
          <p:nvPr/>
        </p:nvSpPr>
        <p:spPr>
          <a:xfrm>
            <a:off x="324612" y="585002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9476" y="5904890"/>
            <a:ext cx="82296" cy="82296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840882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جمع‌بندی</a:t>
            </a:r>
          </a:p>
        </p:txBody>
      </p:sp>
      <p:sp>
        <p:nvSpPr>
          <p:cNvPr id="36" name="Oval 35"/>
          <p:cNvSpPr/>
          <p:nvPr/>
        </p:nvSpPr>
        <p:spPr>
          <a:xfrm>
            <a:off x="372618" y="6279642"/>
            <a:ext cx="96012" cy="9601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A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3620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تشکر و پاسخ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83696" y="329184"/>
            <a:ext cx="82296" cy="82296"/>
          </a:xfrm>
          <a:prstGeom prst="roundRect">
            <a:avLst>
              <a:gd name="adj" fmla="val 44444"/>
            </a:avLst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56032"/>
            <a:ext cx="952804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1E5E62"/>
                </a:solidFill>
                <a:latin typeface="B Lotus"/>
                <a:ea typeface="B Lotus"/>
                <a:cs typeface="B Lotus"/>
              </a:rPr>
              <a:t>بخش ۱۵  ·  جمع‌بندی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02920"/>
            <a:ext cx="954633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ct val="105000"/>
              </a:lnSpc>
            </a:pPr>
            <a:r>
              <a:rPr sz="24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جمع‌بندی نهایی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735056" y="1060704"/>
            <a:ext cx="566928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72768" y="1060704"/>
            <a:ext cx="9089136" cy="0"/>
          </a:xfrm>
          <a:prstGeom prst="line">
            <a:avLst/>
          </a:prstGeom>
          <a:ln w="12700">
            <a:solidFill>
              <a:srgbClr val="DA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6B7785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0D2137"/>
                </a:solidFill>
                <a:latin typeface="B Lotus"/>
                <a:ea typeface="B Lotus"/>
                <a:cs typeface="B Lotus"/>
              </a:rPr>
              <a:t>۲۴ / ۲۵</a:t>
            </a:r>
          </a:p>
        </p:txBody>
      </p:sp>
      <p:pic>
        <p:nvPicPr>
          <p:cNvPr id="45" name="Picture 44" descr="c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81328"/>
            <a:ext cx="3703320" cy="265176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7827264" y="1481328"/>
            <a:ext cx="2468879" cy="117043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8704" y="1664208"/>
            <a:ext cx="228599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23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۲۴۵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18704" y="2194560"/>
            <a:ext cx="22859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جامعهٔ آماری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75504" y="1481328"/>
            <a:ext cx="2468879" cy="117043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66944" y="1664208"/>
            <a:ext cx="228599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23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۱۵۰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6944" y="2194560"/>
            <a:ext cx="22859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نمونه (پرسشنامه)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27264" y="2779776"/>
            <a:ext cx="2468879" cy="117043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18704" y="2962656"/>
            <a:ext cx="228599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2300" b="1" lang="fa-IR" altLang="en-US" dirty="0">
                <a:solidFill>
                  <a:srgbClr val="0D2137"/>
                </a:solidFill>
                <a:latin typeface="B Titr"/>
                <a:ea typeface="B Titr"/>
                <a:cs typeface="B Titr"/>
              </a:rPr>
              <a:t>0.922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8704" y="3493008"/>
            <a:ext cx="22859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آلفای کرونباخ کل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75504" y="2779776"/>
            <a:ext cx="2468879" cy="117043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66944" y="2962656"/>
            <a:ext cx="2285999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00000"/>
              </a:lnSpc>
            </a:pPr>
            <a:r>
              <a:rPr sz="2300" b="1" lang="fa-IR" altLang="en-US" dirty="0">
                <a:solidFill>
                  <a:srgbClr val="B8903E"/>
                </a:solidFill>
                <a:latin typeface="B Titr"/>
                <a:ea typeface="B Titr"/>
                <a:cs typeface="B Titr"/>
              </a:rPr>
              <a:t>0.775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66944" y="3493008"/>
            <a:ext cx="22859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980" b="0" lang="fa-IR" altLang="en-US" dirty="0">
                <a:solidFill>
                  <a:srgbClr val="223140"/>
                </a:solidFill>
                <a:latin typeface="B Lotus"/>
                <a:ea typeface="B Lotus"/>
                <a:cs typeface="B Lotus"/>
              </a:rPr>
              <a:t>همبستگی کل با فروش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572768" y="4370832"/>
            <a:ext cx="9729215" cy="1792224"/>
          </a:xfrm>
          <a:prstGeom prst="roundRect">
            <a:avLst>
              <a:gd name="adj" fmla="val 14285"/>
            </a:avLst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38528" y="4535424"/>
            <a:ext cx="89976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20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پیام کلیدی پژوهش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21408" y="4882896"/>
            <a:ext cx="8631936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60000"/>
              </a:lnSpc>
            </a:pPr>
            <a:r>
              <a:rPr sz="1250" b="0" lang="fa-IR" altLang="en-US" dirty="0">
                <a:solidFill>
                  <a:srgbClr val="FFFFFF"/>
                </a:solidFill>
                <a:latin typeface="B Lotus"/>
                <a:ea typeface="B Lotus"/>
                <a:cs typeface="B Lotus"/>
              </a:rPr>
              <a:t>طراحی هدفمند محیط فروشگاه — استقرار اقلام تبلیغاتی، سازماندهی فعالیت‌ها و چیدمان بهینه — اهرمی اثربخش برای ارتقای فروش است؛ هرچه اجرای یکپارچهٔ بازارپردازی مطلوب‌تر باشد، میزان فروش نیز رابطهٔ مثبت و مستقیمی با آن نشان می‌دهد.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4320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20624" y="548640"/>
            <a:ext cx="0" cy="5833872"/>
          </a:xfrm>
          <a:prstGeom prst="line">
            <a:avLst/>
          </a:prstGeom>
          <a:ln w="13970">
            <a:solidFill>
              <a:srgbClr val="ECE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0624" y="548640"/>
            <a:ext cx="0" cy="5779008"/>
          </a:xfrm>
          <a:prstGeom prst="line">
            <a:avLst/>
          </a:prstGeom>
          <a:ln w="21590">
            <a:solidFill>
              <a:srgbClr val="D6B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72618" y="555498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1206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عنوان و معرفی</a:t>
            </a:r>
          </a:p>
        </p:txBody>
      </p:sp>
      <p:sp>
        <p:nvSpPr>
          <p:cNvPr id="7" name="Oval 6"/>
          <p:cNvSpPr/>
          <p:nvPr/>
        </p:nvSpPr>
        <p:spPr>
          <a:xfrm>
            <a:off x="372618" y="937107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89367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کلیات پژوهش</a:t>
            </a:r>
          </a:p>
        </p:txBody>
      </p:sp>
      <p:sp>
        <p:nvSpPr>
          <p:cNvPr id="9" name="Oval 8"/>
          <p:cNvSpPr/>
          <p:nvPr/>
        </p:nvSpPr>
        <p:spPr>
          <a:xfrm>
            <a:off x="372618" y="1318717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275283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بیان مسئله</a:t>
            </a:r>
          </a:p>
        </p:txBody>
      </p:sp>
      <p:sp>
        <p:nvSpPr>
          <p:cNvPr id="11" name="Oval 10"/>
          <p:cNvSpPr/>
          <p:nvPr/>
        </p:nvSpPr>
        <p:spPr>
          <a:xfrm>
            <a:off x="372618" y="1700326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65689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اهمیت و ضرورت</a:t>
            </a:r>
          </a:p>
        </p:txBody>
      </p:sp>
      <p:sp>
        <p:nvSpPr>
          <p:cNvPr id="13" name="Oval 12"/>
          <p:cNvSpPr/>
          <p:nvPr/>
        </p:nvSpPr>
        <p:spPr>
          <a:xfrm>
            <a:off x="372618" y="2081936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3850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اهداف و فرضیه‌ها</a:t>
            </a:r>
          </a:p>
        </p:txBody>
      </p:sp>
      <p:sp>
        <p:nvSpPr>
          <p:cNvPr id="15" name="Oval 14"/>
          <p:cNvSpPr/>
          <p:nvPr/>
        </p:nvSpPr>
        <p:spPr>
          <a:xfrm>
            <a:off x="372618" y="2463546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42011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مبانی و پیشینه</a:t>
            </a:r>
          </a:p>
        </p:txBody>
      </p:sp>
      <p:sp>
        <p:nvSpPr>
          <p:cNvPr id="17" name="Oval 16"/>
          <p:cNvSpPr/>
          <p:nvPr/>
        </p:nvSpPr>
        <p:spPr>
          <a:xfrm>
            <a:off x="372618" y="2845155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0172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روش‌شناسی</a:t>
            </a:r>
          </a:p>
        </p:txBody>
      </p:sp>
      <p:sp>
        <p:nvSpPr>
          <p:cNvPr id="19" name="Oval 18"/>
          <p:cNvSpPr/>
          <p:nvPr/>
        </p:nvSpPr>
        <p:spPr>
          <a:xfrm>
            <a:off x="372618" y="3226765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183331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جامعه و نمونه</a:t>
            </a:r>
          </a:p>
        </p:txBody>
      </p:sp>
      <p:sp>
        <p:nvSpPr>
          <p:cNvPr id="21" name="Oval 20"/>
          <p:cNvSpPr/>
          <p:nvPr/>
        </p:nvSpPr>
        <p:spPr>
          <a:xfrm>
            <a:off x="372618" y="3608374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56494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ابزار گردآوری</a:t>
            </a:r>
          </a:p>
        </p:txBody>
      </p:sp>
      <p:sp>
        <p:nvSpPr>
          <p:cNvPr id="23" name="Oval 22"/>
          <p:cNvSpPr/>
          <p:nvPr/>
        </p:nvSpPr>
        <p:spPr>
          <a:xfrm>
            <a:off x="372618" y="3989984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4655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یافته‌ها</a:t>
            </a:r>
          </a:p>
        </p:txBody>
      </p:sp>
      <p:sp>
        <p:nvSpPr>
          <p:cNvPr id="25" name="Oval 24"/>
          <p:cNvSpPr/>
          <p:nvPr/>
        </p:nvSpPr>
        <p:spPr>
          <a:xfrm>
            <a:off x="372618" y="4371594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3281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تحلیل و بحث</a:t>
            </a:r>
          </a:p>
        </p:txBody>
      </p:sp>
      <p:sp>
        <p:nvSpPr>
          <p:cNvPr id="27" name="Oval 26"/>
          <p:cNvSpPr/>
          <p:nvPr/>
        </p:nvSpPr>
        <p:spPr>
          <a:xfrm>
            <a:off x="372618" y="4753203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70976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نتیجه‌گیری</a:t>
            </a:r>
          </a:p>
        </p:txBody>
      </p:sp>
      <p:sp>
        <p:nvSpPr>
          <p:cNvPr id="29" name="Oval 28"/>
          <p:cNvSpPr/>
          <p:nvPr/>
        </p:nvSpPr>
        <p:spPr>
          <a:xfrm>
            <a:off x="372618" y="5134813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5091379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پیشنهادها</a:t>
            </a:r>
          </a:p>
        </p:txBody>
      </p:sp>
      <p:sp>
        <p:nvSpPr>
          <p:cNvPr id="31" name="Oval 30"/>
          <p:cNvSpPr/>
          <p:nvPr/>
        </p:nvSpPr>
        <p:spPr>
          <a:xfrm>
            <a:off x="372618" y="5516422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54729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محدودیت‌ها</a:t>
            </a:r>
          </a:p>
        </p:txBody>
      </p:sp>
      <p:sp>
        <p:nvSpPr>
          <p:cNvPr id="33" name="Oval 32"/>
          <p:cNvSpPr/>
          <p:nvPr/>
        </p:nvSpPr>
        <p:spPr>
          <a:xfrm>
            <a:off x="372618" y="5898032"/>
            <a:ext cx="96012" cy="96012"/>
          </a:xfrm>
          <a:prstGeom prst="ellipse">
            <a:avLst/>
          </a:prstGeom>
          <a:solidFill>
            <a:srgbClr val="D6B878"/>
          </a:solidFill>
          <a:ln w="11430">
            <a:solidFill>
              <a:srgbClr val="B89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585459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77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جمع‌بندی</a:t>
            </a:r>
          </a:p>
        </p:txBody>
      </p:sp>
      <p:sp>
        <p:nvSpPr>
          <p:cNvPr id="35" name="Oval 34"/>
          <p:cNvSpPr/>
          <p:nvPr/>
        </p:nvSpPr>
        <p:spPr>
          <a:xfrm>
            <a:off x="324612" y="6231636"/>
            <a:ext cx="192024" cy="192024"/>
          </a:xfrm>
          <a:prstGeom prst="ellipse">
            <a:avLst/>
          </a:prstGeom>
          <a:solidFill>
            <a:srgbClr val="0D2137"/>
          </a:solidFill>
          <a:ln w="25400">
            <a:solidFill>
              <a:srgbClr val="D6B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9476" y="6286500"/>
            <a:ext cx="82296" cy="82296"/>
          </a:xfrm>
          <a:prstGeom prst="ellipse">
            <a:avLst/>
          </a:prstGeom>
          <a:solidFill>
            <a:srgbClr val="D6B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6222492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6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تشکر و پاسخ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651052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rtl="1">
              <a:lnSpc>
                <a:spcPct val="142000"/>
              </a:lnSpc>
            </a:pPr>
            <a:r>
              <a:rPr sz="740" b="0" lang="fa-IR" altLang="en-US" dirty="0">
                <a:solidFill>
                  <a:srgbClr val="AAB2BC"/>
                </a:solidFill>
                <a:latin typeface="B Zar"/>
                <a:ea typeface="B Zar"/>
                <a:cs typeface="B Zar"/>
              </a:rPr>
              <a:t>دانشگاه پیام نور واحد جویبار  ·  دانشکدهٔ مدیریت، اقتصاد و حسابداری  ·  دفاع از پایان‌نامهٔ کارشناسی ارشد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649224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rtl="1">
              <a:lnSpc>
                <a:spcPct val="142000"/>
              </a:lnSpc>
            </a:pPr>
            <a:r>
              <a:rPr sz="8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۲۵ / ۲۵</a:t>
            </a:r>
          </a:p>
        </p:txBody>
      </p:sp>
      <p:pic>
        <p:nvPicPr>
          <p:cNvPr id="40" name="Picture 39" descr="logo_pnu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078992"/>
            <a:ext cx="676656" cy="6766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743200" y="184708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05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دانشگاه پیام نور مرکز جویبار — بخش مدیریت، اقتصاد و حسابداری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239572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10000"/>
              </a:lnSpc>
            </a:pPr>
            <a:r>
              <a:rPr sz="3800" b="1" lang="fa-IR" altLang="en-US" dirty="0">
                <a:solidFill>
                  <a:srgbClr val="FFFFFF"/>
                </a:solidFill>
                <a:latin typeface="B Titr"/>
                <a:ea typeface="B Titr"/>
                <a:cs typeface="B Titr"/>
              </a:rPr>
              <a:t>سپاسگزارم از توجه شما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57800" y="3401568"/>
            <a:ext cx="1188720" cy="0"/>
          </a:xfrm>
          <a:prstGeom prst="line">
            <a:avLst/>
          </a:prstGeom>
          <a:ln w="25400">
            <a:solidFill>
              <a:srgbClr val="B89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779008" y="3319272"/>
            <a:ext cx="146304" cy="146304"/>
          </a:xfrm>
          <a:prstGeom prst="ellipse">
            <a:avLst/>
          </a:prstGeom>
          <a:solidFill>
            <a:srgbClr val="B89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0" y="358444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2200" b="0" lang="fa-IR" altLang="en-US" dirty="0">
                <a:solidFill>
                  <a:srgbClr val="D6B878"/>
                </a:solidFill>
                <a:latin typeface="B Lotus"/>
                <a:ea typeface="B Lotus"/>
                <a:cs typeface="B Lotus"/>
              </a:rPr>
              <a:t>پرسش و پاسخ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77639" y="4937760"/>
            <a:ext cx="3749039" cy="969264"/>
          </a:xfrm>
          <a:prstGeom prst="roundRect">
            <a:avLst>
              <a:gd name="adj" fmla="val 22641"/>
            </a:avLst>
          </a:prstGeom>
          <a:solidFill>
            <a:srgbClr val="1A304A"/>
          </a:solidFill>
          <a:ln w="10160">
            <a:solidFill>
              <a:srgbClr val="5A6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0520" y="507492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10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دانشجو: بابک مرادوند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544068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ct val="142000"/>
              </a:lnSpc>
            </a:pPr>
            <a:r>
              <a:rPr sz="1100" b="0" lang="fa-IR" altLang="en-US" dirty="0">
                <a:solidFill>
                  <a:srgbClr val="ECE8DE"/>
                </a:solidFill>
                <a:latin typeface="B Zar"/>
                <a:ea typeface="B Zar"/>
                <a:cs typeface="B Zar"/>
              </a:rPr>
              <a:t>استاد راهنما: دکتر رمضان غلامی اواتی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بررسی تأثیر عملکرد بازارپردازی در ارتقای فروش (فروشگاه‌های دوو اهواز)</dc:title>
  <dc:subject>پایان‌نامهٔ کارشناسی ارشد مدیریت بازرگانی (بازاریابی) — جلسهٔ دفاع</dc:subject>
  <dc:creator>بابک مرادوند</dc:creator>
  <cp:keywords>بازارپردازی؛ مرچندایزینگ؛ ارتقای فروش؛ فروشگاه‌های دوو؛ اسپیرمن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پایان‌نامهٔ کارشناسی ارشد</cp:category>
</cp:coreProperties>
</file>