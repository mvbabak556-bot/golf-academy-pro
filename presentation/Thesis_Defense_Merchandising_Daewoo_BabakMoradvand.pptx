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170432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سلام و احترام به استادان محترم راهنما، مشاور و داوران. موضوع پایان‌نامه: «بررسی تأثیر بازارپردازی بر ارتقای فروش محصولات شرکت دوو» در فروشگاه‌های لوازم خانگی دوو در شهر اهواز. ابتدا نقشهٔ مسیر ارائه مرور می‌شود و سپس مبانی، روش، یافته‌ها و جمع‌بندی ارائه خواهد شد.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این اسلاید نقشهٔ مسیر ارائه را نشان می‌دهد؛ ۱۶ بخش از معرفی پژوهش تا پرسش و پاسخ. در تمام اسلایدها، بخش فعال در نوار پیشرفت کناری با رنگ متمایز مشخص است.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تبلیغات نوآورانه و هدفمند بر شکل‌گیری قصد خرید و تغییر تصمیم مصرف‌کننده اثرگذار است. بازارپردازی یعنی استفاده از همهٔ عناصر محیط فروشگاه برای برجسته‌سازی محصول در نقطهٔ خرید. این پژوهش سه مؤلفهٔ مستقل (اقلام تبلیغاتی، سازماندهی فعالیت‌ها، چیدمان) و یک متغیر وابسته (میزان فروش) را می‌سنجد.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با تغییر الگوهای رفتاری و انتظارات مشتریان و پیچیده‌تر شدن خرید، جایگاه رقابتی برند به مدیریت محیط فروشگاه وابسته‌تر شده است. سه مؤلفهٔ مستقل پژوهش معرفی می‌شوند و پرسش محوری این است: آیا این سه مؤلفه بر میزان فروش محصولات دوو اثر مثبت و معنادار دارند؟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اهمیت در دو سطح است: برای صنعت، بازارپردازی به تثبیت برند، ارتباط با مشتریان، معرفی محصولات جدید، برجسته‌سازی مزیت رقابتی و ذهنیت مثبت کمک می‌کند؛ برای علم و تصمیم‌سازی، شواهد تجربی هم‌زمان دربارهٔ هر سه مؤلفه و مبنای داده برای مدیران فراهم می‌شود.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هدف اصلی: بررسی تأثیر عملکرد بازارپردازی بر ارتقای فروش فروشگاه‌های دوو در اهواز. سه هدف فرعی متناظر با سه مؤلفهٔ بازارپردازی تعریف شده است.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فرضیهٔ اصلی: بازارپردازی بر ارتقای فروش محصولات دوو تأثیر مثبت و معنادار دارد. سه فرضیهٔ فرعی، رابطهٔ مثبت و معنادار هر یک از مؤلفه‌ها را با میزان فروش مطرح می‌کنند. آزمون آماری با ضریب همبستگی اسپیرمن در SPSS انجام شده است.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مدل مفهومی پژوهش: سه متغیر مستقل (استقرار اقلام تبلیغاتی، سازماندهی فعالیت‌های بازارپردازی، چیدمان و جانمایی) به‌صورت هم‌زمان بر متغیر وابستهٔ میزان فروش اثر می‌گذارند.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مسیر مرور مبانی و پیشینه در سه گام است: مفاهیم نظری، مطالعات تجربی پیشین، و مدل پژوهش حاضر. جدول بالای اسلاید برای مرور مهم‌ترین پژوهش‌های پیشین و مقایسهٔ یافته‌ها آماده شده است. شکاف پژوهشی: سنجش هم‌زمان هر سه مؤلفه در فروشگاه‌های لوازم خانگی دوو در اهواز.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پژوهش از نظر هدف کاربردی و از نظر روش گردآوری داده، توصیفی از نوع همبستگی است. مسیر کار: تعریف مدل، تأیید روایی، توزیع پرسشنامه، محاسبهٔ پایایی، آزمون نرمال‌بودن K-S و در نهایت آزمون اسپیرمن در SPSS.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جامعهٔ آماری ۲۴۵ نفر است و بر اساس جدول مورگان، ۱۵۰ پرسشنامه توزیع شد. نمونه‌گیری به روش ترکیبیِ احتمالی شامل تصادفی طبقه‌ای و تصادفی خوشه‌ای انجام شده است. معیارهای طبقات و خوشه‌ها بر اساس فصل ۳ تکمیل می‌شود.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ابزار گردآوری پرسشنامه است؛ روایی آن با نظر استاد راهنما، استاد مشاور و خبرگان صنعت تأیید شد. پایایی با آلفای کرونباخ برابر ۰/۹۲۲ (۹۲٫۲٪) به دست آمد که پایایی مطلوب را نشان می‌دهد. آزمون کولموگروف–اسمیرنوف از نرمال بودن همهٔ مؤلفه‌ها حکایت داشت.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این اسلاید متغیرهای پژوهش و نقش آن‌ها را خلاصه می‌کند. متغیر وابسته، میزان فروش محصولات دوو است. آزمون فرضیه‌ها با ضریب همبستگی اسپیرمن انجام شد و نتیجهٔ کلی، وجود رابطهٔ معنادار در تمامی فرضیه‌هاست.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نمای کلی یافته‌ها: نتیجهٔ اسپیرمن نشان داد در هر چهار فرضیه رابطهٔ معنادار وجود دارد. نمودار پایین چارچوب آمادهٔ درج ضرایب r از خروجی SPSS است؛ مقادیر دقیق بدون گرد کردن یا حدس‌زدن از جدول‌های فصل ۴ جای‌گذاری شود.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جدول نتایج آزمون فرضیه‌ها: ستون‌های ضریب همبستگی r و سطح معناداری p دقیقاً از خروجی SPSS فصل ۴ درج شود. بر اساس یافتهٔ گزارش‌شده در رساله، هر چهار فرضیه تأیید شده‌اند.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این اسلاید چارچوب جدول شاخص‌های توصیفی و نمودارهای جمعیت‌شناختی (جنسیت، سن، تحصیلات) را آماده می‌کند؛ اعداد میانگین، انحراف معیار، کمینه و بیشینه از جدول‌های توصیفی فصل ۴ درج شود.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پاسخ فرضیه‌ها در یک نگاه: هر سه مؤلفه رابطهٔ مثبت و معنادار با فروش دارند. ستون مقایسه با پیشینه و ستون تفسیر و دلیل، هنگام درج متن فصل ۵ بر پایهٔ منابع تکمیل شود.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زنجیرهٔ پیشنهادی تفسیر: اقدامات بازارپردازی در فروشگاه به توجه و تجربهٔ مثبت مشتری، سپس شکل‌گیری قصد و تصمیم خرید و در نهایت ارتقای فروش می‌انجامد. سازگاری با مبانی نظری و تبیین تفاوت‌های احتمالی با پیشینه بر اساس فصل ۵ نوشته شود.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مهم‌ترین یافته: بازارپردازی بر ارتقای فروش محصولات دوو تأثیر مثبت و معنادار دارد و هر سه مؤلفه — اقلام تبلیغاتی، سازماندهی و چیدمان — با میزان فروش رابطهٔ مثبت و معنادار دارند.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پیشنهادهای کاربردی به بهینه‌سازی سه مؤلفه در فروشگاه‌های دوو می‌پردازند و متن دقیق هر اقدام بر پایهٔ نتایج نوشته می‌شود. پیشنهادهای پژوهشی شامل تکرار مطالعه در شهرهای دیگر، سنجش متغیرهای میانجی و تکمیل پژوهش با داده‌های واقعی فروش است.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محدودیت‌ها: محدود بودن قلمرو مکانی به اهواز و لزوم احتیاط در تعمیم، و اتکا به داده‌های خودگزارشی پرسشنامه؛ سایر موارد از فصل ۵ تکمیل شود. جمع‌بندی: سه مؤلفهٔ بازارپردازی رابطهٔ مثبت و معنادار با فروش دارند و طراحی هدفمند محیط فروشگاه اهرمی اثرگذار برای ارتقای فروش است.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از توجه استادان محترم و حاضران گرامی سپاسگزارم. آمادهٔ دریافت پرسش‌ها و دیدگاه‌های ارزشمند شما هستم.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704320" cy="685800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420624" y="548640"/>
            <a:ext cx="0" cy="5833872"/>
          </a:xfrm>
          <a:prstGeom prst="line">
            <a:avLst/>
          </a:prstGeom>
          <a:ln w="13970">
            <a:solidFill>
              <a:srgbClr val="ECE8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324612" y="507492"/>
            <a:ext cx="192024" cy="192024"/>
          </a:xfrm>
          <a:prstGeom prst="ellipse">
            <a:avLst/>
          </a:prstGeom>
          <a:solidFill>
            <a:srgbClr val="0D2137"/>
          </a:solidFill>
          <a:ln w="25400">
            <a:solidFill>
              <a:srgbClr val="D6B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79476" y="562356"/>
            <a:ext cx="82296" cy="82296"/>
          </a:xfrm>
          <a:prstGeom prst="ellipse">
            <a:avLst/>
          </a:prstGeom>
          <a:solidFill>
            <a:srgbClr val="D6B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498348"/>
            <a:ext cx="960120" cy="2103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60" b="0" lang="fa-IR" altLang="en-US" dirty="0">
                <a:solidFill>
                  <a:srgbClr val="D6B878"/>
                </a:solidFill>
                <a:latin typeface="B Lotus"/>
                <a:ea typeface="B Lotus"/>
                <a:cs typeface="B Lotus"/>
              </a:rPr>
              <a:t>عنوان و معرفی</a:t>
            </a:r>
          </a:p>
        </p:txBody>
      </p:sp>
      <p:sp>
        <p:nvSpPr>
          <p:cNvPr id="7" name="Oval 6"/>
          <p:cNvSpPr/>
          <p:nvPr/>
        </p:nvSpPr>
        <p:spPr>
          <a:xfrm>
            <a:off x="372618" y="937107"/>
            <a:ext cx="96012" cy="96012"/>
          </a:xfrm>
          <a:prstGeom prst="ellipse">
            <a:avLst/>
          </a:prstGeom>
          <a:solidFill>
            <a:srgbClr val="22344A"/>
          </a:solidFill>
          <a:ln w="11430">
            <a:solidFill>
              <a:srgbClr val="96A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89367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ECE8DE"/>
                </a:solidFill>
                <a:latin typeface="B Zar"/>
                <a:ea typeface="B Zar"/>
                <a:cs typeface="B Zar"/>
              </a:rPr>
              <a:t>کلیات پژوهش</a:t>
            </a:r>
          </a:p>
        </p:txBody>
      </p:sp>
      <p:sp>
        <p:nvSpPr>
          <p:cNvPr id="9" name="Oval 8"/>
          <p:cNvSpPr/>
          <p:nvPr/>
        </p:nvSpPr>
        <p:spPr>
          <a:xfrm>
            <a:off x="372618" y="1318717"/>
            <a:ext cx="96012" cy="96012"/>
          </a:xfrm>
          <a:prstGeom prst="ellipse">
            <a:avLst/>
          </a:prstGeom>
          <a:solidFill>
            <a:srgbClr val="22344A"/>
          </a:solidFill>
          <a:ln w="11430">
            <a:solidFill>
              <a:srgbClr val="96A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27528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ECE8DE"/>
                </a:solidFill>
                <a:latin typeface="B Zar"/>
                <a:ea typeface="B Zar"/>
                <a:cs typeface="B Zar"/>
              </a:rPr>
              <a:t>بیان مسئله</a:t>
            </a:r>
          </a:p>
        </p:txBody>
      </p:sp>
      <p:sp>
        <p:nvSpPr>
          <p:cNvPr id="11" name="Oval 10"/>
          <p:cNvSpPr/>
          <p:nvPr/>
        </p:nvSpPr>
        <p:spPr>
          <a:xfrm>
            <a:off x="372618" y="1700326"/>
            <a:ext cx="96012" cy="96012"/>
          </a:xfrm>
          <a:prstGeom prst="ellipse">
            <a:avLst/>
          </a:prstGeom>
          <a:solidFill>
            <a:srgbClr val="22344A"/>
          </a:solidFill>
          <a:ln w="11430">
            <a:solidFill>
              <a:srgbClr val="96A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65689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ECE8DE"/>
                </a:solidFill>
                <a:latin typeface="B Zar"/>
                <a:ea typeface="B Zar"/>
                <a:cs typeface="B Zar"/>
              </a:rPr>
              <a:t>اهمیت و ضرورت</a:t>
            </a:r>
          </a:p>
        </p:txBody>
      </p:sp>
      <p:sp>
        <p:nvSpPr>
          <p:cNvPr id="13" name="Oval 12"/>
          <p:cNvSpPr/>
          <p:nvPr/>
        </p:nvSpPr>
        <p:spPr>
          <a:xfrm>
            <a:off x="372618" y="2081936"/>
            <a:ext cx="96012" cy="96012"/>
          </a:xfrm>
          <a:prstGeom prst="ellipse">
            <a:avLst/>
          </a:prstGeom>
          <a:solidFill>
            <a:srgbClr val="22344A"/>
          </a:solidFill>
          <a:ln w="11430">
            <a:solidFill>
              <a:srgbClr val="96A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203850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ECE8DE"/>
                </a:solidFill>
                <a:latin typeface="B Zar"/>
                <a:ea typeface="B Zar"/>
                <a:cs typeface="B Zar"/>
              </a:rPr>
              <a:t>اهداف و فرضیه‌ها</a:t>
            </a:r>
          </a:p>
        </p:txBody>
      </p:sp>
      <p:sp>
        <p:nvSpPr>
          <p:cNvPr id="15" name="Oval 14"/>
          <p:cNvSpPr/>
          <p:nvPr/>
        </p:nvSpPr>
        <p:spPr>
          <a:xfrm>
            <a:off x="372618" y="2463546"/>
            <a:ext cx="96012" cy="96012"/>
          </a:xfrm>
          <a:prstGeom prst="ellipse">
            <a:avLst/>
          </a:prstGeom>
          <a:solidFill>
            <a:srgbClr val="22344A"/>
          </a:solidFill>
          <a:ln w="11430">
            <a:solidFill>
              <a:srgbClr val="96A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242011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ECE8DE"/>
                </a:solidFill>
                <a:latin typeface="B Zar"/>
                <a:ea typeface="B Zar"/>
                <a:cs typeface="B Zar"/>
              </a:rPr>
              <a:t>مبانی و پیشینه</a:t>
            </a:r>
          </a:p>
        </p:txBody>
      </p:sp>
      <p:sp>
        <p:nvSpPr>
          <p:cNvPr id="17" name="Oval 16"/>
          <p:cNvSpPr/>
          <p:nvPr/>
        </p:nvSpPr>
        <p:spPr>
          <a:xfrm>
            <a:off x="372618" y="2845155"/>
            <a:ext cx="96012" cy="96012"/>
          </a:xfrm>
          <a:prstGeom prst="ellipse">
            <a:avLst/>
          </a:prstGeom>
          <a:solidFill>
            <a:srgbClr val="22344A"/>
          </a:solidFill>
          <a:ln w="11430">
            <a:solidFill>
              <a:srgbClr val="96A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2801721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ECE8DE"/>
                </a:solidFill>
                <a:latin typeface="B Zar"/>
                <a:ea typeface="B Zar"/>
                <a:cs typeface="B Zar"/>
              </a:rPr>
              <a:t>روش‌شناسی</a:t>
            </a:r>
          </a:p>
        </p:txBody>
      </p:sp>
      <p:sp>
        <p:nvSpPr>
          <p:cNvPr id="19" name="Oval 18"/>
          <p:cNvSpPr/>
          <p:nvPr/>
        </p:nvSpPr>
        <p:spPr>
          <a:xfrm>
            <a:off x="372618" y="3226765"/>
            <a:ext cx="96012" cy="96012"/>
          </a:xfrm>
          <a:prstGeom prst="ellipse">
            <a:avLst/>
          </a:prstGeom>
          <a:solidFill>
            <a:srgbClr val="22344A"/>
          </a:solidFill>
          <a:ln w="11430">
            <a:solidFill>
              <a:srgbClr val="96A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" y="3183331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ECE8DE"/>
                </a:solidFill>
                <a:latin typeface="B Zar"/>
                <a:ea typeface="B Zar"/>
                <a:cs typeface="B Zar"/>
              </a:rPr>
              <a:t>جامعه و نمونه</a:t>
            </a:r>
          </a:p>
        </p:txBody>
      </p:sp>
      <p:sp>
        <p:nvSpPr>
          <p:cNvPr id="21" name="Oval 20"/>
          <p:cNvSpPr/>
          <p:nvPr/>
        </p:nvSpPr>
        <p:spPr>
          <a:xfrm>
            <a:off x="372618" y="3608374"/>
            <a:ext cx="96012" cy="96012"/>
          </a:xfrm>
          <a:prstGeom prst="ellipse">
            <a:avLst/>
          </a:prstGeom>
          <a:solidFill>
            <a:srgbClr val="22344A"/>
          </a:solidFill>
          <a:ln w="11430">
            <a:solidFill>
              <a:srgbClr val="96A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356494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ECE8DE"/>
                </a:solidFill>
                <a:latin typeface="B Zar"/>
                <a:ea typeface="B Zar"/>
                <a:cs typeface="B Zar"/>
              </a:rPr>
              <a:t>ابزار گردآوری</a:t>
            </a:r>
          </a:p>
        </p:txBody>
      </p:sp>
      <p:sp>
        <p:nvSpPr>
          <p:cNvPr id="23" name="Oval 22"/>
          <p:cNvSpPr/>
          <p:nvPr/>
        </p:nvSpPr>
        <p:spPr>
          <a:xfrm>
            <a:off x="372618" y="3989984"/>
            <a:ext cx="96012" cy="96012"/>
          </a:xfrm>
          <a:prstGeom prst="ellipse">
            <a:avLst/>
          </a:prstGeom>
          <a:solidFill>
            <a:srgbClr val="22344A"/>
          </a:solidFill>
          <a:ln w="11430">
            <a:solidFill>
              <a:srgbClr val="96A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" y="394655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ECE8DE"/>
                </a:solidFill>
                <a:latin typeface="B Zar"/>
                <a:ea typeface="B Zar"/>
                <a:cs typeface="B Zar"/>
              </a:rPr>
              <a:t>یافته‌ها</a:t>
            </a:r>
          </a:p>
        </p:txBody>
      </p:sp>
      <p:sp>
        <p:nvSpPr>
          <p:cNvPr id="25" name="Oval 24"/>
          <p:cNvSpPr/>
          <p:nvPr/>
        </p:nvSpPr>
        <p:spPr>
          <a:xfrm>
            <a:off x="372618" y="4371594"/>
            <a:ext cx="96012" cy="96012"/>
          </a:xfrm>
          <a:prstGeom prst="ellipse">
            <a:avLst/>
          </a:prstGeom>
          <a:solidFill>
            <a:srgbClr val="22344A"/>
          </a:solidFill>
          <a:ln w="11430">
            <a:solidFill>
              <a:srgbClr val="96A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432816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ECE8DE"/>
                </a:solidFill>
                <a:latin typeface="B Zar"/>
                <a:ea typeface="B Zar"/>
                <a:cs typeface="B Zar"/>
              </a:rPr>
              <a:t>تحلیل و بحث</a:t>
            </a:r>
          </a:p>
        </p:txBody>
      </p:sp>
      <p:sp>
        <p:nvSpPr>
          <p:cNvPr id="27" name="Oval 26"/>
          <p:cNvSpPr/>
          <p:nvPr/>
        </p:nvSpPr>
        <p:spPr>
          <a:xfrm>
            <a:off x="372618" y="4753203"/>
            <a:ext cx="96012" cy="96012"/>
          </a:xfrm>
          <a:prstGeom prst="ellipse">
            <a:avLst/>
          </a:prstGeom>
          <a:solidFill>
            <a:srgbClr val="22344A"/>
          </a:solidFill>
          <a:ln w="11430">
            <a:solidFill>
              <a:srgbClr val="96A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4" y="470976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ECE8DE"/>
                </a:solidFill>
                <a:latin typeface="B Zar"/>
                <a:ea typeface="B Zar"/>
                <a:cs typeface="B Zar"/>
              </a:rPr>
              <a:t>نتیجه‌گیری</a:t>
            </a:r>
          </a:p>
        </p:txBody>
      </p:sp>
      <p:sp>
        <p:nvSpPr>
          <p:cNvPr id="29" name="Oval 28"/>
          <p:cNvSpPr/>
          <p:nvPr/>
        </p:nvSpPr>
        <p:spPr>
          <a:xfrm>
            <a:off x="372618" y="5134813"/>
            <a:ext cx="96012" cy="96012"/>
          </a:xfrm>
          <a:prstGeom prst="ellipse">
            <a:avLst/>
          </a:prstGeom>
          <a:solidFill>
            <a:srgbClr val="22344A"/>
          </a:solidFill>
          <a:ln w="11430">
            <a:solidFill>
              <a:srgbClr val="96A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3504" y="509137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ECE8DE"/>
                </a:solidFill>
                <a:latin typeface="B Zar"/>
                <a:ea typeface="B Zar"/>
                <a:cs typeface="B Zar"/>
              </a:rPr>
              <a:t>پیشنهادها</a:t>
            </a:r>
          </a:p>
        </p:txBody>
      </p:sp>
      <p:sp>
        <p:nvSpPr>
          <p:cNvPr id="31" name="Oval 30"/>
          <p:cNvSpPr/>
          <p:nvPr/>
        </p:nvSpPr>
        <p:spPr>
          <a:xfrm>
            <a:off x="372618" y="5516422"/>
            <a:ext cx="96012" cy="96012"/>
          </a:xfrm>
          <a:prstGeom prst="ellipse">
            <a:avLst/>
          </a:prstGeom>
          <a:solidFill>
            <a:srgbClr val="22344A"/>
          </a:solidFill>
          <a:ln w="11430">
            <a:solidFill>
              <a:srgbClr val="96A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4" y="547298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ECE8DE"/>
                </a:solidFill>
                <a:latin typeface="B Zar"/>
                <a:ea typeface="B Zar"/>
                <a:cs typeface="B Zar"/>
              </a:rPr>
              <a:t>محدودیت‌ها</a:t>
            </a:r>
          </a:p>
        </p:txBody>
      </p:sp>
      <p:sp>
        <p:nvSpPr>
          <p:cNvPr id="33" name="Oval 32"/>
          <p:cNvSpPr/>
          <p:nvPr/>
        </p:nvSpPr>
        <p:spPr>
          <a:xfrm>
            <a:off x="372618" y="5898032"/>
            <a:ext cx="96012" cy="96012"/>
          </a:xfrm>
          <a:prstGeom prst="ellipse">
            <a:avLst/>
          </a:prstGeom>
          <a:solidFill>
            <a:srgbClr val="22344A"/>
          </a:solidFill>
          <a:ln w="11430">
            <a:solidFill>
              <a:srgbClr val="96A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504" y="585459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ECE8DE"/>
                </a:solidFill>
                <a:latin typeface="B Zar"/>
                <a:ea typeface="B Zar"/>
                <a:cs typeface="B Zar"/>
              </a:rPr>
              <a:t>جمع‌بندی</a:t>
            </a:r>
          </a:p>
        </p:txBody>
      </p:sp>
      <p:sp>
        <p:nvSpPr>
          <p:cNvPr id="35" name="Oval 34"/>
          <p:cNvSpPr/>
          <p:nvPr/>
        </p:nvSpPr>
        <p:spPr>
          <a:xfrm>
            <a:off x="372618" y="6279642"/>
            <a:ext cx="96012" cy="96012"/>
          </a:xfrm>
          <a:prstGeom prst="ellipse">
            <a:avLst/>
          </a:prstGeom>
          <a:solidFill>
            <a:srgbClr val="22344A"/>
          </a:solidFill>
          <a:ln w="11430">
            <a:solidFill>
              <a:srgbClr val="96A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3504" y="623620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ECE8DE"/>
                </a:solidFill>
                <a:latin typeface="B Zar"/>
                <a:ea typeface="B Zar"/>
                <a:cs typeface="B Zar"/>
              </a:rPr>
              <a:t>تشکر و پاسخ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6510528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740" b="0" lang="fa-IR" altLang="en-US" dirty="0">
                <a:solidFill>
                  <a:srgbClr val="AAB2BC"/>
                </a:solidFill>
                <a:latin typeface="B Zar"/>
                <a:ea typeface="B Zar"/>
                <a:cs typeface="B Zar"/>
              </a:rPr>
              <a:t>دانشگاه پیام نور واحد جویبار  ·  دانشکدهٔ مدیریت، اقتصاد و حسابداری  ·  دفاع از پایان‌نامهٔ کارشناسی ارشد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69880" y="6492240"/>
            <a:ext cx="832104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50" b="0" lang="fa-IR" altLang="en-US" dirty="0">
                <a:solidFill>
                  <a:srgbClr val="D6B878"/>
                </a:solidFill>
                <a:latin typeface="B Lotus"/>
                <a:ea typeface="B Lotus"/>
                <a:cs typeface="B Lotus"/>
              </a:rPr>
              <a:t>۱ / ۲۲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06440" y="512064"/>
            <a:ext cx="5285232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2000"/>
              </a:lnSpc>
            </a:pPr>
            <a:r>
              <a:rPr sz="1500" b="0" lang="fa-IR" altLang="en-US" dirty="0">
                <a:solidFill>
                  <a:srgbClr val="D6B878"/>
                </a:solidFill>
                <a:latin typeface="B Lotus"/>
                <a:ea typeface="B Lotus"/>
                <a:cs typeface="B Lotus"/>
              </a:rPr>
              <a:t>دانشگاه پیام نور — واحد جویبار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06440" y="859536"/>
            <a:ext cx="5285232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2000"/>
              </a:lnSpc>
            </a:pPr>
            <a:r>
              <a:rPr sz="1100" b="0" lang="fa-IR" altLang="en-US" dirty="0">
                <a:solidFill>
                  <a:srgbClr val="ECE8DE"/>
                </a:solidFill>
                <a:latin typeface="B Zar"/>
                <a:ea typeface="B Zar"/>
                <a:cs typeface="B Zar"/>
              </a:rPr>
              <a:t>دانشکدهٔ مدیریت، اقتصاد و حسابداری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8577072" y="1911095"/>
            <a:ext cx="402336" cy="0"/>
          </a:xfrm>
          <a:prstGeom prst="line">
            <a:avLst/>
          </a:prstGeom>
          <a:ln w="22860">
            <a:solidFill>
              <a:srgbClr val="B890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9070848" y="1773936"/>
            <a:ext cx="2020824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2000"/>
              </a:lnSpc>
            </a:pPr>
            <a:r>
              <a:rPr sz="1150" b="0" lang="fa-IR" altLang="en-US" dirty="0" spc="140">
                <a:solidFill>
                  <a:srgbClr val="7FBFBF"/>
                </a:solidFill>
                <a:latin typeface="B Lotus"/>
                <a:ea typeface="B Lotus"/>
                <a:cs typeface="B Lotus"/>
              </a:rPr>
              <a:t>پایان‌نامهٔ کارشناسی ارشد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06440" y="2194560"/>
            <a:ext cx="5285232" cy="1325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28000"/>
              </a:lnSpc>
            </a:pPr>
            <a:r>
              <a:rPr sz="2850" b="1" lang="fa-IR" altLang="en-US" dirty="0">
                <a:solidFill>
                  <a:srgbClr val="FFFFFF"/>
                </a:solidFill>
                <a:latin typeface="B Titr"/>
                <a:ea typeface="B Titr"/>
                <a:cs typeface="B Titr"/>
              </a:rPr>
              <a:t>بررسی تأثیر بازارپردازی بر ارتقای فروش محصولات شرکت دوو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06440" y="3584448"/>
            <a:ext cx="5285232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0000"/>
              </a:lnSpc>
            </a:pPr>
            <a:r>
              <a:rPr sz="1350" b="0" lang="fa-IR" altLang="en-US" dirty="0">
                <a:solidFill>
                  <a:srgbClr val="D6B878"/>
                </a:solidFill>
                <a:latin typeface="B Lotus"/>
                <a:ea typeface="B Lotus"/>
                <a:cs typeface="B Lotus"/>
              </a:rPr>
              <a:t>موردمطالعه: فروشگاه‌های لوازم خانگی شرکت دوو در شهر اهواز</a:t>
            </a:r>
          </a:p>
        </p:txBody>
      </p:sp>
      <p:cxnSp>
        <p:nvCxnSpPr>
          <p:cNvPr id="45" name="Connector 44"/>
          <p:cNvCxnSpPr/>
          <p:nvPr/>
        </p:nvCxnSpPr>
        <p:spPr>
          <a:xfrm flipH="1">
            <a:off x="8275320" y="4160520"/>
            <a:ext cx="2816352" cy="0"/>
          </a:xfrm>
          <a:prstGeom prst="line">
            <a:avLst/>
          </a:prstGeom>
          <a:ln w="12700">
            <a:solidFill>
              <a:srgbClr val="7482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9646920" y="4407408"/>
            <a:ext cx="1444752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B2BAC4"/>
                </a:solidFill>
                <a:latin typeface="B Zar"/>
                <a:ea typeface="B Zar"/>
                <a:cs typeface="B Zar"/>
              </a:rPr>
              <a:t>دانشجو 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06440" y="4407408"/>
            <a:ext cx="370332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1200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بابک مرادوند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46920" y="4738420"/>
            <a:ext cx="1444752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B2BAC4"/>
                </a:solidFill>
                <a:latin typeface="B Zar"/>
                <a:ea typeface="B Zar"/>
                <a:cs typeface="B Zar"/>
              </a:rPr>
              <a:t>استاد راهنما :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06440" y="4738420"/>
            <a:ext cx="370332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1200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دکتر رمضان غلامی اواتی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6920" y="5069433"/>
            <a:ext cx="1444752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B2BAC4"/>
                </a:solidFill>
                <a:latin typeface="B Zar"/>
                <a:ea typeface="B Zar"/>
                <a:cs typeface="B Zar"/>
              </a:rPr>
              <a:t>استاد مشاور :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06440" y="5069433"/>
            <a:ext cx="370332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1200" b="0" lang="fa-IR" altLang="en-US" dirty="0">
                <a:solidFill>
                  <a:srgbClr val="D6B878"/>
                </a:solidFill>
                <a:latin typeface="B Lotus"/>
                <a:ea typeface="B Lotus"/>
                <a:cs typeface="B Lotus"/>
              </a:rPr>
              <a:t>[در صورت وجود، نام استاد مشاور درج شود]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46920" y="5400446"/>
            <a:ext cx="1444752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B2BAC4"/>
                </a:solidFill>
                <a:latin typeface="B Zar"/>
                <a:ea typeface="B Zar"/>
                <a:cs typeface="B Zar"/>
              </a:rPr>
              <a:t>مقطع تحصیلی :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06440" y="5400446"/>
            <a:ext cx="370332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1200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کارشناسی ارشد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46920" y="5731459"/>
            <a:ext cx="1444752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B2BAC4"/>
                </a:solidFill>
                <a:latin typeface="B Zar"/>
                <a:ea typeface="B Zar"/>
                <a:cs typeface="B Zar"/>
              </a:rPr>
              <a:t>رشتهٔ تحصیلی :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06440" y="5731459"/>
            <a:ext cx="370332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1200" b="0" lang="fa-IR" altLang="en-US" dirty="0">
                <a:solidFill>
                  <a:srgbClr val="D6B878"/>
                </a:solidFill>
                <a:latin typeface="B Lotus"/>
                <a:ea typeface="B Lotus"/>
                <a:cs typeface="B Lotus"/>
              </a:rPr>
              <a:t>[نام رشته درج شود]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46920" y="6062472"/>
            <a:ext cx="1444752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B2BAC4"/>
                </a:solidFill>
                <a:latin typeface="B Zar"/>
                <a:ea typeface="B Zar"/>
                <a:cs typeface="B Zar"/>
              </a:rPr>
              <a:t>تاریخ دفاع :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06440" y="6062472"/>
            <a:ext cx="370332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1200" b="0" lang="fa-IR" altLang="en-US" dirty="0">
                <a:solidFill>
                  <a:srgbClr val="D6B878"/>
                </a:solidFill>
                <a:latin typeface="B Lotus"/>
                <a:ea typeface="B Lotus"/>
                <a:cs typeface="B Lotus"/>
              </a:rPr>
              <a:t>[تاریخ جلسهٔ دفاع درج شود]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704320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20624" y="548640"/>
            <a:ext cx="0" cy="5833872"/>
          </a:xfrm>
          <a:prstGeom prst="line">
            <a:avLst/>
          </a:prstGeom>
          <a:ln w="13970">
            <a:solidFill>
              <a:srgbClr val="DADF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324612" y="507492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7D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79476" y="562356"/>
            <a:ext cx="82296" cy="82296"/>
          </a:xfrm>
          <a:prstGeom prst="ellipse">
            <a:avLst/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498348"/>
            <a:ext cx="960120" cy="2103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6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عنوان و معرفی</a:t>
            </a:r>
          </a:p>
        </p:txBody>
      </p:sp>
      <p:sp>
        <p:nvSpPr>
          <p:cNvPr id="7" name="Oval 6"/>
          <p:cNvSpPr/>
          <p:nvPr/>
        </p:nvSpPr>
        <p:spPr>
          <a:xfrm>
            <a:off x="372618" y="937107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89367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کلیات پژوهش</a:t>
            </a:r>
          </a:p>
        </p:txBody>
      </p:sp>
      <p:sp>
        <p:nvSpPr>
          <p:cNvPr id="9" name="Oval 8"/>
          <p:cNvSpPr/>
          <p:nvPr/>
        </p:nvSpPr>
        <p:spPr>
          <a:xfrm>
            <a:off x="372618" y="1318717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27528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بیان مسئله</a:t>
            </a:r>
          </a:p>
        </p:txBody>
      </p:sp>
      <p:sp>
        <p:nvSpPr>
          <p:cNvPr id="11" name="Oval 10"/>
          <p:cNvSpPr/>
          <p:nvPr/>
        </p:nvSpPr>
        <p:spPr>
          <a:xfrm>
            <a:off x="372618" y="1700326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65689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اهمیت و ضرورت</a:t>
            </a:r>
          </a:p>
        </p:txBody>
      </p:sp>
      <p:sp>
        <p:nvSpPr>
          <p:cNvPr id="13" name="Oval 12"/>
          <p:cNvSpPr/>
          <p:nvPr/>
        </p:nvSpPr>
        <p:spPr>
          <a:xfrm>
            <a:off x="372618" y="2081936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203850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اهداف و فرضیه‌ها</a:t>
            </a:r>
          </a:p>
        </p:txBody>
      </p:sp>
      <p:sp>
        <p:nvSpPr>
          <p:cNvPr id="15" name="Oval 14"/>
          <p:cNvSpPr/>
          <p:nvPr/>
        </p:nvSpPr>
        <p:spPr>
          <a:xfrm>
            <a:off x="372618" y="2463546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242011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مبانی و پیشینه</a:t>
            </a:r>
          </a:p>
        </p:txBody>
      </p:sp>
      <p:sp>
        <p:nvSpPr>
          <p:cNvPr id="17" name="Oval 16"/>
          <p:cNvSpPr/>
          <p:nvPr/>
        </p:nvSpPr>
        <p:spPr>
          <a:xfrm>
            <a:off x="372618" y="2845155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2801721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روش‌شناسی</a:t>
            </a:r>
          </a:p>
        </p:txBody>
      </p:sp>
      <p:sp>
        <p:nvSpPr>
          <p:cNvPr id="19" name="Oval 18"/>
          <p:cNvSpPr/>
          <p:nvPr/>
        </p:nvSpPr>
        <p:spPr>
          <a:xfrm>
            <a:off x="372618" y="3226765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" y="3183331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جامعه و نمونه</a:t>
            </a:r>
          </a:p>
        </p:txBody>
      </p:sp>
      <p:sp>
        <p:nvSpPr>
          <p:cNvPr id="21" name="Oval 20"/>
          <p:cNvSpPr/>
          <p:nvPr/>
        </p:nvSpPr>
        <p:spPr>
          <a:xfrm>
            <a:off x="372618" y="3608374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356494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ابزار گردآوری</a:t>
            </a:r>
          </a:p>
        </p:txBody>
      </p:sp>
      <p:sp>
        <p:nvSpPr>
          <p:cNvPr id="23" name="Oval 22"/>
          <p:cNvSpPr/>
          <p:nvPr/>
        </p:nvSpPr>
        <p:spPr>
          <a:xfrm>
            <a:off x="372618" y="3989984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" y="394655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یافته‌ها</a:t>
            </a:r>
          </a:p>
        </p:txBody>
      </p:sp>
      <p:sp>
        <p:nvSpPr>
          <p:cNvPr id="25" name="Oval 24"/>
          <p:cNvSpPr/>
          <p:nvPr/>
        </p:nvSpPr>
        <p:spPr>
          <a:xfrm>
            <a:off x="372618" y="4371594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432816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تحلیل و بحث</a:t>
            </a:r>
          </a:p>
        </p:txBody>
      </p:sp>
      <p:sp>
        <p:nvSpPr>
          <p:cNvPr id="27" name="Oval 26"/>
          <p:cNvSpPr/>
          <p:nvPr/>
        </p:nvSpPr>
        <p:spPr>
          <a:xfrm>
            <a:off x="372618" y="4753203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4" y="470976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نتیجه‌گیری</a:t>
            </a:r>
          </a:p>
        </p:txBody>
      </p:sp>
      <p:sp>
        <p:nvSpPr>
          <p:cNvPr id="29" name="Oval 28"/>
          <p:cNvSpPr/>
          <p:nvPr/>
        </p:nvSpPr>
        <p:spPr>
          <a:xfrm>
            <a:off x="372618" y="5134813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3504" y="509137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پیشنهادها</a:t>
            </a:r>
          </a:p>
        </p:txBody>
      </p:sp>
      <p:sp>
        <p:nvSpPr>
          <p:cNvPr id="31" name="Oval 30"/>
          <p:cNvSpPr/>
          <p:nvPr/>
        </p:nvSpPr>
        <p:spPr>
          <a:xfrm>
            <a:off x="372618" y="551642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4" y="547298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محدودیت‌ها</a:t>
            </a:r>
          </a:p>
        </p:txBody>
      </p:sp>
      <p:sp>
        <p:nvSpPr>
          <p:cNvPr id="33" name="Oval 32"/>
          <p:cNvSpPr/>
          <p:nvPr/>
        </p:nvSpPr>
        <p:spPr>
          <a:xfrm>
            <a:off x="372618" y="589803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504" y="585459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جمع‌بندی</a:t>
            </a:r>
          </a:p>
        </p:txBody>
      </p:sp>
      <p:sp>
        <p:nvSpPr>
          <p:cNvPr id="35" name="Oval 34"/>
          <p:cNvSpPr/>
          <p:nvPr/>
        </p:nvSpPr>
        <p:spPr>
          <a:xfrm>
            <a:off x="372618" y="627964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3504" y="623620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تشکر و پاسخ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283696" y="329184"/>
            <a:ext cx="82296" cy="82296"/>
          </a:xfrm>
          <a:prstGeom prst="roundRect">
            <a:avLst>
              <a:gd name="adj" fmla="val 44444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572768" y="256032"/>
            <a:ext cx="9528047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بخش ۱  ·  عنوان و معرفی پژوهش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72768" y="502920"/>
            <a:ext cx="9546336" cy="4754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05000"/>
              </a:lnSpc>
            </a:pPr>
            <a:r>
              <a:rPr sz="2400" b="1" lang="fa-IR" altLang="en-US" dirty="0">
                <a:solidFill>
                  <a:srgbClr val="0D2137"/>
                </a:solidFill>
                <a:latin typeface="B Titr"/>
                <a:ea typeface="B Titr"/>
                <a:cs typeface="B Titr"/>
              </a:rPr>
              <a:t>نقشهٔ مسیر ارائه</a:t>
            </a:r>
          </a:p>
        </p:txBody>
      </p:sp>
      <p:cxnSp>
        <p:nvCxnSpPr>
          <p:cNvPr id="40" name="Connector 39"/>
          <p:cNvCxnSpPr/>
          <p:nvPr/>
        </p:nvCxnSpPr>
        <p:spPr>
          <a:xfrm flipH="1">
            <a:off x="10735056" y="1060704"/>
            <a:ext cx="566928" cy="0"/>
          </a:xfrm>
          <a:prstGeom prst="line">
            <a:avLst/>
          </a:prstGeom>
          <a:ln w="25400">
            <a:solidFill>
              <a:srgbClr val="B890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1572768" y="1060704"/>
            <a:ext cx="9089136" cy="0"/>
          </a:xfrm>
          <a:prstGeom prst="line">
            <a:avLst/>
          </a:prstGeom>
          <a:ln w="12700">
            <a:solidFill>
              <a:srgbClr val="DADF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920240" y="6510528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74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دانشگاه پیام نور واحد جویبار  ·  دانشکدهٔ مدیریت، اقتصاد و حسابداری  ·  دفاع از پایان‌نامهٔ کارشناسی ارشد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69880" y="6492240"/>
            <a:ext cx="832104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50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۲ / ۲۲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79408" y="1463040"/>
            <a:ext cx="2322575" cy="1097280"/>
          </a:xfrm>
          <a:prstGeom prst="roundRect">
            <a:avLst>
              <a:gd name="adj" fmla="val 20000"/>
            </a:avLst>
          </a:prstGeom>
          <a:solidFill>
            <a:srgbClr val="0D2137"/>
          </a:solidFill>
          <a:ln w="12700">
            <a:solidFill>
              <a:srgbClr val="0D21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 flipH="1">
            <a:off x="9253728" y="1664208"/>
            <a:ext cx="1225296" cy="0"/>
          </a:xfrm>
          <a:prstGeom prst="line">
            <a:avLst/>
          </a:prstGeom>
          <a:ln w="17780">
            <a:solidFill>
              <a:srgbClr val="B890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9070848" y="1609344"/>
            <a:ext cx="2139695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00000"/>
              </a:lnSpc>
            </a:pPr>
            <a:r>
              <a:rPr sz="1500" b="1" lang="fa-IR" altLang="en-US" dirty="0">
                <a:solidFill>
                  <a:srgbClr val="D6B878"/>
                </a:solidFill>
                <a:latin typeface="B Titr"/>
                <a:ea typeface="B Titr"/>
                <a:cs typeface="B Titr"/>
              </a:rPr>
              <a:t>۱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07424" y="2011680"/>
            <a:ext cx="2066543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25000"/>
              </a:lnSpc>
            </a:pPr>
            <a:r>
              <a:rPr sz="1019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عنوان و معرفی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510528" y="1463040"/>
            <a:ext cx="2322575" cy="10972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01968" y="1609344"/>
            <a:ext cx="2139695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00000"/>
              </a:lnSpc>
            </a:pPr>
            <a:r>
              <a:rPr sz="1500" b="1" lang="fa-IR" altLang="en-US" dirty="0">
                <a:solidFill>
                  <a:srgbClr val="1E5E62"/>
                </a:solidFill>
                <a:latin typeface="B Titr"/>
                <a:ea typeface="B Titr"/>
                <a:cs typeface="B Titr"/>
              </a:rPr>
              <a:t>۲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38544" y="2011680"/>
            <a:ext cx="2066543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25000"/>
              </a:lnSpc>
            </a:pPr>
            <a:r>
              <a:rPr sz="1019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کلیات پژوهش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041648" y="1463040"/>
            <a:ext cx="2322575" cy="10972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33087" y="1609344"/>
            <a:ext cx="2139695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00000"/>
              </a:lnSpc>
            </a:pPr>
            <a:r>
              <a:rPr sz="1500" b="1" lang="fa-IR" altLang="en-US" dirty="0">
                <a:solidFill>
                  <a:srgbClr val="1E5E62"/>
                </a:solidFill>
                <a:latin typeface="B Titr"/>
                <a:ea typeface="B Titr"/>
                <a:cs typeface="B Titr"/>
              </a:rPr>
              <a:t>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69663" y="2011680"/>
            <a:ext cx="2066543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25000"/>
              </a:lnSpc>
            </a:pPr>
            <a:r>
              <a:rPr sz="1019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بیان مسئله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572768" y="1463040"/>
            <a:ext cx="2322575" cy="10972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664208" y="1609344"/>
            <a:ext cx="2139695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00000"/>
              </a:lnSpc>
            </a:pPr>
            <a:r>
              <a:rPr sz="1500" b="1" lang="fa-IR" altLang="en-US" dirty="0">
                <a:solidFill>
                  <a:srgbClr val="1E5E62"/>
                </a:solidFill>
                <a:latin typeface="B Titr"/>
                <a:ea typeface="B Titr"/>
                <a:cs typeface="B Titr"/>
              </a:rPr>
              <a:t>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700784" y="2011680"/>
            <a:ext cx="2066543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25000"/>
              </a:lnSpc>
            </a:pPr>
            <a:r>
              <a:rPr sz="1019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اهمیت و ضرورت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979408" y="2706624"/>
            <a:ext cx="2322575" cy="10972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070848" y="2852928"/>
            <a:ext cx="2139695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00000"/>
              </a:lnSpc>
            </a:pPr>
            <a:r>
              <a:rPr sz="1500" b="1" lang="fa-IR" altLang="en-US" dirty="0">
                <a:solidFill>
                  <a:srgbClr val="1E5E62"/>
                </a:solidFill>
                <a:latin typeface="B Titr"/>
                <a:ea typeface="B Titr"/>
                <a:cs typeface="B Titr"/>
              </a:rPr>
              <a:t>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07424" y="3255264"/>
            <a:ext cx="2066543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25000"/>
              </a:lnSpc>
            </a:pPr>
            <a:r>
              <a:rPr sz="1019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اهداف و فرضیه‌ها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510528" y="2706624"/>
            <a:ext cx="2322575" cy="10972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601968" y="2852928"/>
            <a:ext cx="2139695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00000"/>
              </a:lnSpc>
            </a:pPr>
            <a:r>
              <a:rPr sz="1500" b="1" lang="fa-IR" altLang="en-US" dirty="0">
                <a:solidFill>
                  <a:srgbClr val="1E5E62"/>
                </a:solidFill>
                <a:latin typeface="B Titr"/>
                <a:ea typeface="B Titr"/>
                <a:cs typeface="B Titr"/>
              </a:rPr>
              <a:t>۶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38544" y="3255264"/>
            <a:ext cx="2066543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25000"/>
              </a:lnSpc>
            </a:pPr>
            <a:r>
              <a:rPr sz="1019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مبانی و پیشینه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041648" y="2706624"/>
            <a:ext cx="2322575" cy="10972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33087" y="2852928"/>
            <a:ext cx="2139695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00000"/>
              </a:lnSpc>
            </a:pPr>
            <a:r>
              <a:rPr sz="1500" b="1" lang="fa-IR" altLang="en-US" dirty="0">
                <a:solidFill>
                  <a:srgbClr val="1E5E62"/>
                </a:solidFill>
                <a:latin typeface="B Titr"/>
                <a:ea typeface="B Titr"/>
                <a:cs typeface="B Titr"/>
              </a:rPr>
              <a:t>۷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69663" y="3255264"/>
            <a:ext cx="2066543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25000"/>
              </a:lnSpc>
            </a:pPr>
            <a:r>
              <a:rPr sz="1019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روش‌شناسی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572768" y="2706624"/>
            <a:ext cx="2322575" cy="10972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664208" y="2852928"/>
            <a:ext cx="2139695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00000"/>
              </a:lnSpc>
            </a:pPr>
            <a:r>
              <a:rPr sz="1500" b="1" lang="fa-IR" altLang="en-US" dirty="0">
                <a:solidFill>
                  <a:srgbClr val="1E5E62"/>
                </a:solidFill>
                <a:latin typeface="B Titr"/>
                <a:ea typeface="B Titr"/>
                <a:cs typeface="B Titr"/>
              </a:rPr>
              <a:t>۸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700784" y="3255264"/>
            <a:ext cx="2066543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25000"/>
              </a:lnSpc>
            </a:pPr>
            <a:r>
              <a:rPr sz="1019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جامعه و نمونه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979408" y="3950208"/>
            <a:ext cx="2322575" cy="10972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070848" y="4096512"/>
            <a:ext cx="2139695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00000"/>
              </a:lnSpc>
            </a:pPr>
            <a:r>
              <a:rPr sz="1500" b="1" lang="fa-IR" altLang="en-US" dirty="0">
                <a:solidFill>
                  <a:srgbClr val="1E5E62"/>
                </a:solidFill>
                <a:latin typeface="B Titr"/>
                <a:ea typeface="B Titr"/>
                <a:cs typeface="B Titr"/>
              </a:rPr>
              <a:t>۹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107424" y="4498848"/>
            <a:ext cx="2066543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25000"/>
              </a:lnSpc>
            </a:pPr>
            <a:r>
              <a:rPr sz="1019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ابزار گردآوری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510528" y="3950208"/>
            <a:ext cx="2322575" cy="10972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01968" y="4096512"/>
            <a:ext cx="2139695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00000"/>
              </a:lnSpc>
            </a:pPr>
            <a:r>
              <a:rPr sz="1500" b="1" lang="fa-IR" altLang="en-US" dirty="0">
                <a:solidFill>
                  <a:srgbClr val="1E5E62"/>
                </a:solidFill>
                <a:latin typeface="B Titr"/>
                <a:ea typeface="B Titr"/>
                <a:cs typeface="B Titr"/>
              </a:rPr>
              <a:t>۱۰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638544" y="4498848"/>
            <a:ext cx="2066543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25000"/>
              </a:lnSpc>
            </a:pPr>
            <a:r>
              <a:rPr sz="1019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یافته‌ها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041648" y="3950208"/>
            <a:ext cx="2322575" cy="10972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33087" y="4096512"/>
            <a:ext cx="2139695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00000"/>
              </a:lnSpc>
            </a:pPr>
            <a:r>
              <a:rPr sz="1500" b="1" lang="fa-IR" altLang="en-US" dirty="0">
                <a:solidFill>
                  <a:srgbClr val="1E5E62"/>
                </a:solidFill>
                <a:latin typeface="B Titr"/>
                <a:ea typeface="B Titr"/>
                <a:cs typeface="B Titr"/>
              </a:rPr>
              <a:t>۱۱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69663" y="4498848"/>
            <a:ext cx="2066543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25000"/>
              </a:lnSpc>
            </a:pPr>
            <a:r>
              <a:rPr sz="1019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تحلیل و بحث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572768" y="3950208"/>
            <a:ext cx="2322575" cy="10972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664208" y="4096512"/>
            <a:ext cx="2139695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00000"/>
              </a:lnSpc>
            </a:pPr>
            <a:r>
              <a:rPr sz="1500" b="1" lang="fa-IR" altLang="en-US" dirty="0">
                <a:solidFill>
                  <a:srgbClr val="1E5E62"/>
                </a:solidFill>
                <a:latin typeface="B Titr"/>
                <a:ea typeface="B Titr"/>
                <a:cs typeface="B Titr"/>
              </a:rPr>
              <a:t>۱۲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00784" y="4498848"/>
            <a:ext cx="2066543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25000"/>
              </a:lnSpc>
            </a:pPr>
            <a:r>
              <a:rPr sz="1019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نتیجه‌گیری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979408" y="5193792"/>
            <a:ext cx="2322575" cy="10972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070848" y="5340096"/>
            <a:ext cx="2139695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00000"/>
              </a:lnSpc>
            </a:pPr>
            <a:r>
              <a:rPr sz="1500" b="1" lang="fa-IR" altLang="en-US" dirty="0">
                <a:solidFill>
                  <a:srgbClr val="1E5E62"/>
                </a:solidFill>
                <a:latin typeface="B Titr"/>
                <a:ea typeface="B Titr"/>
                <a:cs typeface="B Titr"/>
              </a:rPr>
              <a:t>۱۳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107424" y="5742431"/>
            <a:ext cx="2066543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25000"/>
              </a:lnSpc>
            </a:pPr>
            <a:r>
              <a:rPr sz="1019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پیشنهادها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510528" y="5193792"/>
            <a:ext cx="2322575" cy="10972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601968" y="5340096"/>
            <a:ext cx="2139695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00000"/>
              </a:lnSpc>
            </a:pPr>
            <a:r>
              <a:rPr sz="1500" b="1" lang="fa-IR" altLang="en-US" dirty="0">
                <a:solidFill>
                  <a:srgbClr val="1E5E62"/>
                </a:solidFill>
                <a:latin typeface="B Titr"/>
                <a:ea typeface="B Titr"/>
                <a:cs typeface="B Titr"/>
              </a:rPr>
              <a:t>۱۴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638544" y="5742431"/>
            <a:ext cx="2066543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25000"/>
              </a:lnSpc>
            </a:pPr>
            <a:r>
              <a:rPr sz="1019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محدودیت‌ها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041648" y="5193792"/>
            <a:ext cx="2322575" cy="10972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133087" y="5340096"/>
            <a:ext cx="2139695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00000"/>
              </a:lnSpc>
            </a:pPr>
            <a:r>
              <a:rPr sz="1500" b="1" lang="fa-IR" altLang="en-US" dirty="0">
                <a:solidFill>
                  <a:srgbClr val="1E5E62"/>
                </a:solidFill>
                <a:latin typeface="B Titr"/>
                <a:ea typeface="B Titr"/>
                <a:cs typeface="B Titr"/>
              </a:rPr>
              <a:t>۱۵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169663" y="5742431"/>
            <a:ext cx="2066543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25000"/>
              </a:lnSpc>
            </a:pPr>
            <a:r>
              <a:rPr sz="1019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جمع‌بندی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572768" y="5193792"/>
            <a:ext cx="2322575" cy="10972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664208" y="5340096"/>
            <a:ext cx="2139695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00000"/>
              </a:lnSpc>
            </a:pPr>
            <a:r>
              <a:rPr sz="1500" b="1" lang="fa-IR" altLang="en-US" dirty="0">
                <a:solidFill>
                  <a:srgbClr val="1E5E62"/>
                </a:solidFill>
                <a:latin typeface="B Titr"/>
                <a:ea typeface="B Titr"/>
                <a:cs typeface="B Titr"/>
              </a:rPr>
              <a:t>۱۶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700784" y="5742431"/>
            <a:ext cx="2066543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25000"/>
              </a:lnSpc>
            </a:pPr>
            <a:r>
              <a:rPr sz="1019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تشکر و پاسخ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704320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20624" y="548640"/>
            <a:ext cx="0" cy="5833872"/>
          </a:xfrm>
          <a:prstGeom prst="line">
            <a:avLst/>
          </a:prstGeom>
          <a:ln w="13970">
            <a:solidFill>
              <a:srgbClr val="DADF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20624" y="548640"/>
            <a:ext cx="0" cy="436473"/>
          </a:xfrm>
          <a:prstGeom prst="line">
            <a:avLst/>
          </a:prstGeom>
          <a:ln w="21590">
            <a:solidFill>
              <a:srgbClr val="2E7D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372618" y="555498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512064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عنوان و معرفی</a:t>
            </a:r>
          </a:p>
        </p:txBody>
      </p:sp>
      <p:sp>
        <p:nvSpPr>
          <p:cNvPr id="7" name="Oval 6"/>
          <p:cNvSpPr/>
          <p:nvPr/>
        </p:nvSpPr>
        <p:spPr>
          <a:xfrm>
            <a:off x="324612" y="889101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7D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79476" y="943965"/>
            <a:ext cx="82296" cy="82296"/>
          </a:xfrm>
          <a:prstGeom prst="ellipse">
            <a:avLst/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879957"/>
            <a:ext cx="960120" cy="2103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6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کلیات پژوهش</a:t>
            </a:r>
          </a:p>
        </p:txBody>
      </p:sp>
      <p:sp>
        <p:nvSpPr>
          <p:cNvPr id="10" name="Oval 9"/>
          <p:cNvSpPr/>
          <p:nvPr/>
        </p:nvSpPr>
        <p:spPr>
          <a:xfrm>
            <a:off x="372618" y="1318717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127528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بیان مسئله</a:t>
            </a:r>
          </a:p>
        </p:txBody>
      </p:sp>
      <p:sp>
        <p:nvSpPr>
          <p:cNvPr id="12" name="Oval 11"/>
          <p:cNvSpPr/>
          <p:nvPr/>
        </p:nvSpPr>
        <p:spPr>
          <a:xfrm>
            <a:off x="372618" y="1700326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" y="165689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اهمیت و ضرورت</a:t>
            </a:r>
          </a:p>
        </p:txBody>
      </p:sp>
      <p:sp>
        <p:nvSpPr>
          <p:cNvPr id="14" name="Oval 13"/>
          <p:cNvSpPr/>
          <p:nvPr/>
        </p:nvSpPr>
        <p:spPr>
          <a:xfrm>
            <a:off x="372618" y="2081936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" y="203850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اهداف و فرضیه‌ها</a:t>
            </a:r>
          </a:p>
        </p:txBody>
      </p:sp>
      <p:sp>
        <p:nvSpPr>
          <p:cNvPr id="16" name="Oval 15"/>
          <p:cNvSpPr/>
          <p:nvPr/>
        </p:nvSpPr>
        <p:spPr>
          <a:xfrm>
            <a:off x="372618" y="2463546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242011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مبانی و پیشینه</a:t>
            </a:r>
          </a:p>
        </p:txBody>
      </p:sp>
      <p:sp>
        <p:nvSpPr>
          <p:cNvPr id="18" name="Oval 17"/>
          <p:cNvSpPr/>
          <p:nvPr/>
        </p:nvSpPr>
        <p:spPr>
          <a:xfrm>
            <a:off x="372618" y="2845155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2801721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روش‌شناسی</a:t>
            </a:r>
          </a:p>
        </p:txBody>
      </p:sp>
      <p:sp>
        <p:nvSpPr>
          <p:cNvPr id="20" name="Oval 19"/>
          <p:cNvSpPr/>
          <p:nvPr/>
        </p:nvSpPr>
        <p:spPr>
          <a:xfrm>
            <a:off x="372618" y="3226765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3183331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جامعه و نمونه</a:t>
            </a:r>
          </a:p>
        </p:txBody>
      </p:sp>
      <p:sp>
        <p:nvSpPr>
          <p:cNvPr id="22" name="Oval 21"/>
          <p:cNvSpPr/>
          <p:nvPr/>
        </p:nvSpPr>
        <p:spPr>
          <a:xfrm>
            <a:off x="372618" y="3608374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" y="356494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ابزار گردآوری</a:t>
            </a:r>
          </a:p>
        </p:txBody>
      </p:sp>
      <p:sp>
        <p:nvSpPr>
          <p:cNvPr id="24" name="Oval 23"/>
          <p:cNvSpPr/>
          <p:nvPr/>
        </p:nvSpPr>
        <p:spPr>
          <a:xfrm>
            <a:off x="372618" y="3989984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94655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یافته‌ها</a:t>
            </a:r>
          </a:p>
        </p:txBody>
      </p:sp>
      <p:sp>
        <p:nvSpPr>
          <p:cNvPr id="26" name="Oval 25"/>
          <p:cNvSpPr/>
          <p:nvPr/>
        </p:nvSpPr>
        <p:spPr>
          <a:xfrm>
            <a:off x="372618" y="4371594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504" y="432816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تحلیل و بحث</a:t>
            </a:r>
          </a:p>
        </p:txBody>
      </p:sp>
      <p:sp>
        <p:nvSpPr>
          <p:cNvPr id="28" name="Oval 27"/>
          <p:cNvSpPr/>
          <p:nvPr/>
        </p:nvSpPr>
        <p:spPr>
          <a:xfrm>
            <a:off x="372618" y="4753203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" y="470976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نتیجه‌گیری</a:t>
            </a:r>
          </a:p>
        </p:txBody>
      </p:sp>
      <p:sp>
        <p:nvSpPr>
          <p:cNvPr id="30" name="Oval 29"/>
          <p:cNvSpPr/>
          <p:nvPr/>
        </p:nvSpPr>
        <p:spPr>
          <a:xfrm>
            <a:off x="372618" y="5134813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509137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پیشنهادها</a:t>
            </a:r>
          </a:p>
        </p:txBody>
      </p:sp>
      <p:sp>
        <p:nvSpPr>
          <p:cNvPr id="32" name="Oval 31"/>
          <p:cNvSpPr/>
          <p:nvPr/>
        </p:nvSpPr>
        <p:spPr>
          <a:xfrm>
            <a:off x="372618" y="551642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504" y="547298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محدودیت‌ها</a:t>
            </a:r>
          </a:p>
        </p:txBody>
      </p:sp>
      <p:sp>
        <p:nvSpPr>
          <p:cNvPr id="34" name="Oval 33"/>
          <p:cNvSpPr/>
          <p:nvPr/>
        </p:nvSpPr>
        <p:spPr>
          <a:xfrm>
            <a:off x="372618" y="589803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504" y="585459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جمع‌بندی</a:t>
            </a:r>
          </a:p>
        </p:txBody>
      </p:sp>
      <p:sp>
        <p:nvSpPr>
          <p:cNvPr id="36" name="Oval 35"/>
          <p:cNvSpPr/>
          <p:nvPr/>
        </p:nvSpPr>
        <p:spPr>
          <a:xfrm>
            <a:off x="372618" y="627964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623620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تشکر و پاسخ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283696" y="329184"/>
            <a:ext cx="82296" cy="82296"/>
          </a:xfrm>
          <a:prstGeom prst="roundRect">
            <a:avLst>
              <a:gd name="adj" fmla="val 44444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572768" y="256032"/>
            <a:ext cx="9528047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بخش ۲  ·  کلیات پژوهش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2768" y="502920"/>
            <a:ext cx="9546336" cy="4754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05000"/>
              </a:lnSpc>
            </a:pPr>
            <a:r>
              <a:rPr sz="2400" b="1" lang="fa-IR" altLang="en-US" dirty="0">
                <a:solidFill>
                  <a:srgbClr val="0D2137"/>
                </a:solidFill>
                <a:latin typeface="B Titr"/>
                <a:ea typeface="B Titr"/>
                <a:cs typeface="B Titr"/>
              </a:rPr>
              <a:t>مقدمه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10735056" y="1060704"/>
            <a:ext cx="566928" cy="0"/>
          </a:xfrm>
          <a:prstGeom prst="line">
            <a:avLst/>
          </a:prstGeom>
          <a:ln w="25400">
            <a:solidFill>
              <a:srgbClr val="B890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1572768" y="1060704"/>
            <a:ext cx="9089136" cy="0"/>
          </a:xfrm>
          <a:prstGeom prst="line">
            <a:avLst/>
          </a:prstGeom>
          <a:ln w="12700">
            <a:solidFill>
              <a:srgbClr val="DADF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920240" y="6510528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74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دانشگاه پیام نور واحد جویبار  ·  دانشکدهٔ مدیریت، اقتصاد و حسابداری  ·  دفاع از پایان‌نامهٔ کارشناسی ارشد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69880" y="6492240"/>
            <a:ext cx="832104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50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۳ / ۲۲</a:t>
            </a:r>
          </a:p>
        </p:txBody>
      </p:sp>
      <p:pic>
        <p:nvPicPr>
          <p:cNvPr id="45" name="Picture 44" descr="c_me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481328"/>
            <a:ext cx="3794760" cy="2788920"/>
          </a:xfrm>
          <a:prstGeom prst="rect">
            <a:avLst/>
          </a:prstGeom>
        </p:spPr>
      </p:pic>
      <p:sp>
        <p:nvSpPr>
          <p:cNvPr id="46" name="Rounded Rectangle 45"/>
          <p:cNvSpPr/>
          <p:nvPr/>
        </p:nvSpPr>
        <p:spPr>
          <a:xfrm>
            <a:off x="1691640" y="4334256"/>
            <a:ext cx="3794760" cy="950976"/>
          </a:xfrm>
          <a:prstGeom prst="roundRect">
            <a:avLst>
              <a:gd name="adj" fmla="val 23076"/>
            </a:avLst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74519" y="4443984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2000"/>
              </a:lnSpc>
            </a:pPr>
            <a:r>
              <a:rPr sz="1100" b="0" lang="fa-IR" altLang="en-US" dirty="0">
                <a:solidFill>
                  <a:srgbClr val="D6B878"/>
                </a:solidFill>
                <a:latin typeface="B Lotus"/>
                <a:ea typeface="B Lotus"/>
                <a:cs typeface="B Lotus"/>
              </a:rPr>
              <a:t>بازارپردازی (Merchandising)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74519" y="4736592"/>
            <a:ext cx="3429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0000"/>
              </a:lnSpc>
            </a:pPr>
            <a:r>
              <a:rPr sz="980" b="0" lang="fa-IR" altLang="en-US" dirty="0">
                <a:solidFill>
                  <a:srgbClr val="ECE8DE"/>
                </a:solidFill>
                <a:latin typeface="B Zar"/>
                <a:ea typeface="B Zar"/>
                <a:cs typeface="B Zar"/>
              </a:rPr>
              <a:t>استفاده از همهٔ عناصر محیط فروشگاه برای معرفی و برجسته‌سازی محصول در نقطهٔ خرید.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178540" y="1641348"/>
            <a:ext cx="82296" cy="82296"/>
          </a:xfrm>
          <a:prstGeom prst="roundRect">
            <a:avLst>
              <a:gd name="adj" fmla="val 44444"/>
            </a:avLst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0" y="1572768"/>
            <a:ext cx="5138928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5000"/>
              </a:lnSpc>
            </a:pPr>
            <a:r>
              <a:rPr sz="118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تبلیغات نوآورانه، هدفمند و متناسب با شرایط روز، از عوامل مؤثر بر شکل‌گیری قصد خرید و تغییر تصمیم مصرف‌کننده است.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178540" y="2446020"/>
            <a:ext cx="82296" cy="82296"/>
          </a:xfrm>
          <a:prstGeom prst="roundRect">
            <a:avLst>
              <a:gd name="adj" fmla="val 44444"/>
            </a:avLst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943600" y="2377440"/>
            <a:ext cx="5138928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5000"/>
              </a:lnSpc>
            </a:pPr>
            <a:r>
              <a:rPr sz="118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اجرای صحیح تبلیغات، تثبیت جایگاه برند و شکل‌گیری ذهنیت مثبت و ماندگار مشتریان را در پی دارد.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178540" y="3250692"/>
            <a:ext cx="82296" cy="82296"/>
          </a:xfrm>
          <a:prstGeom prst="roundRect">
            <a:avLst>
              <a:gd name="adj" fmla="val 44444"/>
            </a:avLst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43600" y="3182112"/>
            <a:ext cx="5138928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5000"/>
              </a:lnSpc>
            </a:pPr>
            <a:r>
              <a:rPr sz="118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با پیچیده‌تر شدن فرایند خرید و تغییر انتظارات مشتریان، سازمان‌ها به راهکارهای نوین و اثربخش بازاریابی نیاز دارند.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178540" y="4055364"/>
            <a:ext cx="82296" cy="82296"/>
          </a:xfrm>
          <a:prstGeom prst="roundRect">
            <a:avLst>
              <a:gd name="adj" fmla="val 44444"/>
            </a:avLst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43600" y="3986784"/>
            <a:ext cx="5138928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5000"/>
              </a:lnSpc>
            </a:pPr>
            <a:r>
              <a:rPr sz="118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این پژوهش رابطهٔ بازارپردازی و میزان فروش را در فروشگاه‌های لوازم خانگی شرکت دوو در اهواز بررسی می‌کند.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156448" y="5486400"/>
            <a:ext cx="3145535" cy="731520"/>
          </a:xfrm>
          <a:prstGeom prst="roundRect">
            <a:avLst>
              <a:gd name="adj" fmla="val 30000"/>
            </a:avLst>
          </a:prstGeom>
          <a:solidFill>
            <a:srgbClr val="F8F9FA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66175" y="5559552"/>
            <a:ext cx="2926079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۳ مؤلفهٔ مستقل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66175" y="5852160"/>
            <a:ext cx="2926079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919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اقلام تبلیغاتی · سازماندهی · چیدمان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864608" y="5486400"/>
            <a:ext cx="3145535" cy="731520"/>
          </a:xfrm>
          <a:prstGeom prst="roundRect">
            <a:avLst>
              <a:gd name="adj" fmla="val 30000"/>
            </a:avLst>
          </a:prstGeom>
          <a:solidFill>
            <a:srgbClr val="F8F9FA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74336" y="5559552"/>
            <a:ext cx="2926079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۱ متغیر وابسته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974336" y="5852160"/>
            <a:ext cx="2926079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919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میزان فروش محصولات شرکت دوو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572768" y="5486400"/>
            <a:ext cx="3145535" cy="731520"/>
          </a:xfrm>
          <a:prstGeom prst="roundRect">
            <a:avLst>
              <a:gd name="adj" fmla="val 30000"/>
            </a:avLst>
          </a:prstGeom>
          <a:solidFill>
            <a:srgbClr val="F8F9FA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682496" y="5559552"/>
            <a:ext cx="2926079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بستر مطالعه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682496" y="5852160"/>
            <a:ext cx="2926079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919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فروشگاه‌های لوازم خانگی دوو ـ اهواز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704320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20624" y="548640"/>
            <a:ext cx="0" cy="5833872"/>
          </a:xfrm>
          <a:prstGeom prst="line">
            <a:avLst/>
          </a:prstGeom>
          <a:ln w="13970">
            <a:solidFill>
              <a:srgbClr val="DADF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20624" y="548640"/>
            <a:ext cx="0" cy="818083"/>
          </a:xfrm>
          <a:prstGeom prst="line">
            <a:avLst/>
          </a:prstGeom>
          <a:ln w="21590">
            <a:solidFill>
              <a:srgbClr val="2E7D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372618" y="555498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512064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عنوان و معرفی</a:t>
            </a:r>
          </a:p>
        </p:txBody>
      </p:sp>
      <p:sp>
        <p:nvSpPr>
          <p:cNvPr id="7" name="Oval 6"/>
          <p:cNvSpPr/>
          <p:nvPr/>
        </p:nvSpPr>
        <p:spPr>
          <a:xfrm>
            <a:off x="372618" y="937107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89367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کلیات پژوهش</a:t>
            </a:r>
          </a:p>
        </p:txBody>
      </p:sp>
      <p:sp>
        <p:nvSpPr>
          <p:cNvPr id="9" name="Oval 8"/>
          <p:cNvSpPr/>
          <p:nvPr/>
        </p:nvSpPr>
        <p:spPr>
          <a:xfrm>
            <a:off x="324612" y="1270711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7D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79476" y="1325575"/>
            <a:ext cx="82296" cy="82296"/>
          </a:xfrm>
          <a:prstGeom prst="ellipse">
            <a:avLst/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1261567"/>
            <a:ext cx="960120" cy="2103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6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بیان مسئله</a:t>
            </a:r>
          </a:p>
        </p:txBody>
      </p:sp>
      <p:sp>
        <p:nvSpPr>
          <p:cNvPr id="12" name="Oval 11"/>
          <p:cNvSpPr/>
          <p:nvPr/>
        </p:nvSpPr>
        <p:spPr>
          <a:xfrm>
            <a:off x="372618" y="1700326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" y="165689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اهمیت و ضرورت</a:t>
            </a:r>
          </a:p>
        </p:txBody>
      </p:sp>
      <p:sp>
        <p:nvSpPr>
          <p:cNvPr id="14" name="Oval 13"/>
          <p:cNvSpPr/>
          <p:nvPr/>
        </p:nvSpPr>
        <p:spPr>
          <a:xfrm>
            <a:off x="372618" y="2081936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" y="203850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اهداف و فرضیه‌ها</a:t>
            </a:r>
          </a:p>
        </p:txBody>
      </p:sp>
      <p:sp>
        <p:nvSpPr>
          <p:cNvPr id="16" name="Oval 15"/>
          <p:cNvSpPr/>
          <p:nvPr/>
        </p:nvSpPr>
        <p:spPr>
          <a:xfrm>
            <a:off x="372618" y="2463546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242011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مبانی و پیشینه</a:t>
            </a:r>
          </a:p>
        </p:txBody>
      </p:sp>
      <p:sp>
        <p:nvSpPr>
          <p:cNvPr id="18" name="Oval 17"/>
          <p:cNvSpPr/>
          <p:nvPr/>
        </p:nvSpPr>
        <p:spPr>
          <a:xfrm>
            <a:off x="372618" y="2845155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2801721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روش‌شناسی</a:t>
            </a:r>
          </a:p>
        </p:txBody>
      </p:sp>
      <p:sp>
        <p:nvSpPr>
          <p:cNvPr id="20" name="Oval 19"/>
          <p:cNvSpPr/>
          <p:nvPr/>
        </p:nvSpPr>
        <p:spPr>
          <a:xfrm>
            <a:off x="372618" y="3226765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3183331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جامعه و نمونه</a:t>
            </a:r>
          </a:p>
        </p:txBody>
      </p:sp>
      <p:sp>
        <p:nvSpPr>
          <p:cNvPr id="22" name="Oval 21"/>
          <p:cNvSpPr/>
          <p:nvPr/>
        </p:nvSpPr>
        <p:spPr>
          <a:xfrm>
            <a:off x="372618" y="3608374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" y="356494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ابزار گردآوری</a:t>
            </a:r>
          </a:p>
        </p:txBody>
      </p:sp>
      <p:sp>
        <p:nvSpPr>
          <p:cNvPr id="24" name="Oval 23"/>
          <p:cNvSpPr/>
          <p:nvPr/>
        </p:nvSpPr>
        <p:spPr>
          <a:xfrm>
            <a:off x="372618" y="3989984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94655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یافته‌ها</a:t>
            </a:r>
          </a:p>
        </p:txBody>
      </p:sp>
      <p:sp>
        <p:nvSpPr>
          <p:cNvPr id="26" name="Oval 25"/>
          <p:cNvSpPr/>
          <p:nvPr/>
        </p:nvSpPr>
        <p:spPr>
          <a:xfrm>
            <a:off x="372618" y="4371594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504" y="432816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تحلیل و بحث</a:t>
            </a:r>
          </a:p>
        </p:txBody>
      </p:sp>
      <p:sp>
        <p:nvSpPr>
          <p:cNvPr id="28" name="Oval 27"/>
          <p:cNvSpPr/>
          <p:nvPr/>
        </p:nvSpPr>
        <p:spPr>
          <a:xfrm>
            <a:off x="372618" y="4753203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" y="470976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نتیجه‌گیری</a:t>
            </a:r>
          </a:p>
        </p:txBody>
      </p:sp>
      <p:sp>
        <p:nvSpPr>
          <p:cNvPr id="30" name="Oval 29"/>
          <p:cNvSpPr/>
          <p:nvPr/>
        </p:nvSpPr>
        <p:spPr>
          <a:xfrm>
            <a:off x="372618" y="5134813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509137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پیشنهادها</a:t>
            </a:r>
          </a:p>
        </p:txBody>
      </p:sp>
      <p:sp>
        <p:nvSpPr>
          <p:cNvPr id="32" name="Oval 31"/>
          <p:cNvSpPr/>
          <p:nvPr/>
        </p:nvSpPr>
        <p:spPr>
          <a:xfrm>
            <a:off x="372618" y="551642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504" y="547298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محدودیت‌ها</a:t>
            </a:r>
          </a:p>
        </p:txBody>
      </p:sp>
      <p:sp>
        <p:nvSpPr>
          <p:cNvPr id="34" name="Oval 33"/>
          <p:cNvSpPr/>
          <p:nvPr/>
        </p:nvSpPr>
        <p:spPr>
          <a:xfrm>
            <a:off x="372618" y="589803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504" y="585459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جمع‌بندی</a:t>
            </a:r>
          </a:p>
        </p:txBody>
      </p:sp>
      <p:sp>
        <p:nvSpPr>
          <p:cNvPr id="36" name="Oval 35"/>
          <p:cNvSpPr/>
          <p:nvPr/>
        </p:nvSpPr>
        <p:spPr>
          <a:xfrm>
            <a:off x="372618" y="627964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623620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تشکر و پاسخ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283696" y="329184"/>
            <a:ext cx="82296" cy="82296"/>
          </a:xfrm>
          <a:prstGeom prst="roundRect">
            <a:avLst>
              <a:gd name="adj" fmla="val 44444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572768" y="256032"/>
            <a:ext cx="9528047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بخش ۳  ·  بیان مسئله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2768" y="502920"/>
            <a:ext cx="9546336" cy="4754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05000"/>
              </a:lnSpc>
            </a:pPr>
            <a:r>
              <a:rPr sz="2400" b="1" lang="fa-IR" altLang="en-US" dirty="0">
                <a:solidFill>
                  <a:srgbClr val="0D2137"/>
                </a:solidFill>
                <a:latin typeface="B Titr"/>
                <a:ea typeface="B Titr"/>
                <a:cs typeface="B Titr"/>
              </a:rPr>
              <a:t>مسئلهٔ اصلی پژوهش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10735056" y="1060704"/>
            <a:ext cx="566928" cy="0"/>
          </a:xfrm>
          <a:prstGeom prst="line">
            <a:avLst/>
          </a:prstGeom>
          <a:ln w="25400">
            <a:solidFill>
              <a:srgbClr val="B890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1572768" y="1060704"/>
            <a:ext cx="9089136" cy="0"/>
          </a:xfrm>
          <a:prstGeom prst="line">
            <a:avLst/>
          </a:prstGeom>
          <a:ln w="12700">
            <a:solidFill>
              <a:srgbClr val="DADF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920240" y="6510528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74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دانشگاه پیام نور واحد جویبار  ·  دانشکدهٔ مدیریت، اقتصاد و حسابداری  ·  دفاع از پایان‌نامهٔ کارشناسی ارشد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69880" y="6492240"/>
            <a:ext cx="832104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50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۴ / ۲۲</a:t>
            </a:r>
          </a:p>
        </p:txBody>
      </p:sp>
      <p:pic>
        <p:nvPicPr>
          <p:cNvPr id="45" name="Picture 44" descr="c_cho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444752"/>
            <a:ext cx="3154680" cy="4617720"/>
          </a:xfrm>
          <a:prstGeom prst="rect">
            <a:avLst/>
          </a:prstGeom>
        </p:spPr>
      </p:pic>
      <p:sp>
        <p:nvSpPr>
          <p:cNvPr id="46" name="Rounded Rectangle 45"/>
          <p:cNvSpPr/>
          <p:nvPr/>
        </p:nvSpPr>
        <p:spPr>
          <a:xfrm>
            <a:off x="11178540" y="1549908"/>
            <a:ext cx="82296" cy="82296"/>
          </a:xfrm>
          <a:prstGeom prst="roundRect">
            <a:avLst>
              <a:gd name="adj" fmla="val 44444"/>
            </a:avLst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12080" y="1481328"/>
            <a:ext cx="5870448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5000"/>
              </a:lnSpc>
            </a:pPr>
            <a:r>
              <a:rPr sz="120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الگوهای رفتاری و سطح انتظارات مصرف‌کنندگان تغییر کرده و فرایند خرید پیچیده‌تر شده است.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178540" y="2244852"/>
            <a:ext cx="82296" cy="82296"/>
          </a:xfrm>
          <a:prstGeom prst="roundRect">
            <a:avLst>
              <a:gd name="adj" fmla="val 44444"/>
            </a:avLst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80" y="2176272"/>
            <a:ext cx="5870448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5000"/>
              </a:lnSpc>
            </a:pPr>
            <a:r>
              <a:rPr sz="120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جایگاه رقابتی برند به‌طور فزاینده‌ای به طراحی و مدیریت محیط فروشگاه وابسته شده است.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212080" y="2852928"/>
            <a:ext cx="6089904" cy="658368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71632" y="2990088"/>
            <a:ext cx="384048" cy="384048"/>
          </a:xfrm>
          <a:prstGeom prst="ellipse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771632" y="29718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00000"/>
              </a:lnSpc>
            </a:pPr>
            <a:r>
              <a:rPr sz="1250" b="1" lang="fa-IR" altLang="en-US" dirty="0">
                <a:solidFill>
                  <a:srgbClr val="D6B878"/>
                </a:solidFill>
                <a:latin typeface="B Titr"/>
                <a:ea typeface="B Titr"/>
                <a:cs typeface="B Titr"/>
              </a:rPr>
              <a:t>۱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0" y="2852928"/>
            <a:ext cx="5138928" cy="6583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30000"/>
              </a:lnSpc>
            </a:pPr>
            <a:r>
              <a:rPr sz="116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استقرار هدفمند اقلام تبلیغاتی در محیط فروشگاه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212080" y="3621024"/>
            <a:ext cx="6089904" cy="658368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771632" y="3758184"/>
            <a:ext cx="384048" cy="384048"/>
          </a:xfrm>
          <a:prstGeom prst="ellipse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771632" y="373989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00000"/>
              </a:lnSpc>
            </a:pPr>
            <a:r>
              <a:rPr sz="1250" b="1" lang="fa-IR" altLang="en-US" dirty="0">
                <a:solidFill>
                  <a:srgbClr val="D6B878"/>
                </a:solidFill>
                <a:latin typeface="B Titr"/>
                <a:ea typeface="B Titr"/>
                <a:cs typeface="B Titr"/>
              </a:rPr>
              <a:t>۲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0" y="3621024"/>
            <a:ext cx="5138928" cy="6583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30000"/>
              </a:lnSpc>
            </a:pPr>
            <a:r>
              <a:rPr sz="116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سازماندهی و اثربخشی فعالیت‌های بازارپردازی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212080" y="4389120"/>
            <a:ext cx="6089904" cy="658368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0771632" y="4526280"/>
            <a:ext cx="384048" cy="384048"/>
          </a:xfrm>
          <a:prstGeom prst="ellipse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771632" y="45079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00000"/>
              </a:lnSpc>
            </a:pPr>
            <a:r>
              <a:rPr sz="1250" b="1" lang="fa-IR" altLang="en-US" dirty="0">
                <a:solidFill>
                  <a:srgbClr val="D6B878"/>
                </a:solidFill>
                <a:latin typeface="B Titr"/>
                <a:ea typeface="B Titr"/>
                <a:cs typeface="B Titr"/>
              </a:rPr>
              <a:t>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0" y="4389120"/>
            <a:ext cx="5138928" cy="6583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30000"/>
              </a:lnSpc>
            </a:pPr>
            <a:r>
              <a:rPr sz="116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نحوهٔ چیدمان و جانمایی بهینهٔ محصولات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212080" y="5285232"/>
            <a:ext cx="6089904" cy="841248"/>
          </a:xfrm>
          <a:prstGeom prst="roundRect">
            <a:avLst>
              <a:gd name="adj" fmla="val 26086"/>
            </a:avLst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11210544" y="5285232"/>
            <a:ext cx="91440" cy="841248"/>
          </a:xfrm>
          <a:prstGeom prst="roundRect">
            <a:avLst>
              <a:gd name="adj" fmla="val 50000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40680" y="5285232"/>
            <a:ext cx="5577840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35000"/>
              </a:lnSpc>
            </a:pPr>
            <a:r>
              <a:rPr sz="1200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پرسش محوری: آیا این سه مؤلفه بر میزان فروش محصولات شرکت دوو اثر مثبت و معنادار دارند؟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704320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20624" y="548640"/>
            <a:ext cx="0" cy="5833872"/>
          </a:xfrm>
          <a:prstGeom prst="line">
            <a:avLst/>
          </a:prstGeom>
          <a:ln w="13970">
            <a:solidFill>
              <a:srgbClr val="DADF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20624" y="548640"/>
            <a:ext cx="0" cy="1199692"/>
          </a:xfrm>
          <a:prstGeom prst="line">
            <a:avLst/>
          </a:prstGeom>
          <a:ln w="21590">
            <a:solidFill>
              <a:srgbClr val="2E7D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372618" y="555498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512064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عنوان و معرفی</a:t>
            </a:r>
          </a:p>
        </p:txBody>
      </p:sp>
      <p:sp>
        <p:nvSpPr>
          <p:cNvPr id="7" name="Oval 6"/>
          <p:cNvSpPr/>
          <p:nvPr/>
        </p:nvSpPr>
        <p:spPr>
          <a:xfrm>
            <a:off x="372618" y="937107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89367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کلیات پژوهش</a:t>
            </a:r>
          </a:p>
        </p:txBody>
      </p:sp>
      <p:sp>
        <p:nvSpPr>
          <p:cNvPr id="9" name="Oval 8"/>
          <p:cNvSpPr/>
          <p:nvPr/>
        </p:nvSpPr>
        <p:spPr>
          <a:xfrm>
            <a:off x="372618" y="1318717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27528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بیان مسئله</a:t>
            </a:r>
          </a:p>
        </p:txBody>
      </p:sp>
      <p:sp>
        <p:nvSpPr>
          <p:cNvPr id="11" name="Oval 10"/>
          <p:cNvSpPr/>
          <p:nvPr/>
        </p:nvSpPr>
        <p:spPr>
          <a:xfrm>
            <a:off x="324612" y="1652320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7D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79476" y="1707184"/>
            <a:ext cx="82296" cy="82296"/>
          </a:xfrm>
          <a:prstGeom prst="ellipse">
            <a:avLst/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" y="1643176"/>
            <a:ext cx="960120" cy="2103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6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اهمیت و ضرورت</a:t>
            </a:r>
          </a:p>
        </p:txBody>
      </p:sp>
      <p:sp>
        <p:nvSpPr>
          <p:cNvPr id="14" name="Oval 13"/>
          <p:cNvSpPr/>
          <p:nvPr/>
        </p:nvSpPr>
        <p:spPr>
          <a:xfrm>
            <a:off x="372618" y="2081936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" y="203850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اهداف و فرضیه‌ها</a:t>
            </a:r>
          </a:p>
        </p:txBody>
      </p:sp>
      <p:sp>
        <p:nvSpPr>
          <p:cNvPr id="16" name="Oval 15"/>
          <p:cNvSpPr/>
          <p:nvPr/>
        </p:nvSpPr>
        <p:spPr>
          <a:xfrm>
            <a:off x="372618" y="2463546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242011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مبانی و پیشینه</a:t>
            </a:r>
          </a:p>
        </p:txBody>
      </p:sp>
      <p:sp>
        <p:nvSpPr>
          <p:cNvPr id="18" name="Oval 17"/>
          <p:cNvSpPr/>
          <p:nvPr/>
        </p:nvSpPr>
        <p:spPr>
          <a:xfrm>
            <a:off x="372618" y="2845155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2801721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روش‌شناسی</a:t>
            </a:r>
          </a:p>
        </p:txBody>
      </p:sp>
      <p:sp>
        <p:nvSpPr>
          <p:cNvPr id="20" name="Oval 19"/>
          <p:cNvSpPr/>
          <p:nvPr/>
        </p:nvSpPr>
        <p:spPr>
          <a:xfrm>
            <a:off x="372618" y="3226765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3183331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جامعه و نمونه</a:t>
            </a:r>
          </a:p>
        </p:txBody>
      </p:sp>
      <p:sp>
        <p:nvSpPr>
          <p:cNvPr id="22" name="Oval 21"/>
          <p:cNvSpPr/>
          <p:nvPr/>
        </p:nvSpPr>
        <p:spPr>
          <a:xfrm>
            <a:off x="372618" y="3608374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" y="356494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ابزار گردآوری</a:t>
            </a:r>
          </a:p>
        </p:txBody>
      </p:sp>
      <p:sp>
        <p:nvSpPr>
          <p:cNvPr id="24" name="Oval 23"/>
          <p:cNvSpPr/>
          <p:nvPr/>
        </p:nvSpPr>
        <p:spPr>
          <a:xfrm>
            <a:off x="372618" y="3989984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94655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یافته‌ها</a:t>
            </a:r>
          </a:p>
        </p:txBody>
      </p:sp>
      <p:sp>
        <p:nvSpPr>
          <p:cNvPr id="26" name="Oval 25"/>
          <p:cNvSpPr/>
          <p:nvPr/>
        </p:nvSpPr>
        <p:spPr>
          <a:xfrm>
            <a:off x="372618" y="4371594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504" y="432816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تحلیل و بحث</a:t>
            </a:r>
          </a:p>
        </p:txBody>
      </p:sp>
      <p:sp>
        <p:nvSpPr>
          <p:cNvPr id="28" name="Oval 27"/>
          <p:cNvSpPr/>
          <p:nvPr/>
        </p:nvSpPr>
        <p:spPr>
          <a:xfrm>
            <a:off x="372618" y="4753203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" y="470976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نتیجه‌گیری</a:t>
            </a:r>
          </a:p>
        </p:txBody>
      </p:sp>
      <p:sp>
        <p:nvSpPr>
          <p:cNvPr id="30" name="Oval 29"/>
          <p:cNvSpPr/>
          <p:nvPr/>
        </p:nvSpPr>
        <p:spPr>
          <a:xfrm>
            <a:off x="372618" y="5134813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509137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پیشنهادها</a:t>
            </a:r>
          </a:p>
        </p:txBody>
      </p:sp>
      <p:sp>
        <p:nvSpPr>
          <p:cNvPr id="32" name="Oval 31"/>
          <p:cNvSpPr/>
          <p:nvPr/>
        </p:nvSpPr>
        <p:spPr>
          <a:xfrm>
            <a:off x="372618" y="551642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504" y="547298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محدودیت‌ها</a:t>
            </a:r>
          </a:p>
        </p:txBody>
      </p:sp>
      <p:sp>
        <p:nvSpPr>
          <p:cNvPr id="34" name="Oval 33"/>
          <p:cNvSpPr/>
          <p:nvPr/>
        </p:nvSpPr>
        <p:spPr>
          <a:xfrm>
            <a:off x="372618" y="589803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504" y="585459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جمع‌بندی</a:t>
            </a:r>
          </a:p>
        </p:txBody>
      </p:sp>
      <p:sp>
        <p:nvSpPr>
          <p:cNvPr id="36" name="Oval 35"/>
          <p:cNvSpPr/>
          <p:nvPr/>
        </p:nvSpPr>
        <p:spPr>
          <a:xfrm>
            <a:off x="372618" y="627964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623620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تشکر و پاسخ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283696" y="329184"/>
            <a:ext cx="82296" cy="82296"/>
          </a:xfrm>
          <a:prstGeom prst="roundRect">
            <a:avLst>
              <a:gd name="adj" fmla="val 44444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572768" y="256032"/>
            <a:ext cx="9528047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بخش ۴  ·  اهمیت و ضرورت پژوهش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2768" y="502920"/>
            <a:ext cx="9546336" cy="4754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05000"/>
              </a:lnSpc>
            </a:pPr>
            <a:r>
              <a:rPr sz="2400" b="1" lang="fa-IR" altLang="en-US" dirty="0">
                <a:solidFill>
                  <a:srgbClr val="0D2137"/>
                </a:solidFill>
                <a:latin typeface="B Titr"/>
                <a:ea typeface="B Titr"/>
                <a:cs typeface="B Titr"/>
              </a:rPr>
              <a:t>چرا این پژوهش؟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10735056" y="1060704"/>
            <a:ext cx="566928" cy="0"/>
          </a:xfrm>
          <a:prstGeom prst="line">
            <a:avLst/>
          </a:prstGeom>
          <a:ln w="25400">
            <a:solidFill>
              <a:srgbClr val="B890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1572768" y="1060704"/>
            <a:ext cx="9089136" cy="0"/>
          </a:xfrm>
          <a:prstGeom prst="line">
            <a:avLst/>
          </a:prstGeom>
          <a:ln w="12700">
            <a:solidFill>
              <a:srgbClr val="DADF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920240" y="6510528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74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دانشگاه پیام نور واحد جویبار  ·  دانشکدهٔ مدیریت، اقتصاد و حسابداری  ·  دفاع از پایان‌نامهٔ کارشناسی ارشد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69880" y="6492240"/>
            <a:ext cx="832104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50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۵ / ۲۲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519672" y="1444752"/>
            <a:ext cx="4782312" cy="3675887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519672" y="1444752"/>
            <a:ext cx="4782312" cy="512064"/>
          </a:xfrm>
          <a:prstGeom prst="roundRect">
            <a:avLst>
              <a:gd name="adj" fmla="val 42857"/>
            </a:avLst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519672" y="1737360"/>
            <a:ext cx="4782312" cy="219456"/>
          </a:xfrm>
          <a:prstGeom prst="roundRect">
            <a:avLst>
              <a:gd name="adj" fmla="val 50000"/>
            </a:avLst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02552" y="1444752"/>
            <a:ext cx="4416551" cy="5120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1250" b="0" lang="fa-IR" altLang="en-US" dirty="0">
                <a:solidFill>
                  <a:srgbClr val="D6B878"/>
                </a:solidFill>
                <a:latin typeface="B Lotus"/>
                <a:ea typeface="B Lotus"/>
                <a:cs typeface="B Lotus"/>
              </a:rPr>
              <a:t>ضرورت اجرایی برای صنعت و برند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027663" y="2208276"/>
            <a:ext cx="77724" cy="77724"/>
          </a:xfrm>
          <a:prstGeom prst="roundRect">
            <a:avLst>
              <a:gd name="adj" fmla="val 47058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775704" y="2139696"/>
            <a:ext cx="4215383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35000"/>
              </a:lnSpc>
            </a:pPr>
            <a:r>
              <a:rPr sz="110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تثبیت جایگاه برند در ذهن مشتری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027663" y="2734056"/>
            <a:ext cx="77724" cy="77724"/>
          </a:xfrm>
          <a:prstGeom prst="roundRect">
            <a:avLst>
              <a:gd name="adj" fmla="val 47058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775704" y="2665476"/>
            <a:ext cx="4215383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35000"/>
              </a:lnSpc>
            </a:pPr>
            <a:r>
              <a:rPr sz="110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ایجاد ارتباط مؤثر با طیف گسترده‌ای از مشتریان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027663" y="3259836"/>
            <a:ext cx="77724" cy="77724"/>
          </a:xfrm>
          <a:prstGeom prst="roundRect">
            <a:avLst>
              <a:gd name="adj" fmla="val 47058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75704" y="3191256"/>
            <a:ext cx="4215383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35000"/>
              </a:lnSpc>
            </a:pPr>
            <a:r>
              <a:rPr sz="110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معرفی مطلوب محصولات جدید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027663" y="3785616"/>
            <a:ext cx="77724" cy="77724"/>
          </a:xfrm>
          <a:prstGeom prst="roundRect">
            <a:avLst>
              <a:gd name="adj" fmla="val 47058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775704" y="3717036"/>
            <a:ext cx="4215383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35000"/>
              </a:lnSpc>
            </a:pPr>
            <a:r>
              <a:rPr sz="110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برجسته‌سازی قابلیت‌ها و مزیت‌های رقابتی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027663" y="4311396"/>
            <a:ext cx="77724" cy="77724"/>
          </a:xfrm>
          <a:prstGeom prst="roundRect">
            <a:avLst>
              <a:gd name="adj" fmla="val 47058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775704" y="4242816"/>
            <a:ext cx="4215383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35000"/>
              </a:lnSpc>
            </a:pPr>
            <a:r>
              <a:rPr sz="110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ایجاد و تقویت ذهنیت مثبت، ماندگار و مطلوب نسبت به برند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572768" y="1444752"/>
            <a:ext cx="4782312" cy="3675887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1572768" y="1444752"/>
            <a:ext cx="4782312" cy="512064"/>
          </a:xfrm>
          <a:prstGeom prst="roundRect">
            <a:avLst>
              <a:gd name="adj" fmla="val 42857"/>
            </a:avLst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1572768" y="1737360"/>
            <a:ext cx="4782312" cy="219456"/>
          </a:xfrm>
          <a:prstGeom prst="roundRect">
            <a:avLst>
              <a:gd name="adj" fmla="val 50000"/>
            </a:avLst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755648" y="1444752"/>
            <a:ext cx="4416551" cy="5120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1250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ضرورت علمی و تصمیم‌سازی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080760" y="2208276"/>
            <a:ext cx="77724" cy="77724"/>
          </a:xfrm>
          <a:prstGeom prst="roundRect">
            <a:avLst>
              <a:gd name="adj" fmla="val 47058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828800" y="2139696"/>
            <a:ext cx="4215383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35000"/>
              </a:lnSpc>
            </a:pPr>
            <a:r>
              <a:rPr sz="110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سنجش هم‌زمان سه مؤلفهٔ بازارپردازی و رابطهٔ آن‌ها با فروش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080760" y="2734056"/>
            <a:ext cx="77724" cy="77724"/>
          </a:xfrm>
          <a:prstGeom prst="roundRect">
            <a:avLst>
              <a:gd name="adj" fmla="val 47058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828800" y="2665476"/>
            <a:ext cx="4215383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35000"/>
              </a:lnSpc>
            </a:pPr>
            <a:r>
              <a:rPr sz="110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فراهم‌کردن شواهد تجربی برای فروشگاه‌های دوو در اهواز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080760" y="3259836"/>
            <a:ext cx="77724" cy="77724"/>
          </a:xfrm>
          <a:prstGeom prst="roundRect">
            <a:avLst>
              <a:gd name="adj" fmla="val 47058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828800" y="3191256"/>
            <a:ext cx="4215383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35000"/>
              </a:lnSpc>
            </a:pPr>
            <a:r>
              <a:rPr sz="110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مبنای داده برای تصمیم مدیران فروش و بازاریابی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080760" y="3785616"/>
            <a:ext cx="77724" cy="77724"/>
          </a:xfrm>
          <a:prstGeom prst="roundRect">
            <a:avLst>
              <a:gd name="adj" fmla="val 47058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828800" y="3717036"/>
            <a:ext cx="4215383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35000"/>
              </a:lnSpc>
            </a:pPr>
            <a:r>
              <a:rPr sz="110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پایه‌ای برای پژوهش‌های تکمیلی در صنعت لوازم خانگی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156448" y="5358384"/>
            <a:ext cx="3145535" cy="841248"/>
          </a:xfrm>
          <a:prstGeom prst="roundRect">
            <a:avLst>
              <a:gd name="adj" fmla="val 26086"/>
            </a:avLst>
          </a:prstGeom>
          <a:solidFill>
            <a:srgbClr val="F8F9FA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247888" y="5486400"/>
            <a:ext cx="296265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1000" b="0" lang="fa-IR" altLang="en-US" dirty="0">
                <a:solidFill>
                  <a:srgbClr val="6B7785"/>
                </a:solidFill>
                <a:latin typeface="B Lotus"/>
                <a:ea typeface="B Lotus"/>
                <a:cs typeface="B Lotus"/>
              </a:rPr>
              <a:t>گروه کالایی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247888" y="5779008"/>
            <a:ext cx="2962655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1150" b="1" lang="fa-IR" altLang="en-US" dirty="0">
                <a:solidFill>
                  <a:srgbClr val="0D2137"/>
                </a:solidFill>
                <a:latin typeface="B Titr"/>
                <a:ea typeface="B Titr"/>
                <a:cs typeface="B Titr"/>
              </a:rPr>
              <a:t>لوازم خانگی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864608" y="5358384"/>
            <a:ext cx="3145535" cy="841248"/>
          </a:xfrm>
          <a:prstGeom prst="roundRect">
            <a:avLst>
              <a:gd name="adj" fmla="val 26086"/>
            </a:avLst>
          </a:prstGeom>
          <a:solidFill>
            <a:srgbClr val="F8F9FA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956048" y="5486400"/>
            <a:ext cx="296265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1000" b="0" lang="fa-IR" altLang="en-US" dirty="0">
                <a:solidFill>
                  <a:srgbClr val="6B7785"/>
                </a:solidFill>
                <a:latin typeface="B Lotus"/>
                <a:ea typeface="B Lotus"/>
                <a:cs typeface="B Lotus"/>
              </a:rPr>
              <a:t>موردمطالعه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56048" y="5779008"/>
            <a:ext cx="2962655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1150" b="1" lang="fa-IR" altLang="en-US" dirty="0">
                <a:solidFill>
                  <a:srgbClr val="0D2137"/>
                </a:solidFill>
                <a:latin typeface="B Titr"/>
                <a:ea typeface="B Titr"/>
                <a:cs typeface="B Titr"/>
              </a:rPr>
              <a:t>فروشگاه‌های دوو ـ شهر اهواز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572768" y="5358384"/>
            <a:ext cx="3145535" cy="841248"/>
          </a:xfrm>
          <a:prstGeom prst="roundRect">
            <a:avLst>
              <a:gd name="adj" fmla="val 26086"/>
            </a:avLst>
          </a:prstGeom>
          <a:solidFill>
            <a:srgbClr val="F8F9FA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664208" y="5486400"/>
            <a:ext cx="296265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1000" b="0" lang="fa-IR" altLang="en-US" dirty="0">
                <a:solidFill>
                  <a:srgbClr val="6B7785"/>
                </a:solidFill>
                <a:latin typeface="B Lotus"/>
                <a:ea typeface="B Lotus"/>
                <a:cs typeface="B Lotus"/>
              </a:rPr>
              <a:t>چارچوب متغیرها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664208" y="5779008"/>
            <a:ext cx="2962655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1150" b="1" lang="fa-IR" altLang="en-US" dirty="0">
                <a:solidFill>
                  <a:srgbClr val="0D2137"/>
                </a:solidFill>
                <a:latin typeface="B Titr"/>
                <a:ea typeface="B Titr"/>
                <a:cs typeface="B Titr"/>
              </a:rPr>
              <a:t>۳ متغیر مستقل + ۱ متغیر وابسته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704320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20624" y="548640"/>
            <a:ext cx="0" cy="5833872"/>
          </a:xfrm>
          <a:prstGeom prst="line">
            <a:avLst/>
          </a:prstGeom>
          <a:ln w="13970">
            <a:solidFill>
              <a:srgbClr val="DADF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20624" y="548640"/>
            <a:ext cx="0" cy="1581302"/>
          </a:xfrm>
          <a:prstGeom prst="line">
            <a:avLst/>
          </a:prstGeom>
          <a:ln w="21590">
            <a:solidFill>
              <a:srgbClr val="2E7D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372618" y="555498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512064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عنوان و معرفی</a:t>
            </a:r>
          </a:p>
        </p:txBody>
      </p:sp>
      <p:sp>
        <p:nvSpPr>
          <p:cNvPr id="7" name="Oval 6"/>
          <p:cNvSpPr/>
          <p:nvPr/>
        </p:nvSpPr>
        <p:spPr>
          <a:xfrm>
            <a:off x="372618" y="937107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89367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کلیات پژوهش</a:t>
            </a:r>
          </a:p>
        </p:txBody>
      </p:sp>
      <p:sp>
        <p:nvSpPr>
          <p:cNvPr id="9" name="Oval 8"/>
          <p:cNvSpPr/>
          <p:nvPr/>
        </p:nvSpPr>
        <p:spPr>
          <a:xfrm>
            <a:off x="372618" y="1318717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27528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بیان مسئله</a:t>
            </a:r>
          </a:p>
        </p:txBody>
      </p:sp>
      <p:sp>
        <p:nvSpPr>
          <p:cNvPr id="11" name="Oval 10"/>
          <p:cNvSpPr/>
          <p:nvPr/>
        </p:nvSpPr>
        <p:spPr>
          <a:xfrm>
            <a:off x="372618" y="1700326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65689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اهمیت و ضرورت</a:t>
            </a:r>
          </a:p>
        </p:txBody>
      </p:sp>
      <p:sp>
        <p:nvSpPr>
          <p:cNvPr id="13" name="Oval 12"/>
          <p:cNvSpPr/>
          <p:nvPr/>
        </p:nvSpPr>
        <p:spPr>
          <a:xfrm>
            <a:off x="324612" y="2033930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7D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9476" y="2088794"/>
            <a:ext cx="82296" cy="82296"/>
          </a:xfrm>
          <a:prstGeom prst="ellipse">
            <a:avLst/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" y="2024786"/>
            <a:ext cx="960120" cy="2103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6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اهداف و فرضیه‌ها</a:t>
            </a:r>
          </a:p>
        </p:txBody>
      </p:sp>
      <p:sp>
        <p:nvSpPr>
          <p:cNvPr id="16" name="Oval 15"/>
          <p:cNvSpPr/>
          <p:nvPr/>
        </p:nvSpPr>
        <p:spPr>
          <a:xfrm>
            <a:off x="372618" y="2463546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242011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مبانی و پیشینه</a:t>
            </a:r>
          </a:p>
        </p:txBody>
      </p:sp>
      <p:sp>
        <p:nvSpPr>
          <p:cNvPr id="18" name="Oval 17"/>
          <p:cNvSpPr/>
          <p:nvPr/>
        </p:nvSpPr>
        <p:spPr>
          <a:xfrm>
            <a:off x="372618" y="2845155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2801721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روش‌شناسی</a:t>
            </a:r>
          </a:p>
        </p:txBody>
      </p:sp>
      <p:sp>
        <p:nvSpPr>
          <p:cNvPr id="20" name="Oval 19"/>
          <p:cNvSpPr/>
          <p:nvPr/>
        </p:nvSpPr>
        <p:spPr>
          <a:xfrm>
            <a:off x="372618" y="3226765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3183331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جامعه و نمونه</a:t>
            </a:r>
          </a:p>
        </p:txBody>
      </p:sp>
      <p:sp>
        <p:nvSpPr>
          <p:cNvPr id="22" name="Oval 21"/>
          <p:cNvSpPr/>
          <p:nvPr/>
        </p:nvSpPr>
        <p:spPr>
          <a:xfrm>
            <a:off x="372618" y="3608374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" y="356494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ابزار گردآوری</a:t>
            </a:r>
          </a:p>
        </p:txBody>
      </p:sp>
      <p:sp>
        <p:nvSpPr>
          <p:cNvPr id="24" name="Oval 23"/>
          <p:cNvSpPr/>
          <p:nvPr/>
        </p:nvSpPr>
        <p:spPr>
          <a:xfrm>
            <a:off x="372618" y="3989984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94655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یافته‌ها</a:t>
            </a:r>
          </a:p>
        </p:txBody>
      </p:sp>
      <p:sp>
        <p:nvSpPr>
          <p:cNvPr id="26" name="Oval 25"/>
          <p:cNvSpPr/>
          <p:nvPr/>
        </p:nvSpPr>
        <p:spPr>
          <a:xfrm>
            <a:off x="372618" y="4371594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504" y="432816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تحلیل و بحث</a:t>
            </a:r>
          </a:p>
        </p:txBody>
      </p:sp>
      <p:sp>
        <p:nvSpPr>
          <p:cNvPr id="28" name="Oval 27"/>
          <p:cNvSpPr/>
          <p:nvPr/>
        </p:nvSpPr>
        <p:spPr>
          <a:xfrm>
            <a:off x="372618" y="4753203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" y="470976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نتیجه‌گیری</a:t>
            </a:r>
          </a:p>
        </p:txBody>
      </p:sp>
      <p:sp>
        <p:nvSpPr>
          <p:cNvPr id="30" name="Oval 29"/>
          <p:cNvSpPr/>
          <p:nvPr/>
        </p:nvSpPr>
        <p:spPr>
          <a:xfrm>
            <a:off x="372618" y="5134813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509137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پیشنهادها</a:t>
            </a:r>
          </a:p>
        </p:txBody>
      </p:sp>
      <p:sp>
        <p:nvSpPr>
          <p:cNvPr id="32" name="Oval 31"/>
          <p:cNvSpPr/>
          <p:nvPr/>
        </p:nvSpPr>
        <p:spPr>
          <a:xfrm>
            <a:off x="372618" y="551642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504" y="547298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محدودیت‌ها</a:t>
            </a:r>
          </a:p>
        </p:txBody>
      </p:sp>
      <p:sp>
        <p:nvSpPr>
          <p:cNvPr id="34" name="Oval 33"/>
          <p:cNvSpPr/>
          <p:nvPr/>
        </p:nvSpPr>
        <p:spPr>
          <a:xfrm>
            <a:off x="372618" y="589803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504" y="585459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جمع‌بندی</a:t>
            </a:r>
          </a:p>
        </p:txBody>
      </p:sp>
      <p:sp>
        <p:nvSpPr>
          <p:cNvPr id="36" name="Oval 35"/>
          <p:cNvSpPr/>
          <p:nvPr/>
        </p:nvSpPr>
        <p:spPr>
          <a:xfrm>
            <a:off x="372618" y="627964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623620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تشکر و پاسخ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283696" y="329184"/>
            <a:ext cx="82296" cy="82296"/>
          </a:xfrm>
          <a:prstGeom prst="roundRect">
            <a:avLst>
              <a:gd name="adj" fmla="val 44444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572768" y="256032"/>
            <a:ext cx="9528047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بخش ۵  ·  اهداف و فرضیه‌ها (۱)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2768" y="502920"/>
            <a:ext cx="9546336" cy="4754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05000"/>
              </a:lnSpc>
            </a:pPr>
            <a:r>
              <a:rPr sz="2400" b="1" lang="fa-IR" altLang="en-US" dirty="0">
                <a:solidFill>
                  <a:srgbClr val="0D2137"/>
                </a:solidFill>
                <a:latin typeface="B Titr"/>
                <a:ea typeface="B Titr"/>
                <a:cs typeface="B Titr"/>
              </a:rPr>
              <a:t>اهداف پژوهش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10735056" y="1060704"/>
            <a:ext cx="566928" cy="0"/>
          </a:xfrm>
          <a:prstGeom prst="line">
            <a:avLst/>
          </a:prstGeom>
          <a:ln w="25400">
            <a:solidFill>
              <a:srgbClr val="B890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1572768" y="1060704"/>
            <a:ext cx="9089136" cy="0"/>
          </a:xfrm>
          <a:prstGeom prst="line">
            <a:avLst/>
          </a:prstGeom>
          <a:ln w="12700">
            <a:solidFill>
              <a:srgbClr val="DADF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920240" y="6510528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74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دانشگاه پیام نور واحد جویبار  ·  دانشکدهٔ مدیریت، اقتصاد و حسابداری  ·  دفاع از پایان‌نامهٔ کارشناسی ارشد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69880" y="6492240"/>
            <a:ext cx="832104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50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۶ / ۲۲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572768" y="1444752"/>
            <a:ext cx="9729215" cy="1298448"/>
          </a:xfrm>
          <a:prstGeom prst="roundRect">
            <a:avLst>
              <a:gd name="adj" fmla="val 19718"/>
            </a:avLst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820655" y="1627632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20655" y="162763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10000"/>
              </a:lnSpc>
            </a:pPr>
            <a:r>
              <a:rPr sz="950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هدف اصلی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38528" y="2011680"/>
            <a:ext cx="8997695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0000"/>
              </a:lnSpc>
            </a:pPr>
            <a:r>
              <a:rPr sz="1500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بررسی تأثیر عملکرد بازارپردازی بر ارتقای فروش فروشگاه‌های شرکت دوو در شهر اهواز.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180832" y="3127248"/>
            <a:ext cx="3121151" cy="2487168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467088" y="3346704"/>
            <a:ext cx="548640" cy="548640"/>
          </a:xfrm>
          <a:prstGeom prst="ellipse">
            <a:avLst/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467088" y="3328416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00000"/>
              </a:lnSpc>
            </a:pPr>
            <a:r>
              <a:rPr sz="1700" b="1" lang="fa-IR" altLang="en-US" dirty="0">
                <a:solidFill>
                  <a:srgbClr val="FFFFFF"/>
                </a:solidFill>
                <a:latin typeface="B Titr"/>
                <a:ea typeface="B Titr"/>
                <a:cs typeface="B Titr"/>
              </a:rPr>
              <a:t>۱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08848" y="4005072"/>
            <a:ext cx="286511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B8903E"/>
                </a:solidFill>
                <a:latin typeface="B Lotus"/>
                <a:ea typeface="B Lotus"/>
                <a:cs typeface="B Lotus"/>
              </a:rPr>
              <a:t>هدف فرعی ۱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00288" y="4315968"/>
            <a:ext cx="2682239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50000"/>
              </a:lnSpc>
            </a:pPr>
            <a:r>
              <a:rPr sz="113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تعیین رابطهٔ بین استقرار هدفمند اقلام تبلیغاتی در محیط و میزان فروش محصولات شرکت دوو.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876800" y="3127248"/>
            <a:ext cx="3121151" cy="2487168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163056" y="3346704"/>
            <a:ext cx="548640" cy="548640"/>
          </a:xfrm>
          <a:prstGeom prst="ellipse">
            <a:avLst/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63056" y="3328416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00000"/>
              </a:lnSpc>
            </a:pPr>
            <a:r>
              <a:rPr sz="1700" b="1" lang="fa-IR" altLang="en-US" dirty="0">
                <a:solidFill>
                  <a:srgbClr val="FFFFFF"/>
                </a:solidFill>
                <a:latin typeface="B Titr"/>
                <a:ea typeface="B Titr"/>
                <a:cs typeface="B Titr"/>
              </a:rPr>
              <a:t>۲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04816" y="4005072"/>
            <a:ext cx="286511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B8903E"/>
                </a:solidFill>
                <a:latin typeface="B Lotus"/>
                <a:ea typeface="B Lotus"/>
                <a:cs typeface="B Lotus"/>
              </a:rPr>
              <a:t>هدف فرعی ۲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96256" y="4315968"/>
            <a:ext cx="2682239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50000"/>
              </a:lnSpc>
            </a:pPr>
            <a:r>
              <a:rPr sz="113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تعیین رابطهٔ بین سازماندهی و اثربخشی فعالیت‌های بازارپردازی و میزان فروش محصولات شرکت دوو.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572768" y="3127248"/>
            <a:ext cx="3121151" cy="2487168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859024" y="3346704"/>
            <a:ext cx="548640" cy="548640"/>
          </a:xfrm>
          <a:prstGeom prst="ellipse">
            <a:avLst/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859024" y="3328416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00000"/>
              </a:lnSpc>
            </a:pPr>
            <a:r>
              <a:rPr sz="1700" b="1" lang="fa-IR" altLang="en-US" dirty="0">
                <a:solidFill>
                  <a:srgbClr val="FFFFFF"/>
                </a:solidFill>
                <a:latin typeface="B Titr"/>
                <a:ea typeface="B Titr"/>
                <a:cs typeface="B Titr"/>
              </a:rPr>
              <a:t>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00784" y="4005072"/>
            <a:ext cx="286511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B8903E"/>
                </a:solidFill>
                <a:latin typeface="B Lotus"/>
                <a:ea typeface="B Lotus"/>
                <a:cs typeface="B Lotus"/>
              </a:rPr>
              <a:t>هدف فرعی 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92224" y="4315968"/>
            <a:ext cx="2682239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50000"/>
              </a:lnSpc>
            </a:pPr>
            <a:r>
              <a:rPr sz="113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تعیین رابطهٔ بین نحوهٔ چیدمان و جانمایی بهینهٔ محصولات و میزان فروش محصولات شرکت دوو.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72768" y="5870448"/>
            <a:ext cx="972921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100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هر هدف فرعی، متناظر با یکی از سه مؤلفهٔ بازارپردازی است.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704320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20624" y="548640"/>
            <a:ext cx="0" cy="5833872"/>
          </a:xfrm>
          <a:prstGeom prst="line">
            <a:avLst/>
          </a:prstGeom>
          <a:ln w="13970">
            <a:solidFill>
              <a:srgbClr val="DADF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20624" y="548640"/>
            <a:ext cx="0" cy="1581302"/>
          </a:xfrm>
          <a:prstGeom prst="line">
            <a:avLst/>
          </a:prstGeom>
          <a:ln w="21590">
            <a:solidFill>
              <a:srgbClr val="2E7D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372618" y="555498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512064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عنوان و معرفی</a:t>
            </a:r>
          </a:p>
        </p:txBody>
      </p:sp>
      <p:sp>
        <p:nvSpPr>
          <p:cNvPr id="7" name="Oval 6"/>
          <p:cNvSpPr/>
          <p:nvPr/>
        </p:nvSpPr>
        <p:spPr>
          <a:xfrm>
            <a:off x="372618" y="937107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89367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کلیات پژوهش</a:t>
            </a:r>
          </a:p>
        </p:txBody>
      </p:sp>
      <p:sp>
        <p:nvSpPr>
          <p:cNvPr id="9" name="Oval 8"/>
          <p:cNvSpPr/>
          <p:nvPr/>
        </p:nvSpPr>
        <p:spPr>
          <a:xfrm>
            <a:off x="372618" y="1318717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27528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بیان مسئله</a:t>
            </a:r>
          </a:p>
        </p:txBody>
      </p:sp>
      <p:sp>
        <p:nvSpPr>
          <p:cNvPr id="11" name="Oval 10"/>
          <p:cNvSpPr/>
          <p:nvPr/>
        </p:nvSpPr>
        <p:spPr>
          <a:xfrm>
            <a:off x="372618" y="1700326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65689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اهمیت و ضرورت</a:t>
            </a:r>
          </a:p>
        </p:txBody>
      </p:sp>
      <p:sp>
        <p:nvSpPr>
          <p:cNvPr id="13" name="Oval 12"/>
          <p:cNvSpPr/>
          <p:nvPr/>
        </p:nvSpPr>
        <p:spPr>
          <a:xfrm>
            <a:off x="324612" y="2033930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7D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9476" y="2088794"/>
            <a:ext cx="82296" cy="82296"/>
          </a:xfrm>
          <a:prstGeom prst="ellipse">
            <a:avLst/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" y="2024786"/>
            <a:ext cx="960120" cy="2103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6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اهداف و فرضیه‌ها</a:t>
            </a:r>
          </a:p>
        </p:txBody>
      </p:sp>
      <p:sp>
        <p:nvSpPr>
          <p:cNvPr id="16" name="Oval 15"/>
          <p:cNvSpPr/>
          <p:nvPr/>
        </p:nvSpPr>
        <p:spPr>
          <a:xfrm>
            <a:off x="372618" y="2463546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242011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مبانی و پیشینه</a:t>
            </a:r>
          </a:p>
        </p:txBody>
      </p:sp>
      <p:sp>
        <p:nvSpPr>
          <p:cNvPr id="18" name="Oval 17"/>
          <p:cNvSpPr/>
          <p:nvPr/>
        </p:nvSpPr>
        <p:spPr>
          <a:xfrm>
            <a:off x="372618" y="2845155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2801721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روش‌شناسی</a:t>
            </a:r>
          </a:p>
        </p:txBody>
      </p:sp>
      <p:sp>
        <p:nvSpPr>
          <p:cNvPr id="20" name="Oval 19"/>
          <p:cNvSpPr/>
          <p:nvPr/>
        </p:nvSpPr>
        <p:spPr>
          <a:xfrm>
            <a:off x="372618" y="3226765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3183331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جامعه و نمونه</a:t>
            </a:r>
          </a:p>
        </p:txBody>
      </p:sp>
      <p:sp>
        <p:nvSpPr>
          <p:cNvPr id="22" name="Oval 21"/>
          <p:cNvSpPr/>
          <p:nvPr/>
        </p:nvSpPr>
        <p:spPr>
          <a:xfrm>
            <a:off x="372618" y="3608374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" y="356494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ابزار گردآوری</a:t>
            </a:r>
          </a:p>
        </p:txBody>
      </p:sp>
      <p:sp>
        <p:nvSpPr>
          <p:cNvPr id="24" name="Oval 23"/>
          <p:cNvSpPr/>
          <p:nvPr/>
        </p:nvSpPr>
        <p:spPr>
          <a:xfrm>
            <a:off x="372618" y="3989984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94655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یافته‌ها</a:t>
            </a:r>
          </a:p>
        </p:txBody>
      </p:sp>
      <p:sp>
        <p:nvSpPr>
          <p:cNvPr id="26" name="Oval 25"/>
          <p:cNvSpPr/>
          <p:nvPr/>
        </p:nvSpPr>
        <p:spPr>
          <a:xfrm>
            <a:off x="372618" y="4371594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504" y="432816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تحلیل و بحث</a:t>
            </a:r>
          </a:p>
        </p:txBody>
      </p:sp>
      <p:sp>
        <p:nvSpPr>
          <p:cNvPr id="28" name="Oval 27"/>
          <p:cNvSpPr/>
          <p:nvPr/>
        </p:nvSpPr>
        <p:spPr>
          <a:xfrm>
            <a:off x="372618" y="4753203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" y="470976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نتیجه‌گیری</a:t>
            </a:r>
          </a:p>
        </p:txBody>
      </p:sp>
      <p:sp>
        <p:nvSpPr>
          <p:cNvPr id="30" name="Oval 29"/>
          <p:cNvSpPr/>
          <p:nvPr/>
        </p:nvSpPr>
        <p:spPr>
          <a:xfrm>
            <a:off x="372618" y="5134813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509137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پیشنهادها</a:t>
            </a:r>
          </a:p>
        </p:txBody>
      </p:sp>
      <p:sp>
        <p:nvSpPr>
          <p:cNvPr id="32" name="Oval 31"/>
          <p:cNvSpPr/>
          <p:nvPr/>
        </p:nvSpPr>
        <p:spPr>
          <a:xfrm>
            <a:off x="372618" y="551642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504" y="547298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محدودیت‌ها</a:t>
            </a:r>
          </a:p>
        </p:txBody>
      </p:sp>
      <p:sp>
        <p:nvSpPr>
          <p:cNvPr id="34" name="Oval 33"/>
          <p:cNvSpPr/>
          <p:nvPr/>
        </p:nvSpPr>
        <p:spPr>
          <a:xfrm>
            <a:off x="372618" y="589803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504" y="585459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جمع‌بندی</a:t>
            </a:r>
          </a:p>
        </p:txBody>
      </p:sp>
      <p:sp>
        <p:nvSpPr>
          <p:cNvPr id="36" name="Oval 35"/>
          <p:cNvSpPr/>
          <p:nvPr/>
        </p:nvSpPr>
        <p:spPr>
          <a:xfrm>
            <a:off x="372618" y="627964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623620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تشکر و پاسخ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283696" y="329184"/>
            <a:ext cx="82296" cy="82296"/>
          </a:xfrm>
          <a:prstGeom prst="roundRect">
            <a:avLst>
              <a:gd name="adj" fmla="val 44444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572768" y="256032"/>
            <a:ext cx="9528047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بخش ۵  ·  اهداف و فرضیه‌ها (۲)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2768" y="502920"/>
            <a:ext cx="9546336" cy="4754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05000"/>
              </a:lnSpc>
            </a:pPr>
            <a:r>
              <a:rPr sz="2400" b="1" lang="fa-IR" altLang="en-US" dirty="0">
                <a:solidFill>
                  <a:srgbClr val="0D2137"/>
                </a:solidFill>
                <a:latin typeface="B Titr"/>
                <a:ea typeface="B Titr"/>
                <a:cs typeface="B Titr"/>
              </a:rPr>
              <a:t>فرضیه‌های پژوهش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10735056" y="1060704"/>
            <a:ext cx="566928" cy="0"/>
          </a:xfrm>
          <a:prstGeom prst="line">
            <a:avLst/>
          </a:prstGeom>
          <a:ln w="25400">
            <a:solidFill>
              <a:srgbClr val="B890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1572768" y="1060704"/>
            <a:ext cx="9089136" cy="0"/>
          </a:xfrm>
          <a:prstGeom prst="line">
            <a:avLst/>
          </a:prstGeom>
          <a:ln w="12700">
            <a:solidFill>
              <a:srgbClr val="DADF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920240" y="6510528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74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دانشگاه پیام نور واحد جویبار  ·  دانشکدهٔ مدیریت، اقتصاد و حسابداری  ·  دفاع از پایان‌نامهٔ کارشناسی ارشد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69880" y="6492240"/>
            <a:ext cx="832104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50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۷ / ۲۲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572768" y="1444752"/>
            <a:ext cx="9729215" cy="1152144"/>
          </a:xfrm>
          <a:prstGeom prst="roundRect">
            <a:avLst>
              <a:gd name="adj" fmla="val 22222"/>
            </a:avLst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674352" y="1609344"/>
            <a:ext cx="1444752" cy="310896"/>
          </a:xfrm>
          <a:prstGeom prst="roundRect">
            <a:avLst>
              <a:gd name="adj" fmla="val 50000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74352" y="1609344"/>
            <a:ext cx="1444752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10000"/>
              </a:lnSpc>
            </a:pPr>
            <a:r>
              <a:rPr sz="950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فرضیهٔ اصلی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38528" y="1975104"/>
            <a:ext cx="8997695" cy="5120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0000"/>
              </a:lnSpc>
            </a:pPr>
            <a:r>
              <a:rPr sz="1450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بازارپردازی تأثیر مثبت و معناداری بر ارتقای فروش محصولات شرکت دوو دارد.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180832" y="2926080"/>
            <a:ext cx="3121151" cy="2139696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82000" y="3090672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rtl="1">
              <a:lnSpc>
                <a:spcPct val="142000"/>
              </a:lnSpc>
            </a:pPr>
            <a:r>
              <a:rPr sz="1300" b="1" lang="fa-IR" altLang="en-US" dirty="0">
                <a:solidFill>
                  <a:srgbClr val="1E5E62"/>
                </a:solidFill>
                <a:latin typeface="B Titr"/>
                <a:ea typeface="B Titr"/>
                <a:cs typeface="B Titr"/>
              </a:rPr>
              <a:t>ف۱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63712" y="3456432"/>
            <a:ext cx="2755391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5000"/>
              </a:lnSpc>
            </a:pPr>
            <a:r>
              <a:rPr sz="110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بین استقرار هدفمند اقلام تبلیغاتی در محیط و میزان فروش محصولات شرکت دوو رابطهٔ مثبت و معنادار وجود دارد.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845296" y="4608576"/>
            <a:ext cx="1792224" cy="292608"/>
          </a:xfrm>
          <a:prstGeom prst="roundRect">
            <a:avLst>
              <a:gd name="adj" fmla="val 50000"/>
            </a:avLst>
          </a:prstGeom>
          <a:solidFill>
            <a:srgbClr val="E8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45296" y="4608576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10000"/>
              </a:lnSpc>
            </a:pPr>
            <a:r>
              <a:rPr sz="88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رابطهٔ مثبت و معنادار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876800" y="2926080"/>
            <a:ext cx="3121151" cy="2139696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77968" y="3090672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rtl="1">
              <a:lnSpc>
                <a:spcPct val="142000"/>
              </a:lnSpc>
            </a:pPr>
            <a:r>
              <a:rPr sz="1300" b="1" lang="fa-IR" altLang="en-US" dirty="0">
                <a:solidFill>
                  <a:srgbClr val="1E5E62"/>
                </a:solidFill>
                <a:latin typeface="B Titr"/>
                <a:ea typeface="B Titr"/>
                <a:cs typeface="B Titr"/>
              </a:rPr>
              <a:t>ف۲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59680" y="3456432"/>
            <a:ext cx="2755391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5000"/>
              </a:lnSpc>
            </a:pPr>
            <a:r>
              <a:rPr sz="110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بین سازماندهی و اثربخشی فعالیت‌های بازارپردازی و میزان فروش محصولات شرکت دوو رابطهٔ مثبت و معنادار وجود دارد.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541264" y="4608576"/>
            <a:ext cx="1792224" cy="292608"/>
          </a:xfrm>
          <a:prstGeom prst="roundRect">
            <a:avLst>
              <a:gd name="adj" fmla="val 50000"/>
            </a:avLst>
          </a:prstGeom>
          <a:solidFill>
            <a:srgbClr val="E8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541264" y="4608576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10000"/>
              </a:lnSpc>
            </a:pPr>
            <a:r>
              <a:rPr sz="88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رابطهٔ مثبت و معنادار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572768" y="2926080"/>
            <a:ext cx="3121151" cy="2139696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773936" y="3090672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rtl="1">
              <a:lnSpc>
                <a:spcPct val="142000"/>
              </a:lnSpc>
            </a:pPr>
            <a:r>
              <a:rPr sz="1300" b="1" lang="fa-IR" altLang="en-US" dirty="0">
                <a:solidFill>
                  <a:srgbClr val="1E5E62"/>
                </a:solidFill>
                <a:latin typeface="B Titr"/>
                <a:ea typeface="B Titr"/>
                <a:cs typeface="B Titr"/>
              </a:rPr>
              <a:t>ف۳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55648" y="3456432"/>
            <a:ext cx="2755391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5000"/>
              </a:lnSpc>
            </a:pPr>
            <a:r>
              <a:rPr sz="110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بین نحوهٔ چیدمان و جانمایی بهینهٔ محصولات و میزان فروش محصولات شرکت دوو رابطهٔ مثبت و معنادار وجود دارد.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237232" y="4608576"/>
            <a:ext cx="1792224" cy="292608"/>
          </a:xfrm>
          <a:prstGeom prst="roundRect">
            <a:avLst>
              <a:gd name="adj" fmla="val 50000"/>
            </a:avLst>
          </a:prstGeom>
          <a:solidFill>
            <a:srgbClr val="E8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237232" y="4608576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10000"/>
              </a:lnSpc>
            </a:pPr>
            <a:r>
              <a:rPr sz="88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رابطهٔ مثبت و معنادار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315968" y="5358384"/>
            <a:ext cx="4242815" cy="566928"/>
          </a:xfrm>
          <a:prstGeom prst="roundRect">
            <a:avLst>
              <a:gd name="adj" fmla="val 50000"/>
            </a:avLst>
          </a:prstGeom>
          <a:solidFill>
            <a:srgbClr val="F8F9FA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315968" y="5358384"/>
            <a:ext cx="4242815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آزمون آماری فرضیه‌ها: ضریب همبستگی اسپیرمن (نرم‌افزار SPSS)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704320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20624" y="548640"/>
            <a:ext cx="0" cy="5833872"/>
          </a:xfrm>
          <a:prstGeom prst="line">
            <a:avLst/>
          </a:prstGeom>
          <a:ln w="13970">
            <a:solidFill>
              <a:srgbClr val="DADF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20624" y="548640"/>
            <a:ext cx="0" cy="1962912"/>
          </a:xfrm>
          <a:prstGeom prst="line">
            <a:avLst/>
          </a:prstGeom>
          <a:ln w="21590">
            <a:solidFill>
              <a:srgbClr val="2E7D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372618" y="555498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512064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عنوان و معرفی</a:t>
            </a:r>
          </a:p>
        </p:txBody>
      </p:sp>
      <p:sp>
        <p:nvSpPr>
          <p:cNvPr id="7" name="Oval 6"/>
          <p:cNvSpPr/>
          <p:nvPr/>
        </p:nvSpPr>
        <p:spPr>
          <a:xfrm>
            <a:off x="372618" y="937107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89367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کلیات پژوهش</a:t>
            </a:r>
          </a:p>
        </p:txBody>
      </p:sp>
      <p:sp>
        <p:nvSpPr>
          <p:cNvPr id="9" name="Oval 8"/>
          <p:cNvSpPr/>
          <p:nvPr/>
        </p:nvSpPr>
        <p:spPr>
          <a:xfrm>
            <a:off x="372618" y="1318717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27528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بیان مسئله</a:t>
            </a:r>
          </a:p>
        </p:txBody>
      </p:sp>
      <p:sp>
        <p:nvSpPr>
          <p:cNvPr id="11" name="Oval 10"/>
          <p:cNvSpPr/>
          <p:nvPr/>
        </p:nvSpPr>
        <p:spPr>
          <a:xfrm>
            <a:off x="372618" y="1700326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65689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اهمیت و ضرورت</a:t>
            </a:r>
          </a:p>
        </p:txBody>
      </p:sp>
      <p:sp>
        <p:nvSpPr>
          <p:cNvPr id="13" name="Oval 12"/>
          <p:cNvSpPr/>
          <p:nvPr/>
        </p:nvSpPr>
        <p:spPr>
          <a:xfrm>
            <a:off x="372618" y="2081936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203850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اهداف و فرضیه‌ها</a:t>
            </a:r>
          </a:p>
        </p:txBody>
      </p:sp>
      <p:sp>
        <p:nvSpPr>
          <p:cNvPr id="15" name="Oval 14"/>
          <p:cNvSpPr/>
          <p:nvPr/>
        </p:nvSpPr>
        <p:spPr>
          <a:xfrm>
            <a:off x="324612" y="2415540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7D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9476" y="2470404"/>
            <a:ext cx="82296" cy="82296"/>
          </a:xfrm>
          <a:prstGeom prst="ellipse">
            <a:avLst/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2406396"/>
            <a:ext cx="960120" cy="2103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6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مبانی و پیشینه</a:t>
            </a:r>
          </a:p>
        </p:txBody>
      </p:sp>
      <p:sp>
        <p:nvSpPr>
          <p:cNvPr id="18" name="Oval 17"/>
          <p:cNvSpPr/>
          <p:nvPr/>
        </p:nvSpPr>
        <p:spPr>
          <a:xfrm>
            <a:off x="372618" y="2845155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2801721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روش‌شناسی</a:t>
            </a:r>
          </a:p>
        </p:txBody>
      </p:sp>
      <p:sp>
        <p:nvSpPr>
          <p:cNvPr id="20" name="Oval 19"/>
          <p:cNvSpPr/>
          <p:nvPr/>
        </p:nvSpPr>
        <p:spPr>
          <a:xfrm>
            <a:off x="372618" y="3226765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3183331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جامعه و نمونه</a:t>
            </a:r>
          </a:p>
        </p:txBody>
      </p:sp>
      <p:sp>
        <p:nvSpPr>
          <p:cNvPr id="22" name="Oval 21"/>
          <p:cNvSpPr/>
          <p:nvPr/>
        </p:nvSpPr>
        <p:spPr>
          <a:xfrm>
            <a:off x="372618" y="3608374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" y="356494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ابزار گردآوری</a:t>
            </a:r>
          </a:p>
        </p:txBody>
      </p:sp>
      <p:sp>
        <p:nvSpPr>
          <p:cNvPr id="24" name="Oval 23"/>
          <p:cNvSpPr/>
          <p:nvPr/>
        </p:nvSpPr>
        <p:spPr>
          <a:xfrm>
            <a:off x="372618" y="3989984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94655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یافته‌ها</a:t>
            </a:r>
          </a:p>
        </p:txBody>
      </p:sp>
      <p:sp>
        <p:nvSpPr>
          <p:cNvPr id="26" name="Oval 25"/>
          <p:cNvSpPr/>
          <p:nvPr/>
        </p:nvSpPr>
        <p:spPr>
          <a:xfrm>
            <a:off x="372618" y="4371594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504" y="432816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تحلیل و بحث</a:t>
            </a:r>
          </a:p>
        </p:txBody>
      </p:sp>
      <p:sp>
        <p:nvSpPr>
          <p:cNvPr id="28" name="Oval 27"/>
          <p:cNvSpPr/>
          <p:nvPr/>
        </p:nvSpPr>
        <p:spPr>
          <a:xfrm>
            <a:off x="372618" y="4753203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" y="470976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نتیجه‌گیری</a:t>
            </a:r>
          </a:p>
        </p:txBody>
      </p:sp>
      <p:sp>
        <p:nvSpPr>
          <p:cNvPr id="30" name="Oval 29"/>
          <p:cNvSpPr/>
          <p:nvPr/>
        </p:nvSpPr>
        <p:spPr>
          <a:xfrm>
            <a:off x="372618" y="5134813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509137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پیشنهادها</a:t>
            </a:r>
          </a:p>
        </p:txBody>
      </p:sp>
      <p:sp>
        <p:nvSpPr>
          <p:cNvPr id="32" name="Oval 31"/>
          <p:cNvSpPr/>
          <p:nvPr/>
        </p:nvSpPr>
        <p:spPr>
          <a:xfrm>
            <a:off x="372618" y="551642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504" y="547298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محدودیت‌ها</a:t>
            </a:r>
          </a:p>
        </p:txBody>
      </p:sp>
      <p:sp>
        <p:nvSpPr>
          <p:cNvPr id="34" name="Oval 33"/>
          <p:cNvSpPr/>
          <p:nvPr/>
        </p:nvSpPr>
        <p:spPr>
          <a:xfrm>
            <a:off x="372618" y="589803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504" y="585459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جمع‌بندی</a:t>
            </a:r>
          </a:p>
        </p:txBody>
      </p:sp>
      <p:sp>
        <p:nvSpPr>
          <p:cNvPr id="36" name="Oval 35"/>
          <p:cNvSpPr/>
          <p:nvPr/>
        </p:nvSpPr>
        <p:spPr>
          <a:xfrm>
            <a:off x="372618" y="627964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623620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تشکر و پاسخ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283696" y="329184"/>
            <a:ext cx="82296" cy="82296"/>
          </a:xfrm>
          <a:prstGeom prst="roundRect">
            <a:avLst>
              <a:gd name="adj" fmla="val 44444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572768" y="256032"/>
            <a:ext cx="9528047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بخش ۶  ·  مبانی نظری و پیشینه (۱)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2768" y="502920"/>
            <a:ext cx="9546336" cy="4754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05000"/>
              </a:lnSpc>
            </a:pPr>
            <a:r>
              <a:rPr sz="2400" b="1" lang="fa-IR" altLang="en-US" dirty="0">
                <a:solidFill>
                  <a:srgbClr val="0D2137"/>
                </a:solidFill>
                <a:latin typeface="B Titr"/>
                <a:ea typeface="B Titr"/>
                <a:cs typeface="B Titr"/>
              </a:rPr>
              <a:t>مدل مفهومی پژوهش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10735056" y="1060704"/>
            <a:ext cx="566928" cy="0"/>
          </a:xfrm>
          <a:prstGeom prst="line">
            <a:avLst/>
          </a:prstGeom>
          <a:ln w="25400">
            <a:solidFill>
              <a:srgbClr val="B890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1572768" y="1060704"/>
            <a:ext cx="9089136" cy="0"/>
          </a:xfrm>
          <a:prstGeom prst="line">
            <a:avLst/>
          </a:prstGeom>
          <a:ln w="12700">
            <a:solidFill>
              <a:srgbClr val="DADF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920240" y="6510528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74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دانشگاه پیام نور واحد جویبار  ·  دانشکدهٔ مدیریت، اقتصاد و حسابداری  ·  دفاع از پایان‌نامهٔ کارشناسی ارشد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69880" y="6492240"/>
            <a:ext cx="832104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50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۸ / ۲۲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572768" y="1783080"/>
            <a:ext cx="2788920" cy="3657600"/>
          </a:xfrm>
          <a:prstGeom prst="roundRect">
            <a:avLst>
              <a:gd name="adj" fmla="val 9180"/>
            </a:avLst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755648" y="210312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1100" b="0" lang="fa-IR" altLang="en-US" dirty="0">
                <a:solidFill>
                  <a:srgbClr val="D6B878"/>
                </a:solidFill>
                <a:latin typeface="B Lotus"/>
                <a:ea typeface="B Lotus"/>
                <a:cs typeface="B Lotus"/>
              </a:rPr>
              <a:t>متغیر وابسته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2395728" y="2487168"/>
            <a:ext cx="1188720" cy="0"/>
          </a:xfrm>
          <a:prstGeom prst="line">
            <a:avLst/>
          </a:prstGeom>
          <a:ln w="10160">
            <a:solidFill>
              <a:srgbClr val="5064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1755648" y="2880360"/>
            <a:ext cx="2423160" cy="10058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20000"/>
              </a:lnSpc>
            </a:pPr>
            <a:r>
              <a:rPr sz="2200" b="1" lang="fa-IR" altLang="en-US" dirty="0">
                <a:solidFill>
                  <a:srgbClr val="FFFFFF"/>
                </a:solidFill>
                <a:latin typeface="B Titr"/>
                <a:ea typeface="B Titr"/>
                <a:cs typeface="B Titr"/>
              </a:rPr>
              <a:t>میزان فروش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55648" y="406908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50000"/>
              </a:lnSpc>
            </a:pPr>
            <a:r>
              <a:rPr sz="1100" b="0" lang="fa-IR" altLang="en-US" dirty="0">
                <a:solidFill>
                  <a:srgbClr val="ECE8DE"/>
                </a:solidFill>
                <a:latin typeface="B Zar"/>
                <a:ea typeface="B Zar"/>
                <a:cs typeface="B Zar"/>
              </a:rPr>
              <a:t>محصولات شرکت دوو</a:t>
            </a:r>
          </a:p>
          <a:p>
            <a:pPr algn="ctr" rtl="1">
              <a:lnSpc>
                <a:spcPct val="150000"/>
              </a:lnSpc>
            </a:pPr>
            <a:r>
              <a:rPr sz="1100" b="0" lang="fa-IR" altLang="en-US" dirty="0">
                <a:solidFill>
                  <a:srgbClr val="ECE8DE"/>
                </a:solidFill>
                <a:latin typeface="B Zar"/>
                <a:ea typeface="B Zar"/>
                <a:cs typeface="B Zar"/>
              </a:rPr>
              <a:t>(فروشگاه‌های اهواز)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0" y="1444752"/>
            <a:ext cx="3986784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2000"/>
              </a:lnSpc>
            </a:pPr>
            <a:r>
              <a:rPr sz="115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متغیرهای مستقل — بازارپردازی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315200" y="1783080"/>
            <a:ext cx="3986784" cy="10972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844784" y="2139696"/>
            <a:ext cx="384048" cy="384048"/>
          </a:xfrm>
          <a:prstGeom prst="ellipse">
            <a:avLst/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844784" y="212140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00000"/>
              </a:lnSpc>
            </a:pPr>
            <a:r>
              <a:rPr sz="1200" b="1" lang="fa-IR" altLang="en-US" dirty="0">
                <a:solidFill>
                  <a:srgbClr val="FFFFFF"/>
                </a:solidFill>
                <a:latin typeface="B Titr"/>
                <a:ea typeface="B Titr"/>
                <a:cs typeface="B Titr"/>
              </a:rPr>
              <a:t>۱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98079" y="1783080"/>
            <a:ext cx="3200400" cy="10972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0000"/>
              </a:lnSpc>
            </a:pPr>
            <a:r>
              <a:rPr sz="115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استقرار هدفمند اقلام تبلیغاتی در محیط</a:t>
            </a:r>
          </a:p>
        </p:txBody>
      </p:sp>
      <p:cxnSp>
        <p:nvCxnSpPr>
          <p:cNvPr id="55" name="Connector 54"/>
          <p:cNvCxnSpPr/>
          <p:nvPr/>
        </p:nvCxnSpPr>
        <p:spPr>
          <a:xfrm flipH="1">
            <a:off x="4498848" y="2331720"/>
            <a:ext cx="2770632" cy="0"/>
          </a:xfrm>
          <a:prstGeom prst="line">
            <a:avLst/>
          </a:prstGeom>
          <a:ln w="21590">
            <a:solidFill>
              <a:srgbClr val="B890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7315200" y="3035808"/>
            <a:ext cx="3986784" cy="10972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0844784" y="3392424"/>
            <a:ext cx="384048" cy="384048"/>
          </a:xfrm>
          <a:prstGeom prst="ellipse">
            <a:avLst/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844784" y="33741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00000"/>
              </a:lnSpc>
            </a:pPr>
            <a:r>
              <a:rPr sz="1200" b="1" lang="fa-IR" altLang="en-US" dirty="0">
                <a:solidFill>
                  <a:srgbClr val="FFFFFF"/>
                </a:solidFill>
                <a:latin typeface="B Titr"/>
                <a:ea typeface="B Titr"/>
                <a:cs typeface="B Titr"/>
              </a:rPr>
              <a:t>۲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98079" y="3035808"/>
            <a:ext cx="3200400" cy="10972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0000"/>
              </a:lnSpc>
            </a:pPr>
            <a:r>
              <a:rPr sz="115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سازماندهی و اثربخشی فعالیت‌های بازارپردازی</a:t>
            </a:r>
          </a:p>
        </p:txBody>
      </p:sp>
      <p:cxnSp>
        <p:nvCxnSpPr>
          <p:cNvPr id="60" name="Connector 59"/>
          <p:cNvCxnSpPr/>
          <p:nvPr/>
        </p:nvCxnSpPr>
        <p:spPr>
          <a:xfrm flipH="1">
            <a:off x="4498848" y="3584448"/>
            <a:ext cx="2770632" cy="0"/>
          </a:xfrm>
          <a:prstGeom prst="line">
            <a:avLst/>
          </a:prstGeom>
          <a:ln w="21590">
            <a:solidFill>
              <a:srgbClr val="B890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7315200" y="4288536"/>
            <a:ext cx="3986784" cy="10972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0844784" y="4645152"/>
            <a:ext cx="384048" cy="384048"/>
          </a:xfrm>
          <a:prstGeom prst="ellipse">
            <a:avLst/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844784" y="46268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00000"/>
              </a:lnSpc>
            </a:pPr>
            <a:r>
              <a:rPr sz="1200" b="1" lang="fa-IR" altLang="en-US" dirty="0">
                <a:solidFill>
                  <a:srgbClr val="FFFFFF"/>
                </a:solidFill>
                <a:latin typeface="B Titr"/>
                <a:ea typeface="B Titr"/>
                <a:cs typeface="B Titr"/>
              </a:rPr>
              <a:t>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98079" y="4288536"/>
            <a:ext cx="3200400" cy="10972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0000"/>
              </a:lnSpc>
            </a:pPr>
            <a:r>
              <a:rPr sz="115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نحوهٔ چیدمان و جانمایی بهینهٔ محصولات</a:t>
            </a:r>
          </a:p>
        </p:txBody>
      </p:sp>
      <p:cxnSp>
        <p:nvCxnSpPr>
          <p:cNvPr id="65" name="Connector 64"/>
          <p:cNvCxnSpPr/>
          <p:nvPr/>
        </p:nvCxnSpPr>
        <p:spPr>
          <a:xfrm flipH="1">
            <a:off x="4498848" y="4837176"/>
            <a:ext cx="2770632" cy="0"/>
          </a:xfrm>
          <a:prstGeom prst="line">
            <a:avLst/>
          </a:prstGeom>
          <a:ln w="21590">
            <a:solidFill>
              <a:srgbClr val="B890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1572768" y="5715000"/>
            <a:ext cx="972921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98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مدل مفهومی: اثر هم‌زمان سه مؤلفهٔ بازارپردازی بر میزان فروش.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704320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20624" y="548640"/>
            <a:ext cx="0" cy="5833872"/>
          </a:xfrm>
          <a:prstGeom prst="line">
            <a:avLst/>
          </a:prstGeom>
          <a:ln w="13970">
            <a:solidFill>
              <a:srgbClr val="DADF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20624" y="548640"/>
            <a:ext cx="0" cy="1962912"/>
          </a:xfrm>
          <a:prstGeom prst="line">
            <a:avLst/>
          </a:prstGeom>
          <a:ln w="21590">
            <a:solidFill>
              <a:srgbClr val="2E7D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372618" y="555498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512064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عنوان و معرفی</a:t>
            </a:r>
          </a:p>
        </p:txBody>
      </p:sp>
      <p:sp>
        <p:nvSpPr>
          <p:cNvPr id="7" name="Oval 6"/>
          <p:cNvSpPr/>
          <p:nvPr/>
        </p:nvSpPr>
        <p:spPr>
          <a:xfrm>
            <a:off x="372618" y="937107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89367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کلیات پژوهش</a:t>
            </a:r>
          </a:p>
        </p:txBody>
      </p:sp>
      <p:sp>
        <p:nvSpPr>
          <p:cNvPr id="9" name="Oval 8"/>
          <p:cNvSpPr/>
          <p:nvPr/>
        </p:nvSpPr>
        <p:spPr>
          <a:xfrm>
            <a:off x="372618" y="1318717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27528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بیان مسئله</a:t>
            </a:r>
          </a:p>
        </p:txBody>
      </p:sp>
      <p:sp>
        <p:nvSpPr>
          <p:cNvPr id="11" name="Oval 10"/>
          <p:cNvSpPr/>
          <p:nvPr/>
        </p:nvSpPr>
        <p:spPr>
          <a:xfrm>
            <a:off x="372618" y="1700326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65689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اهمیت و ضرورت</a:t>
            </a:r>
          </a:p>
        </p:txBody>
      </p:sp>
      <p:sp>
        <p:nvSpPr>
          <p:cNvPr id="13" name="Oval 12"/>
          <p:cNvSpPr/>
          <p:nvPr/>
        </p:nvSpPr>
        <p:spPr>
          <a:xfrm>
            <a:off x="372618" y="2081936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203850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اهداف و فرضیه‌ها</a:t>
            </a:r>
          </a:p>
        </p:txBody>
      </p:sp>
      <p:sp>
        <p:nvSpPr>
          <p:cNvPr id="15" name="Oval 14"/>
          <p:cNvSpPr/>
          <p:nvPr/>
        </p:nvSpPr>
        <p:spPr>
          <a:xfrm>
            <a:off x="324612" y="2415540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7D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9476" y="2470404"/>
            <a:ext cx="82296" cy="82296"/>
          </a:xfrm>
          <a:prstGeom prst="ellipse">
            <a:avLst/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2406396"/>
            <a:ext cx="960120" cy="2103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6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مبانی و پیشینه</a:t>
            </a:r>
          </a:p>
        </p:txBody>
      </p:sp>
      <p:sp>
        <p:nvSpPr>
          <p:cNvPr id="18" name="Oval 17"/>
          <p:cNvSpPr/>
          <p:nvPr/>
        </p:nvSpPr>
        <p:spPr>
          <a:xfrm>
            <a:off x="372618" y="2845155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2801721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روش‌شناسی</a:t>
            </a:r>
          </a:p>
        </p:txBody>
      </p:sp>
      <p:sp>
        <p:nvSpPr>
          <p:cNvPr id="20" name="Oval 19"/>
          <p:cNvSpPr/>
          <p:nvPr/>
        </p:nvSpPr>
        <p:spPr>
          <a:xfrm>
            <a:off x="372618" y="3226765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3183331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جامعه و نمونه</a:t>
            </a:r>
          </a:p>
        </p:txBody>
      </p:sp>
      <p:sp>
        <p:nvSpPr>
          <p:cNvPr id="22" name="Oval 21"/>
          <p:cNvSpPr/>
          <p:nvPr/>
        </p:nvSpPr>
        <p:spPr>
          <a:xfrm>
            <a:off x="372618" y="3608374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" y="356494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ابزار گردآوری</a:t>
            </a:r>
          </a:p>
        </p:txBody>
      </p:sp>
      <p:sp>
        <p:nvSpPr>
          <p:cNvPr id="24" name="Oval 23"/>
          <p:cNvSpPr/>
          <p:nvPr/>
        </p:nvSpPr>
        <p:spPr>
          <a:xfrm>
            <a:off x="372618" y="3989984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94655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یافته‌ها</a:t>
            </a:r>
          </a:p>
        </p:txBody>
      </p:sp>
      <p:sp>
        <p:nvSpPr>
          <p:cNvPr id="26" name="Oval 25"/>
          <p:cNvSpPr/>
          <p:nvPr/>
        </p:nvSpPr>
        <p:spPr>
          <a:xfrm>
            <a:off x="372618" y="4371594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504" y="432816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تحلیل و بحث</a:t>
            </a:r>
          </a:p>
        </p:txBody>
      </p:sp>
      <p:sp>
        <p:nvSpPr>
          <p:cNvPr id="28" name="Oval 27"/>
          <p:cNvSpPr/>
          <p:nvPr/>
        </p:nvSpPr>
        <p:spPr>
          <a:xfrm>
            <a:off x="372618" y="4753203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" y="470976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نتیجه‌گیری</a:t>
            </a:r>
          </a:p>
        </p:txBody>
      </p:sp>
      <p:sp>
        <p:nvSpPr>
          <p:cNvPr id="30" name="Oval 29"/>
          <p:cNvSpPr/>
          <p:nvPr/>
        </p:nvSpPr>
        <p:spPr>
          <a:xfrm>
            <a:off x="372618" y="5134813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509137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پیشنهادها</a:t>
            </a:r>
          </a:p>
        </p:txBody>
      </p:sp>
      <p:sp>
        <p:nvSpPr>
          <p:cNvPr id="32" name="Oval 31"/>
          <p:cNvSpPr/>
          <p:nvPr/>
        </p:nvSpPr>
        <p:spPr>
          <a:xfrm>
            <a:off x="372618" y="551642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504" y="547298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محدودیت‌ها</a:t>
            </a:r>
          </a:p>
        </p:txBody>
      </p:sp>
      <p:sp>
        <p:nvSpPr>
          <p:cNvPr id="34" name="Oval 33"/>
          <p:cNvSpPr/>
          <p:nvPr/>
        </p:nvSpPr>
        <p:spPr>
          <a:xfrm>
            <a:off x="372618" y="589803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504" y="585459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جمع‌بندی</a:t>
            </a:r>
          </a:p>
        </p:txBody>
      </p:sp>
      <p:sp>
        <p:nvSpPr>
          <p:cNvPr id="36" name="Oval 35"/>
          <p:cNvSpPr/>
          <p:nvPr/>
        </p:nvSpPr>
        <p:spPr>
          <a:xfrm>
            <a:off x="372618" y="627964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623620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تشکر و پاسخ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283696" y="329184"/>
            <a:ext cx="82296" cy="82296"/>
          </a:xfrm>
          <a:prstGeom prst="roundRect">
            <a:avLst>
              <a:gd name="adj" fmla="val 44444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572768" y="256032"/>
            <a:ext cx="9528047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بخش ۶  ·  مبانی نظری و پیشینه (۲)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2768" y="502920"/>
            <a:ext cx="9546336" cy="4754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05000"/>
              </a:lnSpc>
            </a:pPr>
            <a:r>
              <a:rPr sz="2400" b="1" lang="fa-IR" altLang="en-US" dirty="0">
                <a:solidFill>
                  <a:srgbClr val="0D2137"/>
                </a:solidFill>
                <a:latin typeface="B Titr"/>
                <a:ea typeface="B Titr"/>
                <a:cs typeface="B Titr"/>
              </a:rPr>
              <a:t>پیشینه و شکاف پژوهشی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10735056" y="1060704"/>
            <a:ext cx="566928" cy="0"/>
          </a:xfrm>
          <a:prstGeom prst="line">
            <a:avLst/>
          </a:prstGeom>
          <a:ln w="25400">
            <a:solidFill>
              <a:srgbClr val="B890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1572768" y="1060704"/>
            <a:ext cx="9089136" cy="0"/>
          </a:xfrm>
          <a:prstGeom prst="line">
            <a:avLst/>
          </a:prstGeom>
          <a:ln w="12700">
            <a:solidFill>
              <a:srgbClr val="DADF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920240" y="6510528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74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دانشگاه پیام نور واحد جویبار  ·  دانشکدهٔ مدیریت، اقتصاد و حسابداری  ·  دفاع از پایان‌نامهٔ کارشناسی ارشد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69880" y="6492240"/>
            <a:ext cx="832104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50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۹ / ۲۲</a:t>
            </a:r>
          </a:p>
        </p:txBody>
      </p:sp>
      <p:sp>
        <p:nvSpPr>
          <p:cNvPr id="45" name="Chevron 44"/>
          <p:cNvSpPr/>
          <p:nvPr/>
        </p:nvSpPr>
        <p:spPr>
          <a:xfrm flipH="1">
            <a:off x="8132063" y="1417320"/>
            <a:ext cx="3169919" cy="731520"/>
          </a:xfrm>
          <a:prstGeom prst="chevron">
            <a:avLst/>
          </a:prstGeom>
          <a:solidFill>
            <a:srgbClr val="EA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88095" y="1417320"/>
            <a:ext cx="2712719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85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گام ۱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06384" y="1572768"/>
            <a:ext cx="2639567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25000"/>
              </a:lnSpc>
            </a:pPr>
            <a:r>
              <a:rPr sz="960" b="0" lang="fa-IR" altLang="en-US" dirty="0">
                <a:solidFill>
                  <a:srgbClr val="0D2137"/>
                </a:solidFill>
                <a:latin typeface="B Zar"/>
                <a:ea typeface="B Zar"/>
                <a:cs typeface="B Zar"/>
              </a:rPr>
              <a:t>مفاهیم و مبانی نظری بازارپردازی</a:t>
            </a:r>
          </a:p>
        </p:txBody>
      </p:sp>
      <p:sp>
        <p:nvSpPr>
          <p:cNvPr id="48" name="Chevron 47"/>
          <p:cNvSpPr/>
          <p:nvPr/>
        </p:nvSpPr>
        <p:spPr>
          <a:xfrm flipH="1">
            <a:off x="4852416" y="1417320"/>
            <a:ext cx="3169919" cy="731520"/>
          </a:xfrm>
          <a:prstGeom prst="chevron">
            <a:avLst/>
          </a:prstGeom>
          <a:solidFill>
            <a:srgbClr val="EA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08448" y="1417320"/>
            <a:ext cx="2712719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85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گام ۲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26736" y="1572768"/>
            <a:ext cx="2639567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25000"/>
              </a:lnSpc>
            </a:pPr>
            <a:r>
              <a:rPr sz="960" b="0" lang="fa-IR" altLang="en-US" dirty="0">
                <a:solidFill>
                  <a:srgbClr val="0D2137"/>
                </a:solidFill>
                <a:latin typeface="B Zar"/>
                <a:ea typeface="B Zar"/>
                <a:cs typeface="B Zar"/>
              </a:rPr>
              <a:t>مطالعات تجربی پیشین (داخلی و خارجی)</a:t>
            </a:r>
          </a:p>
        </p:txBody>
      </p:sp>
      <p:sp>
        <p:nvSpPr>
          <p:cNvPr id="51" name="Chevron 50"/>
          <p:cNvSpPr/>
          <p:nvPr/>
        </p:nvSpPr>
        <p:spPr>
          <a:xfrm flipH="1">
            <a:off x="1572768" y="1417320"/>
            <a:ext cx="3169919" cy="731520"/>
          </a:xfrm>
          <a:prstGeom prst="chevron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828800" y="1417320"/>
            <a:ext cx="2712719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850" b="0" lang="fa-IR" altLang="en-US" dirty="0">
                <a:solidFill>
                  <a:srgbClr val="D6B878"/>
                </a:solidFill>
                <a:latin typeface="B Lotus"/>
                <a:ea typeface="B Lotus"/>
                <a:cs typeface="B Lotus"/>
              </a:rPr>
              <a:t>گام 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47088" y="1572768"/>
            <a:ext cx="2639567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25000"/>
              </a:lnSpc>
            </a:pPr>
            <a:r>
              <a:rPr sz="960" b="0" lang="fa-IR" altLang="en-US" dirty="0">
                <a:solidFill>
                  <a:srgbClr val="FFFFFF"/>
                </a:solidFill>
                <a:latin typeface="B Zar"/>
                <a:ea typeface="B Zar"/>
                <a:cs typeface="B Zar"/>
              </a:rPr>
              <a:t>مدل مفهومی پژوهش حاضر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564624" y="2395728"/>
            <a:ext cx="1737360" cy="402336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19488" y="2395728"/>
            <a:ext cx="1627631" cy="4023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80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پژوهشگر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787384" y="2395728"/>
            <a:ext cx="777240" cy="402336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42248" y="2395728"/>
            <a:ext cx="667512" cy="4023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80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سال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867144" y="2395728"/>
            <a:ext cx="1920240" cy="402336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22007" y="2395728"/>
            <a:ext cx="1810512" cy="4023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80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جامعه / صنعت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849624" y="2395728"/>
            <a:ext cx="3017520" cy="402336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904487" y="2395728"/>
            <a:ext cx="2907791" cy="4023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80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یافتهٔ کلیدی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572767" y="2395728"/>
            <a:ext cx="2276856" cy="402336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1" y="2395728"/>
            <a:ext cx="2167128" cy="4023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80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هم‌خوانی با پژوهش حاضر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564624" y="2798064"/>
            <a:ext cx="17373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787384" y="2798064"/>
            <a:ext cx="777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867144" y="2798064"/>
            <a:ext cx="1920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849624" y="2798064"/>
            <a:ext cx="3017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941063" y="2798064"/>
            <a:ext cx="2834639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880" b="0" lang="fa-IR" altLang="en-US" dirty="0">
                <a:solidFill>
                  <a:srgbClr val="A58C5F"/>
                </a:solidFill>
                <a:latin typeface="B Zar"/>
                <a:ea typeface="B Zar"/>
                <a:cs typeface="B Zar"/>
              </a:rPr>
              <a:t>[یافتهٔ کلیدی از منبع درج شود]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572767" y="2798064"/>
            <a:ext cx="2276856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664207" y="2798064"/>
            <a:ext cx="2093976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880" b="0" lang="fa-IR" altLang="en-US" dirty="0">
                <a:solidFill>
                  <a:srgbClr val="A58C5F"/>
                </a:solidFill>
                <a:latin typeface="B Zar"/>
                <a:ea typeface="B Zar"/>
                <a:cs typeface="B Zar"/>
              </a:rPr>
              <a:t>[مقایسه شود]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564624" y="3364992"/>
            <a:ext cx="1737360" cy="566928"/>
          </a:xfrm>
          <a:prstGeom prst="rect">
            <a:avLst/>
          </a:prstGeom>
          <a:solidFill>
            <a:srgbClr val="F8F9FA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787384" y="3364992"/>
            <a:ext cx="777240" cy="566928"/>
          </a:xfrm>
          <a:prstGeom prst="rect">
            <a:avLst/>
          </a:prstGeom>
          <a:solidFill>
            <a:srgbClr val="F8F9FA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867144" y="3364992"/>
            <a:ext cx="1920240" cy="566928"/>
          </a:xfrm>
          <a:prstGeom prst="rect">
            <a:avLst/>
          </a:prstGeom>
          <a:solidFill>
            <a:srgbClr val="F8F9FA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849624" y="3364992"/>
            <a:ext cx="3017520" cy="566928"/>
          </a:xfrm>
          <a:prstGeom prst="rect">
            <a:avLst/>
          </a:prstGeom>
          <a:solidFill>
            <a:srgbClr val="F8F9FA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941063" y="3364992"/>
            <a:ext cx="2834639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880" b="0" lang="fa-IR" altLang="en-US" dirty="0">
                <a:solidFill>
                  <a:srgbClr val="A58C5F"/>
                </a:solidFill>
                <a:latin typeface="B Zar"/>
                <a:ea typeface="B Zar"/>
                <a:cs typeface="B Zar"/>
              </a:rPr>
              <a:t>[یافتهٔ کلیدی از منبع درج شود]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572767" y="3364992"/>
            <a:ext cx="2276856" cy="566928"/>
          </a:xfrm>
          <a:prstGeom prst="rect">
            <a:avLst/>
          </a:prstGeom>
          <a:solidFill>
            <a:srgbClr val="F8F9FA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664207" y="3364992"/>
            <a:ext cx="2093976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880" b="0" lang="fa-IR" altLang="en-US" dirty="0">
                <a:solidFill>
                  <a:srgbClr val="A58C5F"/>
                </a:solidFill>
                <a:latin typeface="B Zar"/>
                <a:ea typeface="B Zar"/>
                <a:cs typeface="B Zar"/>
              </a:rPr>
              <a:t>[مقایسه شود]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564624" y="3931920"/>
            <a:ext cx="17373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787384" y="3931920"/>
            <a:ext cx="777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867144" y="3931920"/>
            <a:ext cx="1920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849624" y="3931920"/>
            <a:ext cx="3017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941063" y="3931920"/>
            <a:ext cx="2834639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880" b="0" lang="fa-IR" altLang="en-US" dirty="0">
                <a:solidFill>
                  <a:srgbClr val="A58C5F"/>
                </a:solidFill>
                <a:latin typeface="B Zar"/>
                <a:ea typeface="B Zar"/>
                <a:cs typeface="B Zar"/>
              </a:rPr>
              <a:t>[یافتهٔ کلیدی از منبع درج شود]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572767" y="3931920"/>
            <a:ext cx="2276856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64207" y="3931920"/>
            <a:ext cx="2093976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880" b="0" lang="fa-IR" altLang="en-US" dirty="0">
                <a:solidFill>
                  <a:srgbClr val="A58C5F"/>
                </a:solidFill>
                <a:latin typeface="B Zar"/>
                <a:ea typeface="B Zar"/>
                <a:cs typeface="B Zar"/>
              </a:rPr>
              <a:t>[مقایسه شود]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572768" y="4590288"/>
            <a:ext cx="9729215" cy="1572768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9820655" y="4754880"/>
            <a:ext cx="1298448" cy="292608"/>
          </a:xfrm>
          <a:prstGeom prst="roundRect">
            <a:avLst>
              <a:gd name="adj" fmla="val 50000"/>
            </a:avLst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820655" y="4754880"/>
            <a:ext cx="129844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10000"/>
              </a:lnSpc>
            </a:pPr>
            <a:r>
              <a:rPr sz="950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شکاف پژوهشی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92807" y="5138928"/>
            <a:ext cx="7808975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0000"/>
              </a:lnSpc>
            </a:pPr>
            <a:r>
              <a:rPr sz="112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این پژوهش هر سه مؤلفهٔ بازارپردازی را به‌صورت هم‌زمان در فروشگاه‌های لوازم خانگی شرکت دوو در اهواز می‌سنجد.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892807" y="5632704"/>
            <a:ext cx="9089136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2000"/>
              </a:lnSpc>
            </a:pPr>
            <a:r>
              <a:rPr sz="980" b="0" lang="fa-IR" altLang="en-US" dirty="0">
                <a:solidFill>
                  <a:srgbClr val="8A6628"/>
                </a:solidFill>
                <a:latin typeface="B Zar"/>
                <a:ea typeface="B Zar"/>
                <a:cs typeface="B Zar"/>
              </a:rPr>
              <a:t>[جملهٔ دقیق شکاف پژوهشی، بر اساس مرور منابع فصل ۲ درج شود]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704320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20624" y="548640"/>
            <a:ext cx="0" cy="5833872"/>
          </a:xfrm>
          <a:prstGeom prst="line">
            <a:avLst/>
          </a:prstGeom>
          <a:ln w="13970">
            <a:solidFill>
              <a:srgbClr val="DADF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20624" y="548640"/>
            <a:ext cx="0" cy="2344521"/>
          </a:xfrm>
          <a:prstGeom prst="line">
            <a:avLst/>
          </a:prstGeom>
          <a:ln w="21590">
            <a:solidFill>
              <a:srgbClr val="2E7D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372618" y="555498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512064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عنوان و معرفی</a:t>
            </a:r>
          </a:p>
        </p:txBody>
      </p:sp>
      <p:sp>
        <p:nvSpPr>
          <p:cNvPr id="7" name="Oval 6"/>
          <p:cNvSpPr/>
          <p:nvPr/>
        </p:nvSpPr>
        <p:spPr>
          <a:xfrm>
            <a:off x="372618" y="937107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89367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کلیات پژوهش</a:t>
            </a:r>
          </a:p>
        </p:txBody>
      </p:sp>
      <p:sp>
        <p:nvSpPr>
          <p:cNvPr id="9" name="Oval 8"/>
          <p:cNvSpPr/>
          <p:nvPr/>
        </p:nvSpPr>
        <p:spPr>
          <a:xfrm>
            <a:off x="372618" y="1318717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27528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بیان مسئله</a:t>
            </a:r>
          </a:p>
        </p:txBody>
      </p:sp>
      <p:sp>
        <p:nvSpPr>
          <p:cNvPr id="11" name="Oval 10"/>
          <p:cNvSpPr/>
          <p:nvPr/>
        </p:nvSpPr>
        <p:spPr>
          <a:xfrm>
            <a:off x="372618" y="1700326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65689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اهمیت و ضرورت</a:t>
            </a:r>
          </a:p>
        </p:txBody>
      </p:sp>
      <p:sp>
        <p:nvSpPr>
          <p:cNvPr id="13" name="Oval 12"/>
          <p:cNvSpPr/>
          <p:nvPr/>
        </p:nvSpPr>
        <p:spPr>
          <a:xfrm>
            <a:off x="372618" y="2081936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203850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اهداف و فرضیه‌ها</a:t>
            </a:r>
          </a:p>
        </p:txBody>
      </p:sp>
      <p:sp>
        <p:nvSpPr>
          <p:cNvPr id="15" name="Oval 14"/>
          <p:cNvSpPr/>
          <p:nvPr/>
        </p:nvSpPr>
        <p:spPr>
          <a:xfrm>
            <a:off x="372618" y="2463546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242011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مبانی و پیشینه</a:t>
            </a:r>
          </a:p>
        </p:txBody>
      </p:sp>
      <p:sp>
        <p:nvSpPr>
          <p:cNvPr id="17" name="Oval 16"/>
          <p:cNvSpPr/>
          <p:nvPr/>
        </p:nvSpPr>
        <p:spPr>
          <a:xfrm>
            <a:off x="324612" y="2797149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7D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79476" y="2852013"/>
            <a:ext cx="82296" cy="82296"/>
          </a:xfrm>
          <a:prstGeom prst="ellipse">
            <a:avLst/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2788005"/>
            <a:ext cx="960120" cy="2103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6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روش‌شناسی</a:t>
            </a:r>
          </a:p>
        </p:txBody>
      </p:sp>
      <p:sp>
        <p:nvSpPr>
          <p:cNvPr id="20" name="Oval 19"/>
          <p:cNvSpPr/>
          <p:nvPr/>
        </p:nvSpPr>
        <p:spPr>
          <a:xfrm>
            <a:off x="372618" y="3226765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3183331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جامعه و نمونه</a:t>
            </a:r>
          </a:p>
        </p:txBody>
      </p:sp>
      <p:sp>
        <p:nvSpPr>
          <p:cNvPr id="22" name="Oval 21"/>
          <p:cNvSpPr/>
          <p:nvPr/>
        </p:nvSpPr>
        <p:spPr>
          <a:xfrm>
            <a:off x="372618" y="3608374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" y="356494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ابزار گردآوری</a:t>
            </a:r>
          </a:p>
        </p:txBody>
      </p:sp>
      <p:sp>
        <p:nvSpPr>
          <p:cNvPr id="24" name="Oval 23"/>
          <p:cNvSpPr/>
          <p:nvPr/>
        </p:nvSpPr>
        <p:spPr>
          <a:xfrm>
            <a:off x="372618" y="3989984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94655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یافته‌ها</a:t>
            </a:r>
          </a:p>
        </p:txBody>
      </p:sp>
      <p:sp>
        <p:nvSpPr>
          <p:cNvPr id="26" name="Oval 25"/>
          <p:cNvSpPr/>
          <p:nvPr/>
        </p:nvSpPr>
        <p:spPr>
          <a:xfrm>
            <a:off x="372618" y="4371594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504" y="432816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تحلیل و بحث</a:t>
            </a:r>
          </a:p>
        </p:txBody>
      </p:sp>
      <p:sp>
        <p:nvSpPr>
          <p:cNvPr id="28" name="Oval 27"/>
          <p:cNvSpPr/>
          <p:nvPr/>
        </p:nvSpPr>
        <p:spPr>
          <a:xfrm>
            <a:off x="372618" y="4753203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" y="470976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نتیجه‌گیری</a:t>
            </a:r>
          </a:p>
        </p:txBody>
      </p:sp>
      <p:sp>
        <p:nvSpPr>
          <p:cNvPr id="30" name="Oval 29"/>
          <p:cNvSpPr/>
          <p:nvPr/>
        </p:nvSpPr>
        <p:spPr>
          <a:xfrm>
            <a:off x="372618" y="5134813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509137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پیشنهادها</a:t>
            </a:r>
          </a:p>
        </p:txBody>
      </p:sp>
      <p:sp>
        <p:nvSpPr>
          <p:cNvPr id="32" name="Oval 31"/>
          <p:cNvSpPr/>
          <p:nvPr/>
        </p:nvSpPr>
        <p:spPr>
          <a:xfrm>
            <a:off x="372618" y="551642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504" y="547298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محدودیت‌ها</a:t>
            </a:r>
          </a:p>
        </p:txBody>
      </p:sp>
      <p:sp>
        <p:nvSpPr>
          <p:cNvPr id="34" name="Oval 33"/>
          <p:cNvSpPr/>
          <p:nvPr/>
        </p:nvSpPr>
        <p:spPr>
          <a:xfrm>
            <a:off x="372618" y="589803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504" y="585459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جمع‌بندی</a:t>
            </a:r>
          </a:p>
        </p:txBody>
      </p:sp>
      <p:sp>
        <p:nvSpPr>
          <p:cNvPr id="36" name="Oval 35"/>
          <p:cNvSpPr/>
          <p:nvPr/>
        </p:nvSpPr>
        <p:spPr>
          <a:xfrm>
            <a:off x="372618" y="627964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623620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تشکر و پاسخ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283696" y="329184"/>
            <a:ext cx="82296" cy="82296"/>
          </a:xfrm>
          <a:prstGeom prst="roundRect">
            <a:avLst>
              <a:gd name="adj" fmla="val 44444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572768" y="256032"/>
            <a:ext cx="9528047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بخش ۷  ·  روش‌شناسی پژوهش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2768" y="502920"/>
            <a:ext cx="9546336" cy="4754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05000"/>
              </a:lnSpc>
            </a:pPr>
            <a:r>
              <a:rPr sz="2400" b="1" lang="fa-IR" altLang="en-US" dirty="0">
                <a:solidFill>
                  <a:srgbClr val="0D2137"/>
                </a:solidFill>
                <a:latin typeface="B Titr"/>
                <a:ea typeface="B Titr"/>
                <a:cs typeface="B Titr"/>
              </a:rPr>
              <a:t>طرح کلی و روش تحقیق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10735056" y="1060704"/>
            <a:ext cx="566928" cy="0"/>
          </a:xfrm>
          <a:prstGeom prst="line">
            <a:avLst/>
          </a:prstGeom>
          <a:ln w="25400">
            <a:solidFill>
              <a:srgbClr val="B890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1572768" y="1060704"/>
            <a:ext cx="9089136" cy="0"/>
          </a:xfrm>
          <a:prstGeom prst="line">
            <a:avLst/>
          </a:prstGeom>
          <a:ln w="12700">
            <a:solidFill>
              <a:srgbClr val="DADF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920240" y="6510528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74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دانشگاه پیام نور واحد جویبار  ·  دانشکدهٔ مدیریت، اقتصاد و حسابداری  ·  دفاع از پایان‌نامهٔ کارشناسی ارشد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69880" y="6492240"/>
            <a:ext cx="832104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50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۱۰ / ۲۲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180832" y="1417320"/>
            <a:ext cx="3121151" cy="896112"/>
          </a:xfrm>
          <a:prstGeom prst="roundRect">
            <a:avLst>
              <a:gd name="adj" fmla="val 24489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90560" y="1536192"/>
            <a:ext cx="2901695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95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نوع پژوهش از نظر هدف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90560" y="1792224"/>
            <a:ext cx="2901695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1350" b="1" lang="fa-IR" altLang="en-US" dirty="0">
                <a:solidFill>
                  <a:srgbClr val="0D2137"/>
                </a:solidFill>
                <a:latin typeface="B Titr"/>
                <a:ea typeface="B Titr"/>
                <a:cs typeface="B Titr"/>
              </a:rPr>
              <a:t>کاربردی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876800" y="1417320"/>
            <a:ext cx="3121151" cy="896112"/>
          </a:xfrm>
          <a:prstGeom prst="roundRect">
            <a:avLst>
              <a:gd name="adj" fmla="val 24489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986528" y="1536192"/>
            <a:ext cx="2901695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95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روش گردآوری داده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86528" y="1792224"/>
            <a:ext cx="2901695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1350" b="1" lang="fa-IR" altLang="en-US" dirty="0">
                <a:solidFill>
                  <a:srgbClr val="0D2137"/>
                </a:solidFill>
                <a:latin typeface="B Titr"/>
                <a:ea typeface="B Titr"/>
                <a:cs typeface="B Titr"/>
              </a:rPr>
              <a:t>توصیفی از نوع همبستگی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572768" y="1417320"/>
            <a:ext cx="3121151" cy="896112"/>
          </a:xfrm>
          <a:prstGeom prst="roundRect">
            <a:avLst>
              <a:gd name="adj" fmla="val 24489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682496" y="1536192"/>
            <a:ext cx="2901695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95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ابزار تحلیل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82496" y="1792224"/>
            <a:ext cx="2901695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1350" b="1" lang="fa-IR" altLang="en-US" dirty="0">
                <a:solidFill>
                  <a:srgbClr val="0D2137"/>
                </a:solidFill>
                <a:latin typeface="B Titr"/>
                <a:ea typeface="B Titr"/>
                <a:cs typeface="B Titr"/>
              </a:rPr>
              <a:t>نرم‌افزار SPSS</a:t>
            </a:r>
          </a:p>
        </p:txBody>
      </p:sp>
      <p:sp>
        <p:nvSpPr>
          <p:cNvPr id="54" name="Chevron 53"/>
          <p:cNvSpPr/>
          <p:nvPr/>
        </p:nvSpPr>
        <p:spPr>
          <a:xfrm flipH="1">
            <a:off x="9429292" y="2542032"/>
            <a:ext cx="1872691" cy="932688"/>
          </a:xfrm>
          <a:prstGeom prst="chevron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12172" y="2651760"/>
            <a:ext cx="1488643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850" b="0" lang="fa-IR" altLang="en-US" dirty="0">
                <a:solidFill>
                  <a:srgbClr val="D6B878"/>
                </a:solidFill>
                <a:latin typeface="B Lotus"/>
                <a:ea typeface="B Lotus"/>
                <a:cs typeface="B Lotus"/>
              </a:rPr>
              <a:t>گام ۱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67036" y="2852928"/>
            <a:ext cx="1369771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25000"/>
              </a:lnSpc>
            </a:pPr>
            <a:r>
              <a:rPr sz="919" b="0" lang="fa-IR" altLang="en-US" dirty="0">
                <a:solidFill>
                  <a:srgbClr val="FFFFFF"/>
                </a:solidFill>
                <a:latin typeface="B Zar"/>
                <a:ea typeface="B Zar"/>
                <a:cs typeface="B Zar"/>
              </a:rPr>
              <a:t>تعریف متغیرها و مدل</a:t>
            </a:r>
          </a:p>
        </p:txBody>
      </p:sp>
      <p:sp>
        <p:nvSpPr>
          <p:cNvPr id="57" name="Chevron 56"/>
          <p:cNvSpPr/>
          <p:nvPr/>
        </p:nvSpPr>
        <p:spPr>
          <a:xfrm flipH="1">
            <a:off x="7465161" y="2542032"/>
            <a:ext cx="1872691" cy="932688"/>
          </a:xfrm>
          <a:prstGeom prst="chevron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648041" y="2651760"/>
            <a:ext cx="1488643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850" b="0" lang="fa-IR" altLang="en-US" dirty="0">
                <a:solidFill>
                  <a:srgbClr val="D6B878"/>
                </a:solidFill>
                <a:latin typeface="B Lotus"/>
                <a:ea typeface="B Lotus"/>
                <a:cs typeface="B Lotus"/>
              </a:rPr>
              <a:t>گام ۲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02905" y="2852928"/>
            <a:ext cx="1369771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25000"/>
              </a:lnSpc>
            </a:pPr>
            <a:r>
              <a:rPr sz="919" b="0" lang="fa-IR" altLang="en-US" dirty="0">
                <a:solidFill>
                  <a:srgbClr val="FFFFFF"/>
                </a:solidFill>
                <a:latin typeface="B Zar"/>
                <a:ea typeface="B Zar"/>
                <a:cs typeface="B Zar"/>
              </a:rPr>
              <a:t>تأیید روایی پرسشنامه</a:t>
            </a:r>
          </a:p>
        </p:txBody>
      </p:sp>
      <p:sp>
        <p:nvSpPr>
          <p:cNvPr id="60" name="Chevron 59"/>
          <p:cNvSpPr/>
          <p:nvPr/>
        </p:nvSpPr>
        <p:spPr>
          <a:xfrm flipH="1">
            <a:off x="5501030" y="2542032"/>
            <a:ext cx="1872691" cy="932688"/>
          </a:xfrm>
          <a:prstGeom prst="chevron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83910" y="2651760"/>
            <a:ext cx="1488643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850" b="0" lang="fa-IR" altLang="en-US" dirty="0">
                <a:solidFill>
                  <a:srgbClr val="D6B878"/>
                </a:solidFill>
                <a:latin typeface="B Lotus"/>
                <a:ea typeface="B Lotus"/>
                <a:cs typeface="B Lotus"/>
              </a:rPr>
              <a:t>گام 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738774" y="2852928"/>
            <a:ext cx="1369771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25000"/>
              </a:lnSpc>
            </a:pPr>
            <a:r>
              <a:rPr sz="919" b="0" lang="fa-IR" altLang="en-US" dirty="0">
                <a:solidFill>
                  <a:srgbClr val="FFFFFF"/>
                </a:solidFill>
                <a:latin typeface="B Zar"/>
                <a:ea typeface="B Zar"/>
                <a:cs typeface="B Zar"/>
              </a:rPr>
              <a:t>توزیع ۱۵۰ پرسشنامه</a:t>
            </a:r>
          </a:p>
        </p:txBody>
      </p:sp>
      <p:sp>
        <p:nvSpPr>
          <p:cNvPr id="63" name="Chevron 62"/>
          <p:cNvSpPr/>
          <p:nvPr/>
        </p:nvSpPr>
        <p:spPr>
          <a:xfrm flipH="1">
            <a:off x="3536899" y="2542032"/>
            <a:ext cx="1872691" cy="932688"/>
          </a:xfrm>
          <a:prstGeom prst="chevron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719779" y="2651760"/>
            <a:ext cx="1488643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850" b="0" lang="fa-IR" altLang="en-US" dirty="0">
                <a:solidFill>
                  <a:srgbClr val="D6B878"/>
                </a:solidFill>
                <a:latin typeface="B Lotus"/>
                <a:ea typeface="B Lotus"/>
                <a:cs typeface="B Lotus"/>
              </a:rPr>
              <a:t>گام 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774643" y="2852928"/>
            <a:ext cx="1369771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25000"/>
              </a:lnSpc>
            </a:pPr>
            <a:r>
              <a:rPr sz="919" b="0" lang="fa-IR" altLang="en-US" dirty="0">
                <a:solidFill>
                  <a:srgbClr val="FFFFFF"/>
                </a:solidFill>
                <a:latin typeface="B Zar"/>
                <a:ea typeface="B Zar"/>
                <a:cs typeface="B Zar"/>
              </a:rPr>
              <a:t>پایایی (آلفای کرونباخ)</a:t>
            </a:r>
          </a:p>
        </p:txBody>
      </p:sp>
      <p:sp>
        <p:nvSpPr>
          <p:cNvPr id="66" name="Chevron 65"/>
          <p:cNvSpPr/>
          <p:nvPr/>
        </p:nvSpPr>
        <p:spPr>
          <a:xfrm flipH="1">
            <a:off x="1572768" y="2542032"/>
            <a:ext cx="1872691" cy="932688"/>
          </a:xfrm>
          <a:prstGeom prst="chevron">
            <a:avLst/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755648" y="2651760"/>
            <a:ext cx="1488643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850" b="0" lang="fa-IR" altLang="en-US" dirty="0">
                <a:solidFill>
                  <a:srgbClr val="D6B878"/>
                </a:solidFill>
                <a:latin typeface="B Lotus"/>
                <a:ea typeface="B Lotus"/>
                <a:cs typeface="B Lotus"/>
              </a:rPr>
              <a:t>گام ۵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10512" y="2852928"/>
            <a:ext cx="1369771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25000"/>
              </a:lnSpc>
            </a:pPr>
            <a:r>
              <a:rPr sz="919" b="0" lang="fa-IR" altLang="en-US" dirty="0">
                <a:solidFill>
                  <a:srgbClr val="FFFFFF"/>
                </a:solidFill>
                <a:latin typeface="B Zar"/>
                <a:ea typeface="B Zar"/>
                <a:cs typeface="B Zar"/>
              </a:rPr>
              <a:t>آزمون K-S و اسپیرمن</a:t>
            </a:r>
          </a:p>
        </p:txBody>
      </p:sp>
      <p:pic>
        <p:nvPicPr>
          <p:cNvPr id="69" name="Picture 68" descr="c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3749039"/>
            <a:ext cx="4069080" cy="2395728"/>
          </a:xfrm>
          <a:prstGeom prst="rect">
            <a:avLst/>
          </a:prstGeom>
        </p:spPr>
      </p:pic>
      <p:sp>
        <p:nvSpPr>
          <p:cNvPr id="70" name="Rounded Rectangle 69"/>
          <p:cNvSpPr/>
          <p:nvPr/>
        </p:nvSpPr>
        <p:spPr>
          <a:xfrm>
            <a:off x="5989320" y="3749039"/>
            <a:ext cx="5312664" cy="2395728"/>
          </a:xfrm>
          <a:prstGeom prst="roundRect">
            <a:avLst>
              <a:gd name="adj" fmla="val 9160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63640" y="39319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2000"/>
              </a:lnSpc>
            </a:pPr>
            <a:r>
              <a:rPr sz="1250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مسیر تجزیه‌وتحلیل داده‌ها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1064240" y="4384548"/>
            <a:ext cx="77724" cy="77724"/>
          </a:xfrm>
          <a:prstGeom prst="roundRect">
            <a:avLst>
              <a:gd name="adj" fmla="val 47058"/>
            </a:avLst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263640" y="431596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30000"/>
              </a:lnSpc>
            </a:pPr>
            <a:r>
              <a:rPr sz="1019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بررسی نرمال بودن توزیع داده‌ها با آزمون کولموگروف–اسمیرنوف.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1064240" y="4832604"/>
            <a:ext cx="77724" cy="77724"/>
          </a:xfrm>
          <a:prstGeom prst="roundRect">
            <a:avLst>
              <a:gd name="adj" fmla="val 47058"/>
            </a:avLst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63640" y="4764024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30000"/>
              </a:lnSpc>
            </a:pPr>
            <a:r>
              <a:rPr sz="1019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نتایج آزمون K-S از نرمال بودن همهٔ مؤلفه‌ها حکایت داشت.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1064240" y="5280660"/>
            <a:ext cx="77724" cy="77724"/>
          </a:xfrm>
          <a:prstGeom prst="roundRect">
            <a:avLst>
              <a:gd name="adj" fmla="val 47058"/>
            </a:avLst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263640" y="521208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30000"/>
              </a:lnSpc>
            </a:pPr>
            <a:r>
              <a:rPr sz="1019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آزمون فرضیه‌ها با محاسبهٔ ضریب همبستگی اسپیرمن در SPSS.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1064240" y="5728716"/>
            <a:ext cx="77724" cy="77724"/>
          </a:xfrm>
          <a:prstGeom prst="roundRect">
            <a:avLst>
              <a:gd name="adj" fmla="val 47058"/>
            </a:avLst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263640" y="5660136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30000"/>
              </a:lnSpc>
            </a:pPr>
            <a:r>
              <a:rPr sz="1019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قضاوت دربارهٔ فرضیه‌ها بر اساس سطح معناداری به‌دست‌آمده.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704320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20624" y="548640"/>
            <a:ext cx="0" cy="5833872"/>
          </a:xfrm>
          <a:prstGeom prst="line">
            <a:avLst/>
          </a:prstGeom>
          <a:ln w="13970">
            <a:solidFill>
              <a:srgbClr val="DADF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20624" y="548640"/>
            <a:ext cx="0" cy="2726131"/>
          </a:xfrm>
          <a:prstGeom prst="line">
            <a:avLst/>
          </a:prstGeom>
          <a:ln w="21590">
            <a:solidFill>
              <a:srgbClr val="2E7D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372618" y="555498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512064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عنوان و معرفی</a:t>
            </a:r>
          </a:p>
        </p:txBody>
      </p:sp>
      <p:sp>
        <p:nvSpPr>
          <p:cNvPr id="7" name="Oval 6"/>
          <p:cNvSpPr/>
          <p:nvPr/>
        </p:nvSpPr>
        <p:spPr>
          <a:xfrm>
            <a:off x="372618" y="937107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89367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کلیات پژوهش</a:t>
            </a:r>
          </a:p>
        </p:txBody>
      </p:sp>
      <p:sp>
        <p:nvSpPr>
          <p:cNvPr id="9" name="Oval 8"/>
          <p:cNvSpPr/>
          <p:nvPr/>
        </p:nvSpPr>
        <p:spPr>
          <a:xfrm>
            <a:off x="372618" y="1318717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27528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بیان مسئله</a:t>
            </a:r>
          </a:p>
        </p:txBody>
      </p:sp>
      <p:sp>
        <p:nvSpPr>
          <p:cNvPr id="11" name="Oval 10"/>
          <p:cNvSpPr/>
          <p:nvPr/>
        </p:nvSpPr>
        <p:spPr>
          <a:xfrm>
            <a:off x="372618" y="1700326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65689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اهمیت و ضرورت</a:t>
            </a:r>
          </a:p>
        </p:txBody>
      </p:sp>
      <p:sp>
        <p:nvSpPr>
          <p:cNvPr id="13" name="Oval 12"/>
          <p:cNvSpPr/>
          <p:nvPr/>
        </p:nvSpPr>
        <p:spPr>
          <a:xfrm>
            <a:off x="372618" y="2081936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203850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اهداف و فرضیه‌ها</a:t>
            </a:r>
          </a:p>
        </p:txBody>
      </p:sp>
      <p:sp>
        <p:nvSpPr>
          <p:cNvPr id="15" name="Oval 14"/>
          <p:cNvSpPr/>
          <p:nvPr/>
        </p:nvSpPr>
        <p:spPr>
          <a:xfrm>
            <a:off x="372618" y="2463546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242011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مبانی و پیشینه</a:t>
            </a:r>
          </a:p>
        </p:txBody>
      </p:sp>
      <p:sp>
        <p:nvSpPr>
          <p:cNvPr id="17" name="Oval 16"/>
          <p:cNvSpPr/>
          <p:nvPr/>
        </p:nvSpPr>
        <p:spPr>
          <a:xfrm>
            <a:off x="372618" y="2845155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2801721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روش‌شناسی</a:t>
            </a:r>
          </a:p>
        </p:txBody>
      </p:sp>
      <p:sp>
        <p:nvSpPr>
          <p:cNvPr id="19" name="Oval 18"/>
          <p:cNvSpPr/>
          <p:nvPr/>
        </p:nvSpPr>
        <p:spPr>
          <a:xfrm>
            <a:off x="324612" y="3178759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7D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79476" y="3233623"/>
            <a:ext cx="82296" cy="82296"/>
          </a:xfrm>
          <a:prstGeom prst="ellipse">
            <a:avLst/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3169615"/>
            <a:ext cx="960120" cy="2103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6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جامعه و نمونه</a:t>
            </a:r>
          </a:p>
        </p:txBody>
      </p:sp>
      <p:sp>
        <p:nvSpPr>
          <p:cNvPr id="22" name="Oval 21"/>
          <p:cNvSpPr/>
          <p:nvPr/>
        </p:nvSpPr>
        <p:spPr>
          <a:xfrm>
            <a:off x="372618" y="3608374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" y="356494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ابزار گردآوری</a:t>
            </a:r>
          </a:p>
        </p:txBody>
      </p:sp>
      <p:sp>
        <p:nvSpPr>
          <p:cNvPr id="24" name="Oval 23"/>
          <p:cNvSpPr/>
          <p:nvPr/>
        </p:nvSpPr>
        <p:spPr>
          <a:xfrm>
            <a:off x="372618" y="3989984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94655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یافته‌ها</a:t>
            </a:r>
          </a:p>
        </p:txBody>
      </p:sp>
      <p:sp>
        <p:nvSpPr>
          <p:cNvPr id="26" name="Oval 25"/>
          <p:cNvSpPr/>
          <p:nvPr/>
        </p:nvSpPr>
        <p:spPr>
          <a:xfrm>
            <a:off x="372618" y="4371594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504" y="432816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تحلیل و بحث</a:t>
            </a:r>
          </a:p>
        </p:txBody>
      </p:sp>
      <p:sp>
        <p:nvSpPr>
          <p:cNvPr id="28" name="Oval 27"/>
          <p:cNvSpPr/>
          <p:nvPr/>
        </p:nvSpPr>
        <p:spPr>
          <a:xfrm>
            <a:off x="372618" y="4753203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" y="470976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نتیجه‌گیری</a:t>
            </a:r>
          </a:p>
        </p:txBody>
      </p:sp>
      <p:sp>
        <p:nvSpPr>
          <p:cNvPr id="30" name="Oval 29"/>
          <p:cNvSpPr/>
          <p:nvPr/>
        </p:nvSpPr>
        <p:spPr>
          <a:xfrm>
            <a:off x="372618" y="5134813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509137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پیشنهادها</a:t>
            </a:r>
          </a:p>
        </p:txBody>
      </p:sp>
      <p:sp>
        <p:nvSpPr>
          <p:cNvPr id="32" name="Oval 31"/>
          <p:cNvSpPr/>
          <p:nvPr/>
        </p:nvSpPr>
        <p:spPr>
          <a:xfrm>
            <a:off x="372618" y="551642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504" y="547298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محدودیت‌ها</a:t>
            </a:r>
          </a:p>
        </p:txBody>
      </p:sp>
      <p:sp>
        <p:nvSpPr>
          <p:cNvPr id="34" name="Oval 33"/>
          <p:cNvSpPr/>
          <p:nvPr/>
        </p:nvSpPr>
        <p:spPr>
          <a:xfrm>
            <a:off x="372618" y="589803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504" y="585459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جمع‌بندی</a:t>
            </a:r>
          </a:p>
        </p:txBody>
      </p:sp>
      <p:sp>
        <p:nvSpPr>
          <p:cNvPr id="36" name="Oval 35"/>
          <p:cNvSpPr/>
          <p:nvPr/>
        </p:nvSpPr>
        <p:spPr>
          <a:xfrm>
            <a:off x="372618" y="627964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623620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تشکر و پاسخ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283696" y="329184"/>
            <a:ext cx="82296" cy="82296"/>
          </a:xfrm>
          <a:prstGeom prst="roundRect">
            <a:avLst>
              <a:gd name="adj" fmla="val 44444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572768" y="256032"/>
            <a:ext cx="9528047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بخش ۸  ·  جامعه و نمونهٔ آماری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2768" y="502920"/>
            <a:ext cx="9546336" cy="4754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05000"/>
              </a:lnSpc>
            </a:pPr>
            <a:r>
              <a:rPr sz="2400" b="1" lang="fa-IR" altLang="en-US" dirty="0">
                <a:solidFill>
                  <a:srgbClr val="0D2137"/>
                </a:solidFill>
                <a:latin typeface="B Titr"/>
                <a:ea typeface="B Titr"/>
                <a:cs typeface="B Titr"/>
              </a:rPr>
              <a:t>جامعه، نمونه و روش نمونه‌گیری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10735056" y="1060704"/>
            <a:ext cx="566928" cy="0"/>
          </a:xfrm>
          <a:prstGeom prst="line">
            <a:avLst/>
          </a:prstGeom>
          <a:ln w="25400">
            <a:solidFill>
              <a:srgbClr val="B890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1572768" y="1060704"/>
            <a:ext cx="9089136" cy="0"/>
          </a:xfrm>
          <a:prstGeom prst="line">
            <a:avLst/>
          </a:prstGeom>
          <a:ln w="12700">
            <a:solidFill>
              <a:srgbClr val="DADF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920240" y="6510528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74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دانشگاه پیام نور واحد جویبار  ·  دانشکدهٔ مدیریت، اقتصاد و حسابداری  ·  دفاع از پایان‌نامهٔ کارشناسی ارشد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69880" y="6492240"/>
            <a:ext cx="832104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50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۱۱ / ۲۲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180832" y="1417320"/>
            <a:ext cx="3121151" cy="128016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595104" y="1554480"/>
            <a:ext cx="292608" cy="41148"/>
          </a:xfrm>
          <a:prstGeom prst="roundRect">
            <a:avLst>
              <a:gd name="adj" fmla="val 50000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72272" y="1636776"/>
            <a:ext cx="2938271" cy="49377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00000"/>
              </a:lnSpc>
            </a:pPr>
            <a:r>
              <a:rPr sz="2600" b="1" lang="fa-IR" altLang="en-US" dirty="0">
                <a:solidFill>
                  <a:srgbClr val="0D2137"/>
                </a:solidFill>
                <a:latin typeface="B Titr"/>
                <a:ea typeface="B Titr"/>
                <a:cs typeface="B Titr"/>
              </a:rPr>
              <a:t>۲۴۵ نفر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90560" y="2148840"/>
            <a:ext cx="29016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223140"/>
                </a:solidFill>
                <a:latin typeface="B Lotus"/>
                <a:ea typeface="B Lotus"/>
                <a:cs typeface="B Lotus"/>
              </a:rPr>
              <a:t>جامعهٔ آماری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876800" y="1417320"/>
            <a:ext cx="3121151" cy="128016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291072" y="1554480"/>
            <a:ext cx="292608" cy="41148"/>
          </a:xfrm>
          <a:prstGeom prst="roundRect">
            <a:avLst>
              <a:gd name="adj" fmla="val 50000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968240" y="1636776"/>
            <a:ext cx="2938271" cy="49377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00000"/>
              </a:lnSpc>
            </a:pPr>
            <a:r>
              <a:rPr sz="2600" b="1" lang="fa-IR" altLang="en-US" dirty="0">
                <a:solidFill>
                  <a:srgbClr val="0D2137"/>
                </a:solidFill>
                <a:latin typeface="B Titr"/>
                <a:ea typeface="B Titr"/>
                <a:cs typeface="B Titr"/>
              </a:rPr>
              <a:t>۱۵۰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86528" y="2148840"/>
            <a:ext cx="29016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223140"/>
                </a:solidFill>
                <a:latin typeface="B Lotus"/>
                <a:ea typeface="B Lotus"/>
                <a:cs typeface="B Lotus"/>
              </a:rPr>
              <a:t>پرسشنامهٔ توزیع‌شده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86528" y="2423160"/>
            <a:ext cx="2901695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84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حجم نمونه بر اساس جدول مورگان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572768" y="1417320"/>
            <a:ext cx="3121151" cy="128016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2987040" y="1554480"/>
            <a:ext cx="292608" cy="41148"/>
          </a:xfrm>
          <a:prstGeom prst="roundRect">
            <a:avLst>
              <a:gd name="adj" fmla="val 50000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664208" y="1636776"/>
            <a:ext cx="2938271" cy="49377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00000"/>
              </a:lnSpc>
            </a:pPr>
            <a:r>
              <a:rPr sz="2100" b="1" lang="fa-IR" altLang="en-US" dirty="0">
                <a:solidFill>
                  <a:srgbClr val="0D2137"/>
                </a:solidFill>
                <a:latin typeface="B Titr"/>
                <a:ea typeface="B Titr"/>
                <a:cs typeface="B Titr"/>
              </a:rPr>
              <a:t>ترکیبی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682496" y="2148840"/>
            <a:ext cx="29016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223140"/>
                </a:solidFill>
                <a:latin typeface="B Lotus"/>
                <a:ea typeface="B Lotus"/>
                <a:cs typeface="B Lotus"/>
              </a:rPr>
              <a:t>روش نمونه‌گیری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82496" y="2423160"/>
            <a:ext cx="2901695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84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تصادفی طبقه‌ای + خوشه‌ای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366760" y="3108960"/>
            <a:ext cx="2935224" cy="1572768"/>
          </a:xfrm>
          <a:prstGeom prst="roundRect">
            <a:avLst>
              <a:gd name="adj" fmla="val 16279"/>
            </a:avLst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549640" y="3291840"/>
            <a:ext cx="2569464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D6B878"/>
                </a:solidFill>
                <a:latin typeface="B Lotus"/>
                <a:ea typeface="B Lotus"/>
                <a:cs typeface="B Lotus"/>
              </a:rPr>
              <a:t>جامعهٔ آماری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49640" y="3584448"/>
            <a:ext cx="2569464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2400" b="1" lang="fa-IR" altLang="en-US" dirty="0">
                <a:solidFill>
                  <a:srgbClr val="FFFFFF"/>
                </a:solidFill>
                <a:latin typeface="B Titr"/>
                <a:ea typeface="B Titr"/>
                <a:cs typeface="B Titr"/>
              </a:rPr>
              <a:t>۲۴۵ نفر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49640" y="4160520"/>
            <a:ext cx="2569464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860" b="0" lang="fa-IR" altLang="en-US" dirty="0">
                <a:solidFill>
                  <a:srgbClr val="A8B2BE"/>
                </a:solidFill>
                <a:latin typeface="B Zar"/>
                <a:ea typeface="B Zar"/>
                <a:cs typeface="B Zar"/>
              </a:rPr>
              <a:t>[ویژگی‌های تفصیلی جامعه]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30368" y="2798064"/>
            <a:ext cx="256032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100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روش نمونه‌گیری ترکیبی (احتمالی)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230368" y="3108960"/>
            <a:ext cx="2560320" cy="7315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340096" y="3108960"/>
            <a:ext cx="2340864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108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نمونه‌گیری تصادفی طبقه‌ای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230368" y="3950208"/>
            <a:ext cx="2560320" cy="7315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340096" y="3950208"/>
            <a:ext cx="2340864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108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نمونه‌گیری تصادفی خوشه‌ای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572768" y="3108960"/>
            <a:ext cx="2935224" cy="1572768"/>
          </a:xfrm>
          <a:prstGeom prst="roundRect">
            <a:avLst>
              <a:gd name="adj" fmla="val 16279"/>
            </a:avLst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755648" y="3291840"/>
            <a:ext cx="2569464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E0F5F4"/>
                </a:solidFill>
                <a:latin typeface="B Lotus"/>
                <a:ea typeface="B Lotus"/>
                <a:cs typeface="B Lotus"/>
              </a:rPr>
              <a:t>نمونهٔ آماری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755648" y="3584448"/>
            <a:ext cx="2569464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2200" b="1" lang="fa-IR" altLang="en-US" dirty="0">
                <a:solidFill>
                  <a:srgbClr val="FFFFFF"/>
                </a:solidFill>
                <a:latin typeface="B Titr"/>
                <a:ea typeface="B Titr"/>
                <a:cs typeface="B Titr"/>
              </a:rPr>
              <a:t>۱۵۰ پرسشنامه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55648" y="4160520"/>
            <a:ext cx="2569464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900" b="0" lang="fa-IR" altLang="en-US" dirty="0">
                <a:solidFill>
                  <a:srgbClr val="DCEBEB"/>
                </a:solidFill>
                <a:latin typeface="B Zar"/>
                <a:ea typeface="B Zar"/>
                <a:cs typeface="B Zar"/>
              </a:rPr>
              <a:t>توزیع میان نمونه‌های منتخب</a:t>
            </a:r>
          </a:p>
        </p:txBody>
      </p:sp>
      <p:cxnSp>
        <p:nvCxnSpPr>
          <p:cNvPr id="72" name="Connector 71"/>
          <p:cNvCxnSpPr/>
          <p:nvPr/>
        </p:nvCxnSpPr>
        <p:spPr>
          <a:xfrm flipH="1">
            <a:off x="7882127" y="3895344"/>
            <a:ext cx="420625" cy="0"/>
          </a:xfrm>
          <a:prstGeom prst="line">
            <a:avLst/>
          </a:prstGeom>
          <a:ln w="22860">
            <a:solidFill>
              <a:srgbClr val="B890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H="1">
            <a:off x="4590288" y="3895344"/>
            <a:ext cx="566928" cy="0"/>
          </a:xfrm>
          <a:prstGeom prst="line">
            <a:avLst/>
          </a:prstGeom>
          <a:ln w="22860">
            <a:solidFill>
              <a:srgbClr val="B890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1572768" y="5047488"/>
            <a:ext cx="9729215" cy="1024128"/>
          </a:xfrm>
          <a:prstGeom prst="roundRect">
            <a:avLst>
              <a:gd name="adj" fmla="val 17857"/>
            </a:avLst>
          </a:prstGeom>
          <a:solidFill>
            <a:srgbClr val="FBF5E8"/>
          </a:solidFill>
          <a:ln w="13970">
            <a:solidFill>
              <a:srgbClr val="B8903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700784" y="5047488"/>
            <a:ext cx="9473184" cy="10241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0000"/>
              </a:lnSpc>
            </a:pPr>
            <a:r>
              <a:rPr sz="1000" b="0" lang="fa-IR" altLang="en-US" dirty="0">
                <a:solidFill>
                  <a:srgbClr val="8A6628"/>
                </a:solidFill>
                <a:latin typeface="B Zar"/>
                <a:ea typeface="B Zar"/>
                <a:cs typeface="B Zar"/>
              </a:rPr>
              <a:t>[معیارهای طبقه‌بندی طبقات و خوشه‌ها و ویژگی‌های تفصیلی جامعه بر اساس فصل ۳ تکمیل شود]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704320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20624" y="548640"/>
            <a:ext cx="0" cy="5833872"/>
          </a:xfrm>
          <a:prstGeom prst="line">
            <a:avLst/>
          </a:prstGeom>
          <a:ln w="13970">
            <a:solidFill>
              <a:srgbClr val="DADF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20624" y="548640"/>
            <a:ext cx="0" cy="3107740"/>
          </a:xfrm>
          <a:prstGeom prst="line">
            <a:avLst/>
          </a:prstGeom>
          <a:ln w="21590">
            <a:solidFill>
              <a:srgbClr val="2E7D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372618" y="555498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512064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عنوان و معرفی</a:t>
            </a:r>
          </a:p>
        </p:txBody>
      </p:sp>
      <p:sp>
        <p:nvSpPr>
          <p:cNvPr id="7" name="Oval 6"/>
          <p:cNvSpPr/>
          <p:nvPr/>
        </p:nvSpPr>
        <p:spPr>
          <a:xfrm>
            <a:off x="372618" y="937107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89367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کلیات پژوهش</a:t>
            </a:r>
          </a:p>
        </p:txBody>
      </p:sp>
      <p:sp>
        <p:nvSpPr>
          <p:cNvPr id="9" name="Oval 8"/>
          <p:cNvSpPr/>
          <p:nvPr/>
        </p:nvSpPr>
        <p:spPr>
          <a:xfrm>
            <a:off x="372618" y="1318717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27528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بیان مسئله</a:t>
            </a:r>
          </a:p>
        </p:txBody>
      </p:sp>
      <p:sp>
        <p:nvSpPr>
          <p:cNvPr id="11" name="Oval 10"/>
          <p:cNvSpPr/>
          <p:nvPr/>
        </p:nvSpPr>
        <p:spPr>
          <a:xfrm>
            <a:off x="372618" y="1700326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65689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اهمیت و ضرورت</a:t>
            </a:r>
          </a:p>
        </p:txBody>
      </p:sp>
      <p:sp>
        <p:nvSpPr>
          <p:cNvPr id="13" name="Oval 12"/>
          <p:cNvSpPr/>
          <p:nvPr/>
        </p:nvSpPr>
        <p:spPr>
          <a:xfrm>
            <a:off x="372618" y="2081936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203850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اهداف و فرضیه‌ها</a:t>
            </a:r>
          </a:p>
        </p:txBody>
      </p:sp>
      <p:sp>
        <p:nvSpPr>
          <p:cNvPr id="15" name="Oval 14"/>
          <p:cNvSpPr/>
          <p:nvPr/>
        </p:nvSpPr>
        <p:spPr>
          <a:xfrm>
            <a:off x="372618" y="2463546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242011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مبانی و پیشینه</a:t>
            </a:r>
          </a:p>
        </p:txBody>
      </p:sp>
      <p:sp>
        <p:nvSpPr>
          <p:cNvPr id="17" name="Oval 16"/>
          <p:cNvSpPr/>
          <p:nvPr/>
        </p:nvSpPr>
        <p:spPr>
          <a:xfrm>
            <a:off x="372618" y="2845155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2801721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روش‌شناسی</a:t>
            </a:r>
          </a:p>
        </p:txBody>
      </p:sp>
      <p:sp>
        <p:nvSpPr>
          <p:cNvPr id="19" name="Oval 18"/>
          <p:cNvSpPr/>
          <p:nvPr/>
        </p:nvSpPr>
        <p:spPr>
          <a:xfrm>
            <a:off x="372618" y="3226765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" y="3183331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جامعه و نمونه</a:t>
            </a:r>
          </a:p>
        </p:txBody>
      </p:sp>
      <p:sp>
        <p:nvSpPr>
          <p:cNvPr id="21" name="Oval 20"/>
          <p:cNvSpPr/>
          <p:nvPr/>
        </p:nvSpPr>
        <p:spPr>
          <a:xfrm>
            <a:off x="324612" y="35603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7D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79476" y="3615232"/>
            <a:ext cx="82296" cy="82296"/>
          </a:xfrm>
          <a:prstGeom prst="ellipse">
            <a:avLst/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" y="3551224"/>
            <a:ext cx="960120" cy="2103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6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ابزار گردآوری</a:t>
            </a:r>
          </a:p>
        </p:txBody>
      </p:sp>
      <p:sp>
        <p:nvSpPr>
          <p:cNvPr id="24" name="Oval 23"/>
          <p:cNvSpPr/>
          <p:nvPr/>
        </p:nvSpPr>
        <p:spPr>
          <a:xfrm>
            <a:off x="372618" y="3989984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94655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یافته‌ها</a:t>
            </a:r>
          </a:p>
        </p:txBody>
      </p:sp>
      <p:sp>
        <p:nvSpPr>
          <p:cNvPr id="26" name="Oval 25"/>
          <p:cNvSpPr/>
          <p:nvPr/>
        </p:nvSpPr>
        <p:spPr>
          <a:xfrm>
            <a:off x="372618" y="4371594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504" y="432816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تحلیل و بحث</a:t>
            </a:r>
          </a:p>
        </p:txBody>
      </p:sp>
      <p:sp>
        <p:nvSpPr>
          <p:cNvPr id="28" name="Oval 27"/>
          <p:cNvSpPr/>
          <p:nvPr/>
        </p:nvSpPr>
        <p:spPr>
          <a:xfrm>
            <a:off x="372618" y="4753203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" y="470976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نتیجه‌گیری</a:t>
            </a:r>
          </a:p>
        </p:txBody>
      </p:sp>
      <p:sp>
        <p:nvSpPr>
          <p:cNvPr id="30" name="Oval 29"/>
          <p:cNvSpPr/>
          <p:nvPr/>
        </p:nvSpPr>
        <p:spPr>
          <a:xfrm>
            <a:off x="372618" y="5134813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509137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پیشنهادها</a:t>
            </a:r>
          </a:p>
        </p:txBody>
      </p:sp>
      <p:sp>
        <p:nvSpPr>
          <p:cNvPr id="32" name="Oval 31"/>
          <p:cNvSpPr/>
          <p:nvPr/>
        </p:nvSpPr>
        <p:spPr>
          <a:xfrm>
            <a:off x="372618" y="551642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504" y="547298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محدودیت‌ها</a:t>
            </a:r>
          </a:p>
        </p:txBody>
      </p:sp>
      <p:sp>
        <p:nvSpPr>
          <p:cNvPr id="34" name="Oval 33"/>
          <p:cNvSpPr/>
          <p:nvPr/>
        </p:nvSpPr>
        <p:spPr>
          <a:xfrm>
            <a:off x="372618" y="589803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504" y="585459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جمع‌بندی</a:t>
            </a:r>
          </a:p>
        </p:txBody>
      </p:sp>
      <p:sp>
        <p:nvSpPr>
          <p:cNvPr id="36" name="Oval 35"/>
          <p:cNvSpPr/>
          <p:nvPr/>
        </p:nvSpPr>
        <p:spPr>
          <a:xfrm>
            <a:off x="372618" y="627964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623620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تشکر و پاسخ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283696" y="329184"/>
            <a:ext cx="82296" cy="82296"/>
          </a:xfrm>
          <a:prstGeom prst="roundRect">
            <a:avLst>
              <a:gd name="adj" fmla="val 44444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572768" y="256032"/>
            <a:ext cx="9528047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بخش ۹  ·  ابزار و روش گردآوری داده‌ها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2768" y="502920"/>
            <a:ext cx="9546336" cy="4754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05000"/>
              </a:lnSpc>
            </a:pPr>
            <a:r>
              <a:rPr sz="2400" b="1" lang="fa-IR" altLang="en-US" dirty="0">
                <a:solidFill>
                  <a:srgbClr val="0D2137"/>
                </a:solidFill>
                <a:latin typeface="B Titr"/>
                <a:ea typeface="B Titr"/>
                <a:cs typeface="B Titr"/>
              </a:rPr>
              <a:t>ابزار، روایی و پایایی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10735056" y="1060704"/>
            <a:ext cx="566928" cy="0"/>
          </a:xfrm>
          <a:prstGeom prst="line">
            <a:avLst/>
          </a:prstGeom>
          <a:ln w="25400">
            <a:solidFill>
              <a:srgbClr val="B890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1572768" y="1060704"/>
            <a:ext cx="9089136" cy="0"/>
          </a:xfrm>
          <a:prstGeom prst="line">
            <a:avLst/>
          </a:prstGeom>
          <a:ln w="12700">
            <a:solidFill>
              <a:srgbClr val="DADF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920240" y="6510528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74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دانشگاه پیام نور واحد جویبار  ·  دانشکدهٔ مدیریت، اقتصاد و حسابداری  ·  دفاع از پایان‌نامهٔ کارشناسی ارشد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69880" y="6492240"/>
            <a:ext cx="832104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50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۱۲ / ۲۲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572768" y="1417320"/>
            <a:ext cx="3703320" cy="4736592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258568" y="1755648"/>
            <a:ext cx="2331720" cy="2331720"/>
          </a:xfrm>
          <a:prstGeom prst="ellipse">
            <a:avLst/>
          </a:prstGeom>
          <a:noFill/>
          <a:ln w="10160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Block Arc 46"/>
          <p:cNvSpPr/>
          <p:nvPr/>
        </p:nvSpPr>
        <p:spPr>
          <a:xfrm>
            <a:off x="2258568" y="1755648"/>
            <a:ext cx="2331720" cy="2331720"/>
          </a:xfrm>
          <a:prstGeom prst="blockArc">
            <a:avLst>
              <a:gd name="adj1" fmla="val 1620000000000"/>
              <a:gd name="adj2" fmla="val 3611520000000"/>
              <a:gd name="adj3" fmla="val 2200000000"/>
            </a:avLst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58568" y="2542032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00000"/>
              </a:lnSpc>
            </a:pPr>
            <a:r>
              <a:rPr sz="3400" b="1" lang="fa-IR" altLang="en-US" dirty="0">
                <a:solidFill>
                  <a:srgbClr val="0D2137"/>
                </a:solidFill>
                <a:latin typeface="B Titr"/>
                <a:ea typeface="B Titr"/>
                <a:cs typeface="B Titr"/>
              </a:rPr>
              <a:t>۰/۹۲۲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58568" y="3163824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223140"/>
                </a:solidFill>
                <a:latin typeface="B Lotus"/>
                <a:ea typeface="B Lotus"/>
                <a:cs typeface="B Lotus"/>
              </a:rPr>
              <a:t>ضریب آلفای کرونباخ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801368" y="4261104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1300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پایایی پرسشنامه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01368" y="4572000"/>
            <a:ext cx="32461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98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محاسبه‌شده در نرم‌افزار SPSS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921508" y="5074920"/>
            <a:ext cx="1005840" cy="347472"/>
          </a:xfrm>
          <a:prstGeom prst="roundRect">
            <a:avLst>
              <a:gd name="adj" fmla="val 50000"/>
            </a:avLst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921508" y="507492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10000"/>
              </a:lnSpc>
            </a:pPr>
            <a:r>
              <a:rPr sz="1200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۹۲٫۲٪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01368" y="5632704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88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مقدار بزرگ‌تر از ۰/۷ → پایایی مطلوب و قابل‌اعتماد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532120" y="1417320"/>
            <a:ext cx="5769864" cy="13716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884663" y="1572768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84663" y="1572768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10000"/>
              </a:lnSpc>
            </a:pPr>
            <a:r>
              <a:rPr sz="919" b="0" lang="fa-IR" altLang="en-US" dirty="0">
                <a:solidFill>
                  <a:srgbClr val="D6B878"/>
                </a:solidFill>
                <a:latin typeface="B Lotus"/>
                <a:ea typeface="B Lotus"/>
                <a:cs typeface="B Lotus"/>
              </a:rPr>
              <a:t>ابزار گردآوری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60720" y="1883664"/>
            <a:ext cx="5312664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2000"/>
              </a:lnSpc>
            </a:pPr>
            <a:r>
              <a:rPr sz="1800" b="1" lang="fa-IR" altLang="en-US" dirty="0">
                <a:solidFill>
                  <a:srgbClr val="0D2137"/>
                </a:solidFill>
                <a:latin typeface="B Titr"/>
                <a:ea typeface="B Titr"/>
                <a:cs typeface="B Titr"/>
              </a:rPr>
              <a:t>پرسشنامه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760720" y="2304288"/>
            <a:ext cx="5312664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30000"/>
              </a:lnSpc>
            </a:pPr>
            <a:r>
              <a:rPr sz="930" b="0" lang="fa-IR" altLang="en-US" dirty="0">
                <a:solidFill>
                  <a:srgbClr val="8A6628"/>
                </a:solidFill>
                <a:latin typeface="B Zar"/>
                <a:ea typeface="B Zar"/>
                <a:cs typeface="B Zar"/>
              </a:rPr>
              <a:t>[تعداد گویه‌ها، طیف پاسخ (مانند لیکرت) و جزئیات آن بر اساس فصل ۳ درج شود]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532120" y="2926080"/>
            <a:ext cx="5769864" cy="13716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10067544" y="3081528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67544" y="30815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10000"/>
              </a:lnSpc>
            </a:pPr>
            <a:r>
              <a:rPr sz="919" b="0" lang="fa-IR" altLang="en-US" dirty="0">
                <a:solidFill>
                  <a:srgbClr val="D6B878"/>
                </a:solidFill>
                <a:latin typeface="B Lotus"/>
                <a:ea typeface="B Lotus"/>
                <a:cs typeface="B Lotus"/>
              </a:rPr>
              <a:t>روایی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760720" y="3401568"/>
            <a:ext cx="5312664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50000"/>
              </a:lnSpc>
            </a:pPr>
            <a:r>
              <a:rPr sz="113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روایی پرسشنامه با نظر استاد راهنما، استاد مشاور و خبرگان صنعت بررسی و تأیید شد.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532120" y="4434840"/>
            <a:ext cx="5769864" cy="1719072"/>
          </a:xfrm>
          <a:prstGeom prst="roundRect">
            <a:avLst>
              <a:gd name="adj" fmla="val 12765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9610344" y="4590288"/>
            <a:ext cx="1508760" cy="274320"/>
          </a:xfrm>
          <a:prstGeom prst="roundRect">
            <a:avLst>
              <a:gd name="adj" fmla="val 50000"/>
            </a:avLst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610344" y="4590288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10000"/>
              </a:lnSpc>
            </a:pPr>
            <a:r>
              <a:rPr sz="919" b="0" lang="fa-IR" altLang="en-US" dirty="0">
                <a:solidFill>
                  <a:srgbClr val="D6B878"/>
                </a:solidFill>
                <a:latin typeface="B Lotus"/>
                <a:ea typeface="B Lotus"/>
                <a:cs typeface="B Lotus"/>
              </a:rPr>
              <a:t>نرمال‌بودن داده‌ها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760720" y="4956048"/>
            <a:ext cx="5312664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2000"/>
              </a:lnSpc>
            </a:pPr>
            <a:r>
              <a:rPr sz="1350" b="1" lang="fa-IR" altLang="en-US" dirty="0">
                <a:solidFill>
                  <a:srgbClr val="0D2137"/>
                </a:solidFill>
                <a:latin typeface="B Titr"/>
                <a:ea typeface="B Titr"/>
                <a:cs typeface="B Titr"/>
              </a:rPr>
              <a:t>آزمون کولموگروف–اسمیرنوف (K-S)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633972" y="5440680"/>
            <a:ext cx="3566160" cy="347472"/>
          </a:xfrm>
          <a:prstGeom prst="roundRect">
            <a:avLst>
              <a:gd name="adj" fmla="val 50000"/>
            </a:avLst>
          </a:prstGeom>
          <a:solidFill>
            <a:srgbClr val="E8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33972" y="5440680"/>
            <a:ext cx="3566160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10000"/>
              </a:lnSpc>
            </a:pPr>
            <a:r>
              <a:rPr sz="105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نتیجه: نرمال بودن تمامی مؤلفه‌های پژوهش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704320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20624" y="548640"/>
            <a:ext cx="0" cy="5833872"/>
          </a:xfrm>
          <a:prstGeom prst="line">
            <a:avLst/>
          </a:prstGeom>
          <a:ln w="13970">
            <a:solidFill>
              <a:srgbClr val="DADF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20624" y="548640"/>
            <a:ext cx="0" cy="3107740"/>
          </a:xfrm>
          <a:prstGeom prst="line">
            <a:avLst/>
          </a:prstGeom>
          <a:ln w="21590">
            <a:solidFill>
              <a:srgbClr val="2E7D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372618" y="555498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512064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عنوان و معرفی</a:t>
            </a:r>
          </a:p>
        </p:txBody>
      </p:sp>
      <p:sp>
        <p:nvSpPr>
          <p:cNvPr id="7" name="Oval 6"/>
          <p:cNvSpPr/>
          <p:nvPr/>
        </p:nvSpPr>
        <p:spPr>
          <a:xfrm>
            <a:off x="372618" y="937107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89367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کلیات پژوهش</a:t>
            </a:r>
          </a:p>
        </p:txBody>
      </p:sp>
      <p:sp>
        <p:nvSpPr>
          <p:cNvPr id="9" name="Oval 8"/>
          <p:cNvSpPr/>
          <p:nvPr/>
        </p:nvSpPr>
        <p:spPr>
          <a:xfrm>
            <a:off x="372618" y="1318717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27528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بیان مسئله</a:t>
            </a:r>
          </a:p>
        </p:txBody>
      </p:sp>
      <p:sp>
        <p:nvSpPr>
          <p:cNvPr id="11" name="Oval 10"/>
          <p:cNvSpPr/>
          <p:nvPr/>
        </p:nvSpPr>
        <p:spPr>
          <a:xfrm>
            <a:off x="372618" y="1700326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65689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اهمیت و ضرورت</a:t>
            </a:r>
          </a:p>
        </p:txBody>
      </p:sp>
      <p:sp>
        <p:nvSpPr>
          <p:cNvPr id="13" name="Oval 12"/>
          <p:cNvSpPr/>
          <p:nvPr/>
        </p:nvSpPr>
        <p:spPr>
          <a:xfrm>
            <a:off x="372618" y="2081936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203850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اهداف و فرضیه‌ها</a:t>
            </a:r>
          </a:p>
        </p:txBody>
      </p:sp>
      <p:sp>
        <p:nvSpPr>
          <p:cNvPr id="15" name="Oval 14"/>
          <p:cNvSpPr/>
          <p:nvPr/>
        </p:nvSpPr>
        <p:spPr>
          <a:xfrm>
            <a:off x="372618" y="2463546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242011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مبانی و پیشینه</a:t>
            </a:r>
          </a:p>
        </p:txBody>
      </p:sp>
      <p:sp>
        <p:nvSpPr>
          <p:cNvPr id="17" name="Oval 16"/>
          <p:cNvSpPr/>
          <p:nvPr/>
        </p:nvSpPr>
        <p:spPr>
          <a:xfrm>
            <a:off x="372618" y="2845155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2801721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روش‌شناسی</a:t>
            </a:r>
          </a:p>
        </p:txBody>
      </p:sp>
      <p:sp>
        <p:nvSpPr>
          <p:cNvPr id="19" name="Oval 18"/>
          <p:cNvSpPr/>
          <p:nvPr/>
        </p:nvSpPr>
        <p:spPr>
          <a:xfrm>
            <a:off x="372618" y="3226765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" y="3183331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جامعه و نمونه</a:t>
            </a:r>
          </a:p>
        </p:txBody>
      </p:sp>
      <p:sp>
        <p:nvSpPr>
          <p:cNvPr id="21" name="Oval 20"/>
          <p:cNvSpPr/>
          <p:nvPr/>
        </p:nvSpPr>
        <p:spPr>
          <a:xfrm>
            <a:off x="324612" y="35603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7D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79476" y="3615232"/>
            <a:ext cx="82296" cy="82296"/>
          </a:xfrm>
          <a:prstGeom prst="ellipse">
            <a:avLst/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" y="3551224"/>
            <a:ext cx="960120" cy="2103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6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ابزار گردآوری</a:t>
            </a:r>
          </a:p>
        </p:txBody>
      </p:sp>
      <p:sp>
        <p:nvSpPr>
          <p:cNvPr id="24" name="Oval 23"/>
          <p:cNvSpPr/>
          <p:nvPr/>
        </p:nvSpPr>
        <p:spPr>
          <a:xfrm>
            <a:off x="372618" y="3989984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94655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یافته‌ها</a:t>
            </a:r>
          </a:p>
        </p:txBody>
      </p:sp>
      <p:sp>
        <p:nvSpPr>
          <p:cNvPr id="26" name="Oval 25"/>
          <p:cNvSpPr/>
          <p:nvPr/>
        </p:nvSpPr>
        <p:spPr>
          <a:xfrm>
            <a:off x="372618" y="4371594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504" y="432816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تحلیل و بحث</a:t>
            </a:r>
          </a:p>
        </p:txBody>
      </p:sp>
      <p:sp>
        <p:nvSpPr>
          <p:cNvPr id="28" name="Oval 27"/>
          <p:cNvSpPr/>
          <p:nvPr/>
        </p:nvSpPr>
        <p:spPr>
          <a:xfrm>
            <a:off x="372618" y="4753203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" y="470976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نتیجه‌گیری</a:t>
            </a:r>
          </a:p>
        </p:txBody>
      </p:sp>
      <p:sp>
        <p:nvSpPr>
          <p:cNvPr id="30" name="Oval 29"/>
          <p:cNvSpPr/>
          <p:nvPr/>
        </p:nvSpPr>
        <p:spPr>
          <a:xfrm>
            <a:off x="372618" y="5134813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509137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پیشنهادها</a:t>
            </a:r>
          </a:p>
        </p:txBody>
      </p:sp>
      <p:sp>
        <p:nvSpPr>
          <p:cNvPr id="32" name="Oval 31"/>
          <p:cNvSpPr/>
          <p:nvPr/>
        </p:nvSpPr>
        <p:spPr>
          <a:xfrm>
            <a:off x="372618" y="551642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504" y="547298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محدودیت‌ها</a:t>
            </a:r>
          </a:p>
        </p:txBody>
      </p:sp>
      <p:sp>
        <p:nvSpPr>
          <p:cNvPr id="34" name="Oval 33"/>
          <p:cNvSpPr/>
          <p:nvPr/>
        </p:nvSpPr>
        <p:spPr>
          <a:xfrm>
            <a:off x="372618" y="589803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504" y="585459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جمع‌بندی</a:t>
            </a:r>
          </a:p>
        </p:txBody>
      </p:sp>
      <p:sp>
        <p:nvSpPr>
          <p:cNvPr id="36" name="Oval 35"/>
          <p:cNvSpPr/>
          <p:nvPr/>
        </p:nvSpPr>
        <p:spPr>
          <a:xfrm>
            <a:off x="372618" y="627964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623620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تشکر و پاسخ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283696" y="329184"/>
            <a:ext cx="82296" cy="82296"/>
          </a:xfrm>
          <a:prstGeom prst="roundRect">
            <a:avLst>
              <a:gd name="adj" fmla="val 44444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572768" y="256032"/>
            <a:ext cx="9528047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بخش ۹  ·  ابزار و روش گردآوری داده‌ها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2768" y="502920"/>
            <a:ext cx="9546336" cy="4754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05000"/>
              </a:lnSpc>
            </a:pPr>
            <a:r>
              <a:rPr sz="2400" b="1" lang="fa-IR" altLang="en-US" dirty="0">
                <a:solidFill>
                  <a:srgbClr val="0D2137"/>
                </a:solidFill>
                <a:latin typeface="B Titr"/>
                <a:ea typeface="B Titr"/>
                <a:cs typeface="B Titr"/>
              </a:rPr>
              <a:t>متغیرها و روش تحلیل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10735056" y="1060704"/>
            <a:ext cx="566928" cy="0"/>
          </a:xfrm>
          <a:prstGeom prst="line">
            <a:avLst/>
          </a:prstGeom>
          <a:ln w="25400">
            <a:solidFill>
              <a:srgbClr val="B890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1572768" y="1060704"/>
            <a:ext cx="9089136" cy="0"/>
          </a:xfrm>
          <a:prstGeom prst="line">
            <a:avLst/>
          </a:prstGeom>
          <a:ln w="12700">
            <a:solidFill>
              <a:srgbClr val="DADF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920240" y="6510528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74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دانشگاه پیام نور واحد جویبار  ·  دانشکدهٔ مدیریت، اقتصاد و حسابداری  ·  دفاع از پایان‌نامهٔ کارشناسی ارشد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69880" y="6492240"/>
            <a:ext cx="832104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50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۱۳ / ۲۲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113263" y="1444752"/>
            <a:ext cx="1188720" cy="420624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186415" y="1444752"/>
            <a:ext cx="1042416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نوع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92623" y="1444752"/>
            <a:ext cx="5120640" cy="420624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65775" y="1444752"/>
            <a:ext cx="4974336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متغیر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72767" y="1444752"/>
            <a:ext cx="3419856" cy="420624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45919" y="1444752"/>
            <a:ext cx="327355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نقش در مدل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113263" y="1865376"/>
            <a:ext cx="118872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992623" y="1865376"/>
            <a:ext cx="512064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572767" y="1865376"/>
            <a:ext cx="3419856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0268711" y="2039112"/>
            <a:ext cx="877824" cy="329184"/>
          </a:xfrm>
          <a:prstGeom prst="roundRect">
            <a:avLst>
              <a:gd name="adj" fmla="val 50000"/>
            </a:avLst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268711" y="2039112"/>
            <a:ext cx="877824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10000"/>
              </a:lnSpc>
            </a:pPr>
            <a:r>
              <a:rPr sz="1000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مستقل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57215" y="1865376"/>
            <a:ext cx="4791455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30000"/>
              </a:lnSpc>
            </a:pPr>
            <a:r>
              <a:rPr sz="108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استقرار هدفمند اقلام تبلیغاتی در محیط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682495" y="1865376"/>
            <a:ext cx="3200400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8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مؤلفهٔ ۱ بازارپردازی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113263" y="2542032"/>
            <a:ext cx="1188720" cy="676656"/>
          </a:xfrm>
          <a:prstGeom prst="rect">
            <a:avLst/>
          </a:prstGeom>
          <a:solidFill>
            <a:srgbClr val="F8F9FA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992623" y="2542032"/>
            <a:ext cx="5120640" cy="676656"/>
          </a:xfrm>
          <a:prstGeom prst="rect">
            <a:avLst/>
          </a:prstGeom>
          <a:solidFill>
            <a:srgbClr val="F8F9FA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572767" y="2542032"/>
            <a:ext cx="3419856" cy="676656"/>
          </a:xfrm>
          <a:prstGeom prst="rect">
            <a:avLst/>
          </a:prstGeom>
          <a:solidFill>
            <a:srgbClr val="F8F9FA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10268711" y="2715768"/>
            <a:ext cx="877824" cy="329184"/>
          </a:xfrm>
          <a:prstGeom prst="roundRect">
            <a:avLst>
              <a:gd name="adj" fmla="val 50000"/>
            </a:avLst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68711" y="2715768"/>
            <a:ext cx="877824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10000"/>
              </a:lnSpc>
            </a:pPr>
            <a:r>
              <a:rPr sz="1000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مستقل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57215" y="2542032"/>
            <a:ext cx="4791455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30000"/>
              </a:lnSpc>
            </a:pPr>
            <a:r>
              <a:rPr sz="108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سازماندهی و اثربخشی فعالیت‌های بازارپردازی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682495" y="2542032"/>
            <a:ext cx="3200400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8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مؤلفهٔ ۲ بازارپردازی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113263" y="3218688"/>
            <a:ext cx="118872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992623" y="3218688"/>
            <a:ext cx="512064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572767" y="3218688"/>
            <a:ext cx="3419856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10268711" y="3392424"/>
            <a:ext cx="877824" cy="329184"/>
          </a:xfrm>
          <a:prstGeom prst="roundRect">
            <a:avLst>
              <a:gd name="adj" fmla="val 50000"/>
            </a:avLst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268711" y="3392424"/>
            <a:ext cx="877824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10000"/>
              </a:lnSpc>
            </a:pPr>
            <a:r>
              <a:rPr sz="1000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مستقل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57215" y="3218688"/>
            <a:ext cx="4791455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30000"/>
              </a:lnSpc>
            </a:pPr>
            <a:r>
              <a:rPr sz="108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نحوهٔ چیدمان و جانمایی بهینهٔ محصولات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682495" y="3218688"/>
            <a:ext cx="3200400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8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مؤلفهٔ ۳ بازارپردازی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113263" y="3895344"/>
            <a:ext cx="1188720" cy="676656"/>
          </a:xfrm>
          <a:prstGeom prst="rect">
            <a:avLst/>
          </a:prstGeom>
          <a:solidFill>
            <a:srgbClr val="F8F9FA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992623" y="3895344"/>
            <a:ext cx="5120640" cy="676656"/>
          </a:xfrm>
          <a:prstGeom prst="rect">
            <a:avLst/>
          </a:prstGeom>
          <a:solidFill>
            <a:srgbClr val="F8F9FA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572767" y="3895344"/>
            <a:ext cx="3419856" cy="676656"/>
          </a:xfrm>
          <a:prstGeom prst="rect">
            <a:avLst/>
          </a:prstGeom>
          <a:solidFill>
            <a:srgbClr val="F8F9FA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10268711" y="4069080"/>
            <a:ext cx="877824" cy="329184"/>
          </a:xfrm>
          <a:prstGeom prst="roundRect">
            <a:avLst>
              <a:gd name="adj" fmla="val 50000"/>
            </a:avLst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268711" y="4069080"/>
            <a:ext cx="877824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10000"/>
              </a:lnSpc>
            </a:pPr>
            <a:r>
              <a:rPr sz="1000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وابسته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157215" y="3895344"/>
            <a:ext cx="4791455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30000"/>
              </a:lnSpc>
            </a:pPr>
            <a:r>
              <a:rPr sz="108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میزان فروش محصولات شرکت دوو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682495" y="3895344"/>
            <a:ext cx="3200400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8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متغیر پیامد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519672" y="4700016"/>
            <a:ext cx="4782312" cy="1463040"/>
          </a:xfrm>
          <a:prstGeom prst="roundRect">
            <a:avLst>
              <a:gd name="adj" fmla="val 15000"/>
            </a:avLst>
          </a:prstGeom>
          <a:solidFill>
            <a:srgbClr val="0D2137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793992" y="4828032"/>
            <a:ext cx="423367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D6B878"/>
                </a:solidFill>
                <a:latin typeface="B Lotus"/>
                <a:ea typeface="B Lotus"/>
                <a:cs typeface="B Lotus"/>
              </a:rPr>
              <a:t>نتیجهٔ کلی آزمون‌ها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793992" y="5138928"/>
            <a:ext cx="4233672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50000"/>
              </a:lnSpc>
            </a:pPr>
            <a:r>
              <a:rPr sz="1200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بر اساس نتایج اسپیرمن، بین متغیرهای پژوهش در تمامی فرضیه‌ها رابطه‌ای معنادار وجود دارد.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572768" y="4700016"/>
            <a:ext cx="4782312" cy="14630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847088" y="4828032"/>
            <a:ext cx="423367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روش آزمون فرضیه‌ها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847088" y="5102352"/>
            <a:ext cx="4233672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2000"/>
              </a:lnSpc>
            </a:pPr>
            <a:r>
              <a:rPr sz="1400" b="1" lang="fa-IR" altLang="en-US" dirty="0">
                <a:solidFill>
                  <a:srgbClr val="0D2137"/>
                </a:solidFill>
                <a:latin typeface="B Titr"/>
                <a:ea typeface="B Titr"/>
                <a:cs typeface="B Titr"/>
              </a:rPr>
              <a:t>ضریب همبستگی اسپیرمن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47088" y="5596128"/>
            <a:ext cx="4233672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35000"/>
              </a:lnSpc>
            </a:pPr>
            <a:r>
              <a:rPr sz="96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محاسبه در SPSS و قضاوت بر اساس سطح معناداری (p-value).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704320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20624" y="548640"/>
            <a:ext cx="0" cy="5833872"/>
          </a:xfrm>
          <a:prstGeom prst="line">
            <a:avLst/>
          </a:prstGeom>
          <a:ln w="13970">
            <a:solidFill>
              <a:srgbClr val="DADF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20624" y="548640"/>
            <a:ext cx="0" cy="3489350"/>
          </a:xfrm>
          <a:prstGeom prst="line">
            <a:avLst/>
          </a:prstGeom>
          <a:ln w="21590">
            <a:solidFill>
              <a:srgbClr val="2E7D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372618" y="555498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512064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عنوان و معرفی</a:t>
            </a:r>
          </a:p>
        </p:txBody>
      </p:sp>
      <p:sp>
        <p:nvSpPr>
          <p:cNvPr id="7" name="Oval 6"/>
          <p:cNvSpPr/>
          <p:nvPr/>
        </p:nvSpPr>
        <p:spPr>
          <a:xfrm>
            <a:off x="372618" y="937107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89367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کلیات پژوهش</a:t>
            </a:r>
          </a:p>
        </p:txBody>
      </p:sp>
      <p:sp>
        <p:nvSpPr>
          <p:cNvPr id="9" name="Oval 8"/>
          <p:cNvSpPr/>
          <p:nvPr/>
        </p:nvSpPr>
        <p:spPr>
          <a:xfrm>
            <a:off x="372618" y="1318717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27528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بیان مسئله</a:t>
            </a:r>
          </a:p>
        </p:txBody>
      </p:sp>
      <p:sp>
        <p:nvSpPr>
          <p:cNvPr id="11" name="Oval 10"/>
          <p:cNvSpPr/>
          <p:nvPr/>
        </p:nvSpPr>
        <p:spPr>
          <a:xfrm>
            <a:off x="372618" y="1700326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65689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اهمیت و ضرورت</a:t>
            </a:r>
          </a:p>
        </p:txBody>
      </p:sp>
      <p:sp>
        <p:nvSpPr>
          <p:cNvPr id="13" name="Oval 12"/>
          <p:cNvSpPr/>
          <p:nvPr/>
        </p:nvSpPr>
        <p:spPr>
          <a:xfrm>
            <a:off x="372618" y="2081936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203850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اهداف و فرضیه‌ها</a:t>
            </a:r>
          </a:p>
        </p:txBody>
      </p:sp>
      <p:sp>
        <p:nvSpPr>
          <p:cNvPr id="15" name="Oval 14"/>
          <p:cNvSpPr/>
          <p:nvPr/>
        </p:nvSpPr>
        <p:spPr>
          <a:xfrm>
            <a:off x="372618" y="2463546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242011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مبانی و پیشینه</a:t>
            </a:r>
          </a:p>
        </p:txBody>
      </p:sp>
      <p:sp>
        <p:nvSpPr>
          <p:cNvPr id="17" name="Oval 16"/>
          <p:cNvSpPr/>
          <p:nvPr/>
        </p:nvSpPr>
        <p:spPr>
          <a:xfrm>
            <a:off x="372618" y="2845155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2801721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روش‌شناسی</a:t>
            </a:r>
          </a:p>
        </p:txBody>
      </p:sp>
      <p:sp>
        <p:nvSpPr>
          <p:cNvPr id="19" name="Oval 18"/>
          <p:cNvSpPr/>
          <p:nvPr/>
        </p:nvSpPr>
        <p:spPr>
          <a:xfrm>
            <a:off x="372618" y="3226765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" y="3183331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جامعه و نمونه</a:t>
            </a:r>
          </a:p>
        </p:txBody>
      </p:sp>
      <p:sp>
        <p:nvSpPr>
          <p:cNvPr id="21" name="Oval 20"/>
          <p:cNvSpPr/>
          <p:nvPr/>
        </p:nvSpPr>
        <p:spPr>
          <a:xfrm>
            <a:off x="372618" y="3608374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356494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ابزار گردآوری</a:t>
            </a:r>
          </a:p>
        </p:txBody>
      </p:sp>
      <p:sp>
        <p:nvSpPr>
          <p:cNvPr id="23" name="Oval 22"/>
          <p:cNvSpPr/>
          <p:nvPr/>
        </p:nvSpPr>
        <p:spPr>
          <a:xfrm>
            <a:off x="324612" y="394197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7D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79476" y="3996842"/>
            <a:ext cx="82296" cy="82296"/>
          </a:xfrm>
          <a:prstGeom prst="ellipse">
            <a:avLst/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932834"/>
            <a:ext cx="960120" cy="2103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6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یافته‌ها</a:t>
            </a:r>
          </a:p>
        </p:txBody>
      </p:sp>
      <p:sp>
        <p:nvSpPr>
          <p:cNvPr id="26" name="Oval 25"/>
          <p:cNvSpPr/>
          <p:nvPr/>
        </p:nvSpPr>
        <p:spPr>
          <a:xfrm>
            <a:off x="372618" y="4371594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504" y="432816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تحلیل و بحث</a:t>
            </a:r>
          </a:p>
        </p:txBody>
      </p:sp>
      <p:sp>
        <p:nvSpPr>
          <p:cNvPr id="28" name="Oval 27"/>
          <p:cNvSpPr/>
          <p:nvPr/>
        </p:nvSpPr>
        <p:spPr>
          <a:xfrm>
            <a:off x="372618" y="4753203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" y="470976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نتیجه‌گیری</a:t>
            </a:r>
          </a:p>
        </p:txBody>
      </p:sp>
      <p:sp>
        <p:nvSpPr>
          <p:cNvPr id="30" name="Oval 29"/>
          <p:cNvSpPr/>
          <p:nvPr/>
        </p:nvSpPr>
        <p:spPr>
          <a:xfrm>
            <a:off x="372618" y="5134813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509137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پیشنهادها</a:t>
            </a:r>
          </a:p>
        </p:txBody>
      </p:sp>
      <p:sp>
        <p:nvSpPr>
          <p:cNvPr id="32" name="Oval 31"/>
          <p:cNvSpPr/>
          <p:nvPr/>
        </p:nvSpPr>
        <p:spPr>
          <a:xfrm>
            <a:off x="372618" y="551642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504" y="547298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محدودیت‌ها</a:t>
            </a:r>
          </a:p>
        </p:txBody>
      </p:sp>
      <p:sp>
        <p:nvSpPr>
          <p:cNvPr id="34" name="Oval 33"/>
          <p:cNvSpPr/>
          <p:nvPr/>
        </p:nvSpPr>
        <p:spPr>
          <a:xfrm>
            <a:off x="372618" y="589803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504" y="585459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جمع‌بندی</a:t>
            </a:r>
          </a:p>
        </p:txBody>
      </p:sp>
      <p:sp>
        <p:nvSpPr>
          <p:cNvPr id="36" name="Oval 35"/>
          <p:cNvSpPr/>
          <p:nvPr/>
        </p:nvSpPr>
        <p:spPr>
          <a:xfrm>
            <a:off x="372618" y="627964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623620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تشکر و پاسخ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283696" y="329184"/>
            <a:ext cx="82296" cy="82296"/>
          </a:xfrm>
          <a:prstGeom prst="roundRect">
            <a:avLst>
              <a:gd name="adj" fmla="val 44444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572768" y="256032"/>
            <a:ext cx="9528047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بخش ۱۰  ·  یافته‌های پژوهش (۱)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2768" y="502920"/>
            <a:ext cx="9546336" cy="4754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05000"/>
              </a:lnSpc>
            </a:pPr>
            <a:r>
              <a:rPr sz="2400" b="1" lang="fa-IR" altLang="en-US" dirty="0">
                <a:solidFill>
                  <a:srgbClr val="0D2137"/>
                </a:solidFill>
                <a:latin typeface="B Titr"/>
                <a:ea typeface="B Titr"/>
                <a:cs typeface="B Titr"/>
              </a:rPr>
              <a:t>نمای کلی یافته‌ها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10735056" y="1060704"/>
            <a:ext cx="566928" cy="0"/>
          </a:xfrm>
          <a:prstGeom prst="line">
            <a:avLst/>
          </a:prstGeom>
          <a:ln w="25400">
            <a:solidFill>
              <a:srgbClr val="B890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1572768" y="1060704"/>
            <a:ext cx="9089136" cy="0"/>
          </a:xfrm>
          <a:prstGeom prst="line">
            <a:avLst/>
          </a:prstGeom>
          <a:ln w="12700">
            <a:solidFill>
              <a:srgbClr val="DADF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920240" y="6510528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74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دانشگاه پیام نور واحد جویبار  ·  دانشکدهٔ مدیریت، اقتصاد و حسابداری  ·  دفاع از پایان‌نامهٔ کارشناسی ارشد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69880" y="6492240"/>
            <a:ext cx="832104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50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۱۴ / ۲۲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572768" y="1417320"/>
            <a:ext cx="9729215" cy="896112"/>
          </a:xfrm>
          <a:prstGeom prst="roundRect">
            <a:avLst>
              <a:gd name="adj" fmla="val 28571"/>
            </a:avLst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884663" y="17007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84663" y="1700784"/>
            <a:ext cx="123444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10000"/>
              </a:lnSpc>
            </a:pPr>
            <a:r>
              <a:rPr sz="950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یافتهٔ محوری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47088" y="1417320"/>
            <a:ext cx="7808975" cy="8961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0000"/>
              </a:lnSpc>
            </a:pPr>
            <a:r>
              <a:rPr sz="1300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نتایج آزمون اسپیرمن: میان متغیرهای پژوهش، در هر چهار فرضیه، رابطهٔ معنادار مشاهده شد.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79408" y="2487168"/>
            <a:ext cx="2322575" cy="1353312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070848" y="2615184"/>
            <a:ext cx="2139695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88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فرضیهٔ اصلی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70848" y="2852928"/>
            <a:ext cx="2139695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1080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بازارپردازی بر فروش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573768" y="3255264"/>
            <a:ext cx="1133856" cy="274320"/>
          </a:xfrm>
          <a:prstGeom prst="roundRect">
            <a:avLst>
              <a:gd name="adj" fmla="val 50000"/>
            </a:avLst>
          </a:prstGeom>
          <a:solidFill>
            <a:srgbClr val="E8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73768" y="3255264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10000"/>
              </a:lnSpc>
            </a:pPr>
            <a:r>
              <a:rPr sz="919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معنادار ✓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70848" y="3566160"/>
            <a:ext cx="2139695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900" b="0" lang="fa-IR" altLang="en-US" dirty="0">
                <a:solidFill>
                  <a:srgbClr val="A58C5F"/>
                </a:solidFill>
                <a:latin typeface="B Zar"/>
                <a:ea typeface="B Zar"/>
                <a:cs typeface="B Zar"/>
              </a:rPr>
              <a:t>r = …    p = …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510528" y="2487168"/>
            <a:ext cx="2322575" cy="1353312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01968" y="2615184"/>
            <a:ext cx="2139695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88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فرضیهٔ فرعی 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01968" y="2852928"/>
            <a:ext cx="2139695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1080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اقلام تبلیغاتی بر فروش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104888" y="3255264"/>
            <a:ext cx="1133856" cy="274320"/>
          </a:xfrm>
          <a:prstGeom prst="roundRect">
            <a:avLst>
              <a:gd name="adj" fmla="val 50000"/>
            </a:avLst>
          </a:prstGeom>
          <a:solidFill>
            <a:srgbClr val="E8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04888" y="3255264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10000"/>
              </a:lnSpc>
            </a:pPr>
            <a:r>
              <a:rPr sz="919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معنادار 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01968" y="3566160"/>
            <a:ext cx="2139695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900" b="0" lang="fa-IR" altLang="en-US" dirty="0">
                <a:solidFill>
                  <a:srgbClr val="A58C5F"/>
                </a:solidFill>
                <a:latin typeface="B Zar"/>
                <a:ea typeface="B Zar"/>
                <a:cs typeface="B Zar"/>
              </a:rPr>
              <a:t>r = …    p = …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041648" y="2487168"/>
            <a:ext cx="2322575" cy="1353312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33087" y="2615184"/>
            <a:ext cx="2139695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88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فرضیهٔ فرعی ۲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33087" y="2852928"/>
            <a:ext cx="2139695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1080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سازماندهی بر فروش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636007" y="3255264"/>
            <a:ext cx="1133856" cy="274320"/>
          </a:xfrm>
          <a:prstGeom prst="roundRect">
            <a:avLst>
              <a:gd name="adj" fmla="val 50000"/>
            </a:avLst>
          </a:prstGeom>
          <a:solidFill>
            <a:srgbClr val="E8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636007" y="3255264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10000"/>
              </a:lnSpc>
            </a:pPr>
            <a:r>
              <a:rPr sz="919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معنادار ✓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33087" y="3566160"/>
            <a:ext cx="2139695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900" b="0" lang="fa-IR" altLang="en-US" dirty="0">
                <a:solidFill>
                  <a:srgbClr val="A58C5F"/>
                </a:solidFill>
                <a:latin typeface="B Zar"/>
                <a:ea typeface="B Zar"/>
                <a:cs typeface="B Zar"/>
              </a:rPr>
              <a:t>r = …    p = …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572768" y="2487168"/>
            <a:ext cx="2322575" cy="1353312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664208" y="2615184"/>
            <a:ext cx="2139695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88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فرضیهٔ فرعی 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664208" y="2852928"/>
            <a:ext cx="2139695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1080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چیدمان بر فروش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167128" y="3255264"/>
            <a:ext cx="1133856" cy="274320"/>
          </a:xfrm>
          <a:prstGeom prst="roundRect">
            <a:avLst>
              <a:gd name="adj" fmla="val 50000"/>
            </a:avLst>
          </a:prstGeom>
          <a:solidFill>
            <a:srgbClr val="E8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167128" y="3255264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10000"/>
              </a:lnSpc>
            </a:pPr>
            <a:r>
              <a:rPr sz="919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معنادار ✓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664208" y="3566160"/>
            <a:ext cx="2139695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900" b="0" lang="fa-IR" altLang="en-US" dirty="0">
                <a:solidFill>
                  <a:srgbClr val="A58C5F"/>
                </a:solidFill>
                <a:latin typeface="B Zar"/>
                <a:ea typeface="B Zar"/>
                <a:cs typeface="B Zar"/>
              </a:rPr>
              <a:t>r = …    p = …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572768" y="4005072"/>
            <a:ext cx="9729215" cy="2176272"/>
          </a:xfrm>
          <a:prstGeom prst="roundRect">
            <a:avLst>
              <a:gd name="adj" fmla="val 10084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492240" y="4160520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2000"/>
              </a:lnSpc>
            </a:pPr>
            <a:r>
              <a:rPr sz="1019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نمودار مقایسهٔ ضرایب همبستگی اسپیرمن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828800" y="4142232"/>
            <a:ext cx="2788920" cy="274320"/>
          </a:xfrm>
          <a:prstGeom prst="roundRect">
            <a:avLst>
              <a:gd name="adj" fmla="val 50000"/>
            </a:avLst>
          </a:prstGeom>
          <a:solidFill>
            <a:srgbClr val="FB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828800" y="4142232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10000"/>
              </a:lnSpc>
            </a:pPr>
            <a:r>
              <a:rPr sz="840" b="0" lang="fa-IR" altLang="en-US" dirty="0">
                <a:solidFill>
                  <a:srgbClr val="8A6628"/>
                </a:solidFill>
                <a:latin typeface="B Lotus"/>
                <a:ea typeface="B Lotus"/>
                <a:cs typeface="B Lotus"/>
              </a:rPr>
              <a:t>مقادیر r دقیق از خروجی SPSS درج شود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2148840" y="5760720"/>
            <a:ext cx="8869680" cy="0"/>
          </a:xfrm>
          <a:prstGeom prst="line">
            <a:avLst/>
          </a:prstGeom>
          <a:ln w="9525">
            <a:solidFill>
              <a:srgbClr val="E7EBE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148840" y="5349240"/>
            <a:ext cx="8869680" cy="0"/>
          </a:xfrm>
          <a:prstGeom prst="line">
            <a:avLst/>
          </a:prstGeom>
          <a:ln w="9525">
            <a:solidFill>
              <a:srgbClr val="E7EBE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2148840" y="4937760"/>
            <a:ext cx="8869680" cy="0"/>
          </a:xfrm>
          <a:prstGeom prst="line">
            <a:avLst/>
          </a:prstGeom>
          <a:ln w="9525">
            <a:solidFill>
              <a:srgbClr val="E7EBE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2148840" y="4526280"/>
            <a:ext cx="8869680" cy="0"/>
          </a:xfrm>
          <a:prstGeom prst="line">
            <a:avLst/>
          </a:prstGeom>
          <a:ln w="9525">
            <a:solidFill>
              <a:srgbClr val="E7EBE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148840" y="4526280"/>
            <a:ext cx="0" cy="1234440"/>
          </a:xfrm>
          <a:prstGeom prst="line">
            <a:avLst/>
          </a:prstGeom>
          <a:ln w="13970">
            <a:solidFill>
              <a:srgbClr val="6B77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2148840" y="5760720"/>
            <a:ext cx="8869680" cy="0"/>
          </a:xfrm>
          <a:prstGeom prst="line">
            <a:avLst/>
          </a:prstGeom>
          <a:ln w="13970">
            <a:solidFill>
              <a:srgbClr val="6B77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1627632" y="44805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1000" b="0" lang="fa-IR" altLang="en-US" dirty="0">
                <a:solidFill>
                  <a:srgbClr val="6B7785"/>
                </a:solidFill>
                <a:latin typeface="B Lotus"/>
                <a:ea typeface="B Lotus"/>
                <a:cs typeface="B Lotus"/>
              </a:rPr>
              <a:t>r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454896" y="4800600"/>
            <a:ext cx="566928" cy="960120"/>
          </a:xfrm>
          <a:prstGeom prst="roundRect">
            <a:avLst>
              <a:gd name="adj" fmla="val 16129"/>
            </a:avLst>
          </a:prstGeom>
          <a:solidFill>
            <a:srgbClr val="FBF5E8"/>
          </a:solidFill>
          <a:ln w="11430">
            <a:solidFill>
              <a:srgbClr val="B8903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0" y="50292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50" b="0" lang="fa-IR" altLang="en-US" dirty="0">
                <a:solidFill>
                  <a:srgbClr val="8A6628"/>
                </a:solidFill>
                <a:latin typeface="B Lotus"/>
                <a:ea typeface="B Lotus"/>
                <a:cs typeface="B Lotus"/>
              </a:rPr>
              <a:t>[r]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171432" y="5852159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86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بازارپردازی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7351775" y="4800600"/>
            <a:ext cx="566928" cy="960120"/>
          </a:xfrm>
          <a:prstGeom prst="roundRect">
            <a:avLst>
              <a:gd name="adj" fmla="val 16129"/>
            </a:avLst>
          </a:prstGeom>
          <a:solidFill>
            <a:srgbClr val="FBF5E8"/>
          </a:solidFill>
          <a:ln w="11430">
            <a:solidFill>
              <a:srgbClr val="B8903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223759" y="50292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50" b="0" lang="fa-IR" altLang="en-US" dirty="0">
                <a:solidFill>
                  <a:srgbClr val="8A6628"/>
                </a:solidFill>
                <a:latin typeface="B Lotus"/>
                <a:ea typeface="B Lotus"/>
                <a:cs typeface="B Lotus"/>
              </a:rPr>
              <a:t>[r]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068312" y="5852159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86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اقلام تبلیغاتی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248656" y="4800600"/>
            <a:ext cx="566928" cy="960120"/>
          </a:xfrm>
          <a:prstGeom prst="roundRect">
            <a:avLst>
              <a:gd name="adj" fmla="val 16129"/>
            </a:avLst>
          </a:prstGeom>
          <a:solidFill>
            <a:srgbClr val="FBF5E8"/>
          </a:solidFill>
          <a:ln w="11430">
            <a:solidFill>
              <a:srgbClr val="B8903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120640" y="50292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50" b="0" lang="fa-IR" altLang="en-US" dirty="0">
                <a:solidFill>
                  <a:srgbClr val="8A6628"/>
                </a:solidFill>
                <a:latin typeface="B Lotus"/>
                <a:ea typeface="B Lotus"/>
                <a:cs typeface="B Lotus"/>
              </a:rPr>
              <a:t>[r]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965192" y="5852159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86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سازماندهی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145536" y="4800600"/>
            <a:ext cx="566928" cy="960120"/>
          </a:xfrm>
          <a:prstGeom prst="roundRect">
            <a:avLst>
              <a:gd name="adj" fmla="val 16129"/>
            </a:avLst>
          </a:prstGeom>
          <a:solidFill>
            <a:srgbClr val="FBF5E8"/>
          </a:solidFill>
          <a:ln w="11430">
            <a:solidFill>
              <a:srgbClr val="B8903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017520" y="50292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50" b="0" lang="fa-IR" altLang="en-US" dirty="0">
                <a:solidFill>
                  <a:srgbClr val="8A6628"/>
                </a:solidFill>
                <a:latin typeface="B Lotus"/>
                <a:ea typeface="B Lotus"/>
                <a:cs typeface="B Lotus"/>
              </a:rPr>
              <a:t>[r]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862072" y="5852159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86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چیدمان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704320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20624" y="548640"/>
            <a:ext cx="0" cy="5833872"/>
          </a:xfrm>
          <a:prstGeom prst="line">
            <a:avLst/>
          </a:prstGeom>
          <a:ln w="13970">
            <a:solidFill>
              <a:srgbClr val="DADF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20624" y="548640"/>
            <a:ext cx="0" cy="3489350"/>
          </a:xfrm>
          <a:prstGeom prst="line">
            <a:avLst/>
          </a:prstGeom>
          <a:ln w="21590">
            <a:solidFill>
              <a:srgbClr val="2E7D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372618" y="555498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512064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عنوان و معرفی</a:t>
            </a:r>
          </a:p>
        </p:txBody>
      </p:sp>
      <p:sp>
        <p:nvSpPr>
          <p:cNvPr id="7" name="Oval 6"/>
          <p:cNvSpPr/>
          <p:nvPr/>
        </p:nvSpPr>
        <p:spPr>
          <a:xfrm>
            <a:off x="372618" y="937107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89367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کلیات پژوهش</a:t>
            </a:r>
          </a:p>
        </p:txBody>
      </p:sp>
      <p:sp>
        <p:nvSpPr>
          <p:cNvPr id="9" name="Oval 8"/>
          <p:cNvSpPr/>
          <p:nvPr/>
        </p:nvSpPr>
        <p:spPr>
          <a:xfrm>
            <a:off x="372618" y="1318717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27528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بیان مسئله</a:t>
            </a:r>
          </a:p>
        </p:txBody>
      </p:sp>
      <p:sp>
        <p:nvSpPr>
          <p:cNvPr id="11" name="Oval 10"/>
          <p:cNvSpPr/>
          <p:nvPr/>
        </p:nvSpPr>
        <p:spPr>
          <a:xfrm>
            <a:off x="372618" y="1700326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65689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اهمیت و ضرورت</a:t>
            </a:r>
          </a:p>
        </p:txBody>
      </p:sp>
      <p:sp>
        <p:nvSpPr>
          <p:cNvPr id="13" name="Oval 12"/>
          <p:cNvSpPr/>
          <p:nvPr/>
        </p:nvSpPr>
        <p:spPr>
          <a:xfrm>
            <a:off x="372618" y="2081936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203850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اهداف و فرضیه‌ها</a:t>
            </a:r>
          </a:p>
        </p:txBody>
      </p:sp>
      <p:sp>
        <p:nvSpPr>
          <p:cNvPr id="15" name="Oval 14"/>
          <p:cNvSpPr/>
          <p:nvPr/>
        </p:nvSpPr>
        <p:spPr>
          <a:xfrm>
            <a:off x="372618" y="2463546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242011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مبانی و پیشینه</a:t>
            </a:r>
          </a:p>
        </p:txBody>
      </p:sp>
      <p:sp>
        <p:nvSpPr>
          <p:cNvPr id="17" name="Oval 16"/>
          <p:cNvSpPr/>
          <p:nvPr/>
        </p:nvSpPr>
        <p:spPr>
          <a:xfrm>
            <a:off x="372618" y="2845155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2801721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روش‌شناسی</a:t>
            </a:r>
          </a:p>
        </p:txBody>
      </p:sp>
      <p:sp>
        <p:nvSpPr>
          <p:cNvPr id="19" name="Oval 18"/>
          <p:cNvSpPr/>
          <p:nvPr/>
        </p:nvSpPr>
        <p:spPr>
          <a:xfrm>
            <a:off x="372618" y="3226765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" y="3183331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جامعه و نمونه</a:t>
            </a:r>
          </a:p>
        </p:txBody>
      </p:sp>
      <p:sp>
        <p:nvSpPr>
          <p:cNvPr id="21" name="Oval 20"/>
          <p:cNvSpPr/>
          <p:nvPr/>
        </p:nvSpPr>
        <p:spPr>
          <a:xfrm>
            <a:off x="372618" y="3608374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356494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ابزار گردآوری</a:t>
            </a:r>
          </a:p>
        </p:txBody>
      </p:sp>
      <p:sp>
        <p:nvSpPr>
          <p:cNvPr id="23" name="Oval 22"/>
          <p:cNvSpPr/>
          <p:nvPr/>
        </p:nvSpPr>
        <p:spPr>
          <a:xfrm>
            <a:off x="324612" y="394197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7D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79476" y="3996842"/>
            <a:ext cx="82296" cy="82296"/>
          </a:xfrm>
          <a:prstGeom prst="ellipse">
            <a:avLst/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932834"/>
            <a:ext cx="960120" cy="2103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6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یافته‌ها</a:t>
            </a:r>
          </a:p>
        </p:txBody>
      </p:sp>
      <p:sp>
        <p:nvSpPr>
          <p:cNvPr id="26" name="Oval 25"/>
          <p:cNvSpPr/>
          <p:nvPr/>
        </p:nvSpPr>
        <p:spPr>
          <a:xfrm>
            <a:off x="372618" y="4371594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504" y="432816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تحلیل و بحث</a:t>
            </a:r>
          </a:p>
        </p:txBody>
      </p:sp>
      <p:sp>
        <p:nvSpPr>
          <p:cNvPr id="28" name="Oval 27"/>
          <p:cNvSpPr/>
          <p:nvPr/>
        </p:nvSpPr>
        <p:spPr>
          <a:xfrm>
            <a:off x="372618" y="4753203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" y="470976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نتیجه‌گیری</a:t>
            </a:r>
          </a:p>
        </p:txBody>
      </p:sp>
      <p:sp>
        <p:nvSpPr>
          <p:cNvPr id="30" name="Oval 29"/>
          <p:cNvSpPr/>
          <p:nvPr/>
        </p:nvSpPr>
        <p:spPr>
          <a:xfrm>
            <a:off x="372618" y="5134813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509137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پیشنهادها</a:t>
            </a:r>
          </a:p>
        </p:txBody>
      </p:sp>
      <p:sp>
        <p:nvSpPr>
          <p:cNvPr id="32" name="Oval 31"/>
          <p:cNvSpPr/>
          <p:nvPr/>
        </p:nvSpPr>
        <p:spPr>
          <a:xfrm>
            <a:off x="372618" y="551642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504" y="547298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محدودیت‌ها</a:t>
            </a:r>
          </a:p>
        </p:txBody>
      </p:sp>
      <p:sp>
        <p:nvSpPr>
          <p:cNvPr id="34" name="Oval 33"/>
          <p:cNvSpPr/>
          <p:nvPr/>
        </p:nvSpPr>
        <p:spPr>
          <a:xfrm>
            <a:off x="372618" y="589803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504" y="585459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جمع‌بندی</a:t>
            </a:r>
          </a:p>
        </p:txBody>
      </p:sp>
      <p:sp>
        <p:nvSpPr>
          <p:cNvPr id="36" name="Oval 35"/>
          <p:cNvSpPr/>
          <p:nvPr/>
        </p:nvSpPr>
        <p:spPr>
          <a:xfrm>
            <a:off x="372618" y="627964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623620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تشکر و پاسخ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283696" y="329184"/>
            <a:ext cx="82296" cy="82296"/>
          </a:xfrm>
          <a:prstGeom prst="roundRect">
            <a:avLst>
              <a:gd name="adj" fmla="val 44444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572768" y="256032"/>
            <a:ext cx="9528047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بخش ۱۰  ·  یافته‌های پژوهش (۲)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2768" y="502920"/>
            <a:ext cx="9546336" cy="4754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05000"/>
              </a:lnSpc>
            </a:pPr>
            <a:r>
              <a:rPr sz="2400" b="1" lang="fa-IR" altLang="en-US" dirty="0">
                <a:solidFill>
                  <a:srgbClr val="0D2137"/>
                </a:solidFill>
                <a:latin typeface="B Titr"/>
                <a:ea typeface="B Titr"/>
                <a:cs typeface="B Titr"/>
              </a:rPr>
              <a:t>جدول نتایج آزمون فرضیه‌ها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10735056" y="1060704"/>
            <a:ext cx="566928" cy="0"/>
          </a:xfrm>
          <a:prstGeom prst="line">
            <a:avLst/>
          </a:prstGeom>
          <a:ln w="25400">
            <a:solidFill>
              <a:srgbClr val="B890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1572768" y="1060704"/>
            <a:ext cx="9089136" cy="0"/>
          </a:xfrm>
          <a:prstGeom prst="line">
            <a:avLst/>
          </a:prstGeom>
          <a:ln w="12700">
            <a:solidFill>
              <a:srgbClr val="DADF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920240" y="6510528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74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دانشگاه پیام نور واحد جویبار  ·  دانشکدهٔ مدیریت، اقتصاد و حسابداری  ·  دفاع از پایان‌نامهٔ کارشناسی ارشد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69880" y="6492240"/>
            <a:ext cx="832104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50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۱۵ / ۲۲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387584" y="1444752"/>
            <a:ext cx="914400" cy="420624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33304" y="1444752"/>
            <a:ext cx="822960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20000"/>
              </a:lnSpc>
            </a:pPr>
            <a:r>
              <a:rPr sz="940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فرضیه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81344" y="1444752"/>
            <a:ext cx="4206240" cy="420624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27064" y="1444752"/>
            <a:ext cx="4114800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20000"/>
              </a:lnSpc>
            </a:pPr>
            <a:r>
              <a:rPr sz="940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شرح فرضیه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809744" y="1444752"/>
            <a:ext cx="1371600" cy="420624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55464" y="1444752"/>
            <a:ext cx="1280160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20000"/>
              </a:lnSpc>
            </a:pPr>
            <a:r>
              <a:rPr sz="940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ضریب r اسپیرمن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55263" y="1444752"/>
            <a:ext cx="1554480" cy="420624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00983" y="1444752"/>
            <a:ext cx="1463039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20000"/>
              </a:lnSpc>
            </a:pPr>
            <a:r>
              <a:rPr sz="940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سطح معناداری p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572767" y="1444752"/>
            <a:ext cx="1682496" cy="420624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618487" y="1444752"/>
            <a:ext cx="1591056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20000"/>
              </a:lnSpc>
            </a:pPr>
            <a:r>
              <a:rPr sz="940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نتیجهٔ آزمون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387584" y="1865376"/>
            <a:ext cx="914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181344" y="1865376"/>
            <a:ext cx="4206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809744" y="1865376"/>
            <a:ext cx="13716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255263" y="1865376"/>
            <a:ext cx="15544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572767" y="1865376"/>
            <a:ext cx="1682496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433304" y="1865376"/>
            <a:ext cx="822960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8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اصلی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27648" y="1865376"/>
            <a:ext cx="3913631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30000"/>
              </a:lnSpc>
            </a:pPr>
            <a:r>
              <a:rPr sz="1019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بازارپردازی بر ارتقای فروش محصولات شرکت دوو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55464" y="1865376"/>
            <a:ext cx="1280160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00" b="0" lang="fa-IR" altLang="en-US" dirty="0">
                <a:solidFill>
                  <a:srgbClr val="8A6628"/>
                </a:solidFill>
                <a:latin typeface="B Zar"/>
                <a:ea typeface="B Zar"/>
                <a:cs typeface="B Zar"/>
              </a:rPr>
              <a:t>[ درج ]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300983" y="1865376"/>
            <a:ext cx="1463039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00" b="0" lang="fa-IR" altLang="en-US" dirty="0">
                <a:solidFill>
                  <a:srgbClr val="8A6628"/>
                </a:solidFill>
                <a:latin typeface="B Zar"/>
                <a:ea typeface="B Zar"/>
                <a:cs typeface="B Zar"/>
              </a:rPr>
              <a:t>[ درج ]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938527" y="2048256"/>
            <a:ext cx="950976" cy="347472"/>
          </a:xfrm>
          <a:prstGeom prst="roundRect">
            <a:avLst>
              <a:gd name="adj" fmla="val 50000"/>
            </a:avLst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938527" y="2048256"/>
            <a:ext cx="950976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10000"/>
              </a:lnSpc>
            </a:pPr>
            <a:r>
              <a:rPr sz="960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تأیید شد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387584" y="2578608"/>
            <a:ext cx="914400" cy="713232"/>
          </a:xfrm>
          <a:prstGeom prst="rect">
            <a:avLst/>
          </a:prstGeom>
          <a:solidFill>
            <a:srgbClr val="F8F9FA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181344" y="2578608"/>
            <a:ext cx="4206240" cy="713232"/>
          </a:xfrm>
          <a:prstGeom prst="rect">
            <a:avLst/>
          </a:prstGeom>
          <a:solidFill>
            <a:srgbClr val="F8F9FA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809744" y="2578608"/>
            <a:ext cx="1371600" cy="713232"/>
          </a:xfrm>
          <a:prstGeom prst="rect">
            <a:avLst/>
          </a:prstGeom>
          <a:solidFill>
            <a:srgbClr val="F8F9FA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255263" y="2578608"/>
            <a:ext cx="1554480" cy="713232"/>
          </a:xfrm>
          <a:prstGeom prst="rect">
            <a:avLst/>
          </a:prstGeom>
          <a:solidFill>
            <a:srgbClr val="F8F9FA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572767" y="2578608"/>
            <a:ext cx="1682496" cy="713232"/>
          </a:xfrm>
          <a:prstGeom prst="rect">
            <a:avLst/>
          </a:prstGeom>
          <a:solidFill>
            <a:srgbClr val="F8F9FA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433304" y="2578608"/>
            <a:ext cx="822960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8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فرعی ۱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27648" y="2578608"/>
            <a:ext cx="3913631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30000"/>
              </a:lnSpc>
            </a:pPr>
            <a:r>
              <a:rPr sz="1019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استقرار اقلام تبلیغاتی در محیط بر میزان فروش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55464" y="2578608"/>
            <a:ext cx="1280160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00" b="0" lang="fa-IR" altLang="en-US" dirty="0">
                <a:solidFill>
                  <a:srgbClr val="8A6628"/>
                </a:solidFill>
                <a:latin typeface="B Zar"/>
                <a:ea typeface="B Zar"/>
                <a:cs typeface="B Zar"/>
              </a:rPr>
              <a:t>[ درج ]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300983" y="2578608"/>
            <a:ext cx="1463039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00" b="0" lang="fa-IR" altLang="en-US" dirty="0">
                <a:solidFill>
                  <a:srgbClr val="8A6628"/>
                </a:solidFill>
                <a:latin typeface="B Zar"/>
                <a:ea typeface="B Zar"/>
                <a:cs typeface="B Zar"/>
              </a:rPr>
              <a:t>[ درج ]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938527" y="2761488"/>
            <a:ext cx="950976" cy="347472"/>
          </a:xfrm>
          <a:prstGeom prst="roundRect">
            <a:avLst>
              <a:gd name="adj" fmla="val 50000"/>
            </a:avLst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938527" y="2761488"/>
            <a:ext cx="950976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10000"/>
              </a:lnSpc>
            </a:pPr>
            <a:r>
              <a:rPr sz="960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تأیید شد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387584" y="3291840"/>
            <a:ext cx="914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181344" y="3291840"/>
            <a:ext cx="4206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809744" y="3291840"/>
            <a:ext cx="13716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255263" y="3291840"/>
            <a:ext cx="15544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572767" y="3291840"/>
            <a:ext cx="1682496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433304" y="3291840"/>
            <a:ext cx="822960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8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فرعی ۲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27648" y="3291840"/>
            <a:ext cx="3913631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30000"/>
              </a:lnSpc>
            </a:pPr>
            <a:r>
              <a:rPr sz="1019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سازماندهی فعالیت‌های بازارپردازی بر میزان فروش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55464" y="3291840"/>
            <a:ext cx="1280160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00" b="0" lang="fa-IR" altLang="en-US" dirty="0">
                <a:solidFill>
                  <a:srgbClr val="8A6628"/>
                </a:solidFill>
                <a:latin typeface="B Zar"/>
                <a:ea typeface="B Zar"/>
                <a:cs typeface="B Zar"/>
              </a:rPr>
              <a:t>[ درج ]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300983" y="3291840"/>
            <a:ext cx="1463039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00" b="0" lang="fa-IR" altLang="en-US" dirty="0">
                <a:solidFill>
                  <a:srgbClr val="8A6628"/>
                </a:solidFill>
                <a:latin typeface="B Zar"/>
                <a:ea typeface="B Zar"/>
                <a:cs typeface="B Zar"/>
              </a:rPr>
              <a:t>[ درج ]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938527" y="3474720"/>
            <a:ext cx="950976" cy="347472"/>
          </a:xfrm>
          <a:prstGeom prst="roundRect">
            <a:avLst>
              <a:gd name="adj" fmla="val 50000"/>
            </a:avLst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938527" y="3474720"/>
            <a:ext cx="950976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10000"/>
              </a:lnSpc>
            </a:pPr>
            <a:r>
              <a:rPr sz="960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تأیید شد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387584" y="4005072"/>
            <a:ext cx="914400" cy="713232"/>
          </a:xfrm>
          <a:prstGeom prst="rect">
            <a:avLst/>
          </a:prstGeom>
          <a:solidFill>
            <a:srgbClr val="F8F9FA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81344" y="4005072"/>
            <a:ext cx="4206240" cy="713232"/>
          </a:xfrm>
          <a:prstGeom prst="rect">
            <a:avLst/>
          </a:prstGeom>
          <a:solidFill>
            <a:srgbClr val="F8F9FA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809744" y="4005072"/>
            <a:ext cx="1371600" cy="713232"/>
          </a:xfrm>
          <a:prstGeom prst="rect">
            <a:avLst/>
          </a:prstGeom>
          <a:solidFill>
            <a:srgbClr val="F8F9FA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255263" y="4005072"/>
            <a:ext cx="1554480" cy="713232"/>
          </a:xfrm>
          <a:prstGeom prst="rect">
            <a:avLst/>
          </a:prstGeom>
          <a:solidFill>
            <a:srgbClr val="F8F9FA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572767" y="4005072"/>
            <a:ext cx="1682496" cy="713232"/>
          </a:xfrm>
          <a:prstGeom prst="rect">
            <a:avLst/>
          </a:prstGeom>
          <a:solidFill>
            <a:srgbClr val="F8F9FA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433304" y="4005072"/>
            <a:ext cx="822960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8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فرعی 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27648" y="4005072"/>
            <a:ext cx="3913631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30000"/>
              </a:lnSpc>
            </a:pPr>
            <a:r>
              <a:rPr sz="1019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چیدمان و جانمایی بهینهٔ محصولات بر میزان فروش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55464" y="4005072"/>
            <a:ext cx="1280160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00" b="0" lang="fa-IR" altLang="en-US" dirty="0">
                <a:solidFill>
                  <a:srgbClr val="8A6628"/>
                </a:solidFill>
                <a:latin typeface="B Zar"/>
                <a:ea typeface="B Zar"/>
                <a:cs typeface="B Zar"/>
              </a:rPr>
              <a:t>[ درج ]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300983" y="4005072"/>
            <a:ext cx="1463039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00" b="0" lang="fa-IR" altLang="en-US" dirty="0">
                <a:solidFill>
                  <a:srgbClr val="8A6628"/>
                </a:solidFill>
                <a:latin typeface="B Zar"/>
                <a:ea typeface="B Zar"/>
                <a:cs typeface="B Zar"/>
              </a:rPr>
              <a:t>[ درج ]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1938527" y="4187952"/>
            <a:ext cx="950976" cy="347472"/>
          </a:xfrm>
          <a:prstGeom prst="roundRect">
            <a:avLst>
              <a:gd name="adj" fmla="val 50000"/>
            </a:avLst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938527" y="4187952"/>
            <a:ext cx="950976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10000"/>
              </a:lnSpc>
            </a:pPr>
            <a:r>
              <a:rPr sz="960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تأیید شد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572768" y="4846320"/>
            <a:ext cx="9729215" cy="1298448"/>
          </a:xfrm>
          <a:prstGeom prst="roundRect">
            <a:avLst>
              <a:gd name="adj" fmla="val 16901"/>
            </a:avLst>
          </a:prstGeom>
          <a:solidFill>
            <a:srgbClr val="FBF5E8"/>
          </a:solidFill>
          <a:ln w="12700">
            <a:solidFill>
              <a:srgbClr val="B8903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892807" y="5010912"/>
            <a:ext cx="9089136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8A6628"/>
                </a:solidFill>
                <a:latin typeface="B Lotus"/>
                <a:ea typeface="B Lotus"/>
                <a:cs typeface="B Lotus"/>
              </a:rPr>
              <a:t>راهنمای جای‌گذاری داده‌ها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892807" y="5321808"/>
            <a:ext cx="9089136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5000"/>
              </a:lnSpc>
            </a:pPr>
            <a:r>
              <a:rPr sz="980" b="0" lang="fa-IR" altLang="en-US" dirty="0">
                <a:solidFill>
                  <a:srgbClr val="6E5424"/>
                </a:solidFill>
                <a:latin typeface="B Zar"/>
                <a:ea typeface="B Zar"/>
                <a:cs typeface="B Zar"/>
              </a:rPr>
              <a:t>ستون‌های ضریب همبستگی (r) و سطح معناداری (p) دقیقاً از جدول‌های خروجی SPSS در فصل ۴ استخراج و جای‌گذاری شوند؛ از درج اعداد تقریبی یا حدسی خودداری گردد. سطح خطای آزمون (آلفا) و علامت‌گذاری معناداری طبق رساله تنظیم شود.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704320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20624" y="548640"/>
            <a:ext cx="0" cy="5833872"/>
          </a:xfrm>
          <a:prstGeom prst="line">
            <a:avLst/>
          </a:prstGeom>
          <a:ln w="13970">
            <a:solidFill>
              <a:srgbClr val="DADF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20624" y="548640"/>
            <a:ext cx="0" cy="3489350"/>
          </a:xfrm>
          <a:prstGeom prst="line">
            <a:avLst/>
          </a:prstGeom>
          <a:ln w="21590">
            <a:solidFill>
              <a:srgbClr val="2E7D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372618" y="555498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512064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عنوان و معرفی</a:t>
            </a:r>
          </a:p>
        </p:txBody>
      </p:sp>
      <p:sp>
        <p:nvSpPr>
          <p:cNvPr id="7" name="Oval 6"/>
          <p:cNvSpPr/>
          <p:nvPr/>
        </p:nvSpPr>
        <p:spPr>
          <a:xfrm>
            <a:off x="372618" y="937107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89367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کلیات پژوهش</a:t>
            </a:r>
          </a:p>
        </p:txBody>
      </p:sp>
      <p:sp>
        <p:nvSpPr>
          <p:cNvPr id="9" name="Oval 8"/>
          <p:cNvSpPr/>
          <p:nvPr/>
        </p:nvSpPr>
        <p:spPr>
          <a:xfrm>
            <a:off x="372618" y="1318717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27528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بیان مسئله</a:t>
            </a:r>
          </a:p>
        </p:txBody>
      </p:sp>
      <p:sp>
        <p:nvSpPr>
          <p:cNvPr id="11" name="Oval 10"/>
          <p:cNvSpPr/>
          <p:nvPr/>
        </p:nvSpPr>
        <p:spPr>
          <a:xfrm>
            <a:off x="372618" y="1700326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65689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اهمیت و ضرورت</a:t>
            </a:r>
          </a:p>
        </p:txBody>
      </p:sp>
      <p:sp>
        <p:nvSpPr>
          <p:cNvPr id="13" name="Oval 12"/>
          <p:cNvSpPr/>
          <p:nvPr/>
        </p:nvSpPr>
        <p:spPr>
          <a:xfrm>
            <a:off x="372618" y="2081936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203850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اهداف و فرضیه‌ها</a:t>
            </a:r>
          </a:p>
        </p:txBody>
      </p:sp>
      <p:sp>
        <p:nvSpPr>
          <p:cNvPr id="15" name="Oval 14"/>
          <p:cNvSpPr/>
          <p:nvPr/>
        </p:nvSpPr>
        <p:spPr>
          <a:xfrm>
            <a:off x="372618" y="2463546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242011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مبانی و پیشینه</a:t>
            </a:r>
          </a:p>
        </p:txBody>
      </p:sp>
      <p:sp>
        <p:nvSpPr>
          <p:cNvPr id="17" name="Oval 16"/>
          <p:cNvSpPr/>
          <p:nvPr/>
        </p:nvSpPr>
        <p:spPr>
          <a:xfrm>
            <a:off x="372618" y="2845155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2801721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روش‌شناسی</a:t>
            </a:r>
          </a:p>
        </p:txBody>
      </p:sp>
      <p:sp>
        <p:nvSpPr>
          <p:cNvPr id="19" name="Oval 18"/>
          <p:cNvSpPr/>
          <p:nvPr/>
        </p:nvSpPr>
        <p:spPr>
          <a:xfrm>
            <a:off x="372618" y="3226765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" y="3183331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جامعه و نمونه</a:t>
            </a:r>
          </a:p>
        </p:txBody>
      </p:sp>
      <p:sp>
        <p:nvSpPr>
          <p:cNvPr id="21" name="Oval 20"/>
          <p:cNvSpPr/>
          <p:nvPr/>
        </p:nvSpPr>
        <p:spPr>
          <a:xfrm>
            <a:off x="372618" y="3608374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356494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ابزار گردآوری</a:t>
            </a:r>
          </a:p>
        </p:txBody>
      </p:sp>
      <p:sp>
        <p:nvSpPr>
          <p:cNvPr id="23" name="Oval 22"/>
          <p:cNvSpPr/>
          <p:nvPr/>
        </p:nvSpPr>
        <p:spPr>
          <a:xfrm>
            <a:off x="324612" y="394197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7D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79476" y="3996842"/>
            <a:ext cx="82296" cy="82296"/>
          </a:xfrm>
          <a:prstGeom prst="ellipse">
            <a:avLst/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932834"/>
            <a:ext cx="960120" cy="2103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6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یافته‌ها</a:t>
            </a:r>
          </a:p>
        </p:txBody>
      </p:sp>
      <p:sp>
        <p:nvSpPr>
          <p:cNvPr id="26" name="Oval 25"/>
          <p:cNvSpPr/>
          <p:nvPr/>
        </p:nvSpPr>
        <p:spPr>
          <a:xfrm>
            <a:off x="372618" y="4371594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504" y="432816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تحلیل و بحث</a:t>
            </a:r>
          </a:p>
        </p:txBody>
      </p:sp>
      <p:sp>
        <p:nvSpPr>
          <p:cNvPr id="28" name="Oval 27"/>
          <p:cNvSpPr/>
          <p:nvPr/>
        </p:nvSpPr>
        <p:spPr>
          <a:xfrm>
            <a:off x="372618" y="4753203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" y="470976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نتیجه‌گیری</a:t>
            </a:r>
          </a:p>
        </p:txBody>
      </p:sp>
      <p:sp>
        <p:nvSpPr>
          <p:cNvPr id="30" name="Oval 29"/>
          <p:cNvSpPr/>
          <p:nvPr/>
        </p:nvSpPr>
        <p:spPr>
          <a:xfrm>
            <a:off x="372618" y="5134813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509137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پیشنهادها</a:t>
            </a:r>
          </a:p>
        </p:txBody>
      </p:sp>
      <p:sp>
        <p:nvSpPr>
          <p:cNvPr id="32" name="Oval 31"/>
          <p:cNvSpPr/>
          <p:nvPr/>
        </p:nvSpPr>
        <p:spPr>
          <a:xfrm>
            <a:off x="372618" y="551642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504" y="547298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محدودیت‌ها</a:t>
            </a:r>
          </a:p>
        </p:txBody>
      </p:sp>
      <p:sp>
        <p:nvSpPr>
          <p:cNvPr id="34" name="Oval 33"/>
          <p:cNvSpPr/>
          <p:nvPr/>
        </p:nvSpPr>
        <p:spPr>
          <a:xfrm>
            <a:off x="372618" y="589803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504" y="585459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جمع‌بندی</a:t>
            </a:r>
          </a:p>
        </p:txBody>
      </p:sp>
      <p:sp>
        <p:nvSpPr>
          <p:cNvPr id="36" name="Oval 35"/>
          <p:cNvSpPr/>
          <p:nvPr/>
        </p:nvSpPr>
        <p:spPr>
          <a:xfrm>
            <a:off x="372618" y="627964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623620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تشکر و پاسخ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283696" y="329184"/>
            <a:ext cx="82296" cy="82296"/>
          </a:xfrm>
          <a:prstGeom prst="roundRect">
            <a:avLst>
              <a:gd name="adj" fmla="val 44444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572768" y="256032"/>
            <a:ext cx="9528047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بخش ۱۰  ·  یافته‌های پژوهش (۳)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2768" y="502920"/>
            <a:ext cx="9546336" cy="4754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05000"/>
              </a:lnSpc>
            </a:pPr>
            <a:r>
              <a:rPr sz="2400" b="1" lang="fa-IR" altLang="en-US" dirty="0">
                <a:solidFill>
                  <a:srgbClr val="0D2137"/>
                </a:solidFill>
                <a:latin typeface="B Titr"/>
                <a:ea typeface="B Titr"/>
                <a:cs typeface="B Titr"/>
              </a:rPr>
              <a:t>یافته‌های توصیفی (چارچوب درج داده)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10735056" y="1060704"/>
            <a:ext cx="566928" cy="0"/>
          </a:xfrm>
          <a:prstGeom prst="line">
            <a:avLst/>
          </a:prstGeom>
          <a:ln w="25400">
            <a:solidFill>
              <a:srgbClr val="B890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1572768" y="1060704"/>
            <a:ext cx="9089136" cy="0"/>
          </a:xfrm>
          <a:prstGeom prst="line">
            <a:avLst/>
          </a:prstGeom>
          <a:ln w="12700">
            <a:solidFill>
              <a:srgbClr val="DADF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920240" y="6510528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74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دانشگاه پیام نور واحد جویبار  ·  دانشکدهٔ مدیریت، اقتصاد و حسابداری  ·  دفاع از پایان‌نامهٔ کارشناسی ارشد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69880" y="6492240"/>
            <a:ext cx="832104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50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۱۶ / ۲۲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355080" y="1417320"/>
            <a:ext cx="4946904" cy="4736592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0" y="1591056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2000"/>
              </a:lnSpc>
            </a:pPr>
            <a:r>
              <a:rPr sz="1150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جدول شاخص‌های توصیفی متغیرها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387584" y="1993392"/>
            <a:ext cx="914400" cy="566928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415015" y="1993392"/>
            <a:ext cx="859536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15000"/>
              </a:lnSpc>
            </a:pPr>
            <a:r>
              <a:rPr sz="819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شاخص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381744" y="1993392"/>
            <a:ext cx="1005840" cy="566928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09176" y="1993392"/>
            <a:ext cx="950976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15000"/>
              </a:lnSpc>
            </a:pPr>
            <a:r>
              <a:rPr sz="819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اقلام تبلیغاتی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75904" y="1993392"/>
            <a:ext cx="1005840" cy="566928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03336" y="1993392"/>
            <a:ext cx="950976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15000"/>
              </a:lnSpc>
            </a:pPr>
            <a:r>
              <a:rPr sz="819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سازماندهی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61504" y="1993392"/>
            <a:ext cx="914400" cy="566928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88936" y="1993392"/>
            <a:ext cx="859536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15000"/>
              </a:lnSpc>
            </a:pPr>
            <a:r>
              <a:rPr sz="819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چیدمان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55080" y="1993392"/>
            <a:ext cx="1106424" cy="566928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82512" y="1993392"/>
            <a:ext cx="105156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15000"/>
              </a:lnSpc>
            </a:pPr>
            <a:r>
              <a:rPr sz="819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فروش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387584" y="2560320"/>
            <a:ext cx="91440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433304" y="2560320"/>
            <a:ext cx="822960" cy="6583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88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میانگین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381744" y="2560320"/>
            <a:ext cx="100584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427464" y="2560320"/>
            <a:ext cx="914400" cy="6583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50" b="0" lang="fa-IR" altLang="en-US" dirty="0">
                <a:solidFill>
                  <a:srgbClr val="B49664"/>
                </a:solidFill>
                <a:latin typeface="B Zar"/>
                <a:ea typeface="B Zar"/>
                <a:cs typeface="B Zar"/>
              </a:rPr>
              <a:t>—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75904" y="2560320"/>
            <a:ext cx="100584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21624" y="2560320"/>
            <a:ext cx="914400" cy="6583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50" b="0" lang="fa-IR" altLang="en-US" dirty="0">
                <a:solidFill>
                  <a:srgbClr val="B49664"/>
                </a:solidFill>
                <a:latin typeface="B Zar"/>
                <a:ea typeface="B Zar"/>
                <a:cs typeface="B Zar"/>
              </a:rPr>
              <a:t>—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461504" y="2560320"/>
            <a:ext cx="91440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507224" y="2560320"/>
            <a:ext cx="822960" cy="6583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50" b="0" lang="fa-IR" altLang="en-US" dirty="0">
                <a:solidFill>
                  <a:srgbClr val="B49664"/>
                </a:solidFill>
                <a:latin typeface="B Zar"/>
                <a:ea typeface="B Zar"/>
                <a:cs typeface="B Zar"/>
              </a:rPr>
              <a:t>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355080" y="2560320"/>
            <a:ext cx="1106424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00800" y="2560320"/>
            <a:ext cx="1014983" cy="6583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50" b="0" lang="fa-IR" altLang="en-US" dirty="0">
                <a:solidFill>
                  <a:srgbClr val="B49664"/>
                </a:solidFill>
                <a:latin typeface="B Zar"/>
                <a:ea typeface="B Zar"/>
                <a:cs typeface="B Zar"/>
              </a:rPr>
              <a:t>—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387584" y="3218688"/>
            <a:ext cx="914400" cy="658368"/>
          </a:xfrm>
          <a:prstGeom prst="rect">
            <a:avLst/>
          </a:prstGeom>
          <a:solidFill>
            <a:srgbClr val="F8F9FA"/>
          </a:solidFill>
          <a:ln w="889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433304" y="3218688"/>
            <a:ext cx="822960" cy="6583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88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انحراف معیار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381744" y="3218688"/>
            <a:ext cx="1005840" cy="658368"/>
          </a:xfrm>
          <a:prstGeom prst="rect">
            <a:avLst/>
          </a:prstGeom>
          <a:solidFill>
            <a:srgbClr val="F8F9FA"/>
          </a:solidFill>
          <a:ln w="889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427464" y="3218688"/>
            <a:ext cx="914400" cy="6583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50" b="0" lang="fa-IR" altLang="en-US" dirty="0">
                <a:solidFill>
                  <a:srgbClr val="B49664"/>
                </a:solidFill>
                <a:latin typeface="B Zar"/>
                <a:ea typeface="B Zar"/>
                <a:cs typeface="B Zar"/>
              </a:rPr>
              <a:t>—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375904" y="3218688"/>
            <a:ext cx="1005840" cy="658368"/>
          </a:xfrm>
          <a:prstGeom prst="rect">
            <a:avLst/>
          </a:prstGeom>
          <a:solidFill>
            <a:srgbClr val="F8F9FA"/>
          </a:solidFill>
          <a:ln w="889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21624" y="3218688"/>
            <a:ext cx="914400" cy="6583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50" b="0" lang="fa-IR" altLang="en-US" dirty="0">
                <a:solidFill>
                  <a:srgbClr val="B49664"/>
                </a:solidFill>
                <a:latin typeface="B Zar"/>
                <a:ea typeface="B Zar"/>
                <a:cs typeface="B Zar"/>
              </a:rPr>
              <a:t>—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461504" y="3218688"/>
            <a:ext cx="914400" cy="658368"/>
          </a:xfrm>
          <a:prstGeom prst="rect">
            <a:avLst/>
          </a:prstGeom>
          <a:solidFill>
            <a:srgbClr val="F8F9FA"/>
          </a:solidFill>
          <a:ln w="889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507224" y="3218688"/>
            <a:ext cx="822960" cy="6583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50" b="0" lang="fa-IR" altLang="en-US" dirty="0">
                <a:solidFill>
                  <a:srgbClr val="B49664"/>
                </a:solidFill>
                <a:latin typeface="B Zar"/>
                <a:ea typeface="B Zar"/>
                <a:cs typeface="B Zar"/>
              </a:rPr>
              <a:t>—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55080" y="3218688"/>
            <a:ext cx="1106424" cy="658368"/>
          </a:xfrm>
          <a:prstGeom prst="rect">
            <a:avLst/>
          </a:prstGeom>
          <a:solidFill>
            <a:srgbClr val="F8F9FA"/>
          </a:solidFill>
          <a:ln w="889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3218688"/>
            <a:ext cx="1014983" cy="6583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50" b="0" lang="fa-IR" altLang="en-US" dirty="0">
                <a:solidFill>
                  <a:srgbClr val="B49664"/>
                </a:solidFill>
                <a:latin typeface="B Zar"/>
                <a:ea typeface="B Zar"/>
                <a:cs typeface="B Zar"/>
              </a:rPr>
              <a:t>—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387584" y="3877056"/>
            <a:ext cx="91440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433304" y="3877056"/>
            <a:ext cx="822960" cy="6583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88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کمینه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381744" y="3877056"/>
            <a:ext cx="100584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427464" y="3877056"/>
            <a:ext cx="914400" cy="6583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50" b="0" lang="fa-IR" altLang="en-US" dirty="0">
                <a:solidFill>
                  <a:srgbClr val="B49664"/>
                </a:solidFill>
                <a:latin typeface="B Zar"/>
                <a:ea typeface="B Zar"/>
                <a:cs typeface="B Zar"/>
              </a:rPr>
              <a:t>—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375904" y="3877056"/>
            <a:ext cx="100584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421624" y="3877056"/>
            <a:ext cx="914400" cy="6583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50" b="0" lang="fa-IR" altLang="en-US" dirty="0">
                <a:solidFill>
                  <a:srgbClr val="B49664"/>
                </a:solidFill>
                <a:latin typeface="B Zar"/>
                <a:ea typeface="B Zar"/>
                <a:cs typeface="B Zar"/>
              </a:rPr>
              <a:t>—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461504" y="3877056"/>
            <a:ext cx="91440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507224" y="3877056"/>
            <a:ext cx="822960" cy="6583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50" b="0" lang="fa-IR" altLang="en-US" dirty="0">
                <a:solidFill>
                  <a:srgbClr val="B49664"/>
                </a:solidFill>
                <a:latin typeface="B Zar"/>
                <a:ea typeface="B Zar"/>
                <a:cs typeface="B Zar"/>
              </a:rPr>
              <a:t>—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355080" y="3877056"/>
            <a:ext cx="1106424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400800" y="3877056"/>
            <a:ext cx="1014983" cy="6583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50" b="0" lang="fa-IR" altLang="en-US" dirty="0">
                <a:solidFill>
                  <a:srgbClr val="B49664"/>
                </a:solidFill>
                <a:latin typeface="B Zar"/>
                <a:ea typeface="B Zar"/>
                <a:cs typeface="B Zar"/>
              </a:rPr>
              <a:t>—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0387584" y="4535424"/>
            <a:ext cx="914400" cy="658368"/>
          </a:xfrm>
          <a:prstGeom prst="rect">
            <a:avLst/>
          </a:prstGeom>
          <a:solidFill>
            <a:srgbClr val="F8F9FA"/>
          </a:solidFill>
          <a:ln w="889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433304" y="4535424"/>
            <a:ext cx="822960" cy="6583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88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بیشینه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381744" y="4535424"/>
            <a:ext cx="1005840" cy="658368"/>
          </a:xfrm>
          <a:prstGeom prst="rect">
            <a:avLst/>
          </a:prstGeom>
          <a:solidFill>
            <a:srgbClr val="F8F9FA"/>
          </a:solidFill>
          <a:ln w="889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427464" y="4535424"/>
            <a:ext cx="914400" cy="6583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50" b="0" lang="fa-IR" altLang="en-US" dirty="0">
                <a:solidFill>
                  <a:srgbClr val="B49664"/>
                </a:solidFill>
                <a:latin typeface="B Zar"/>
                <a:ea typeface="B Zar"/>
                <a:cs typeface="B Zar"/>
              </a:rPr>
              <a:t>—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375904" y="4535424"/>
            <a:ext cx="1005840" cy="658368"/>
          </a:xfrm>
          <a:prstGeom prst="rect">
            <a:avLst/>
          </a:prstGeom>
          <a:solidFill>
            <a:srgbClr val="F8F9FA"/>
          </a:solidFill>
          <a:ln w="889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421624" y="4535424"/>
            <a:ext cx="914400" cy="6583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50" b="0" lang="fa-IR" altLang="en-US" dirty="0">
                <a:solidFill>
                  <a:srgbClr val="B49664"/>
                </a:solidFill>
                <a:latin typeface="B Zar"/>
                <a:ea typeface="B Zar"/>
                <a:cs typeface="B Zar"/>
              </a:rPr>
              <a:t>—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461504" y="4535424"/>
            <a:ext cx="914400" cy="658368"/>
          </a:xfrm>
          <a:prstGeom prst="rect">
            <a:avLst/>
          </a:prstGeom>
          <a:solidFill>
            <a:srgbClr val="F8F9FA"/>
          </a:solidFill>
          <a:ln w="889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507224" y="4535424"/>
            <a:ext cx="822960" cy="6583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50" b="0" lang="fa-IR" altLang="en-US" dirty="0">
                <a:solidFill>
                  <a:srgbClr val="B49664"/>
                </a:solidFill>
                <a:latin typeface="B Zar"/>
                <a:ea typeface="B Zar"/>
                <a:cs typeface="B Zar"/>
              </a:rPr>
              <a:t>—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355080" y="4535424"/>
            <a:ext cx="1106424" cy="658368"/>
          </a:xfrm>
          <a:prstGeom prst="rect">
            <a:avLst/>
          </a:prstGeom>
          <a:solidFill>
            <a:srgbClr val="F8F9FA"/>
          </a:solidFill>
          <a:ln w="889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400800" y="4535424"/>
            <a:ext cx="1014983" cy="6583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50" b="0" lang="fa-IR" altLang="en-US" dirty="0">
                <a:solidFill>
                  <a:srgbClr val="B49664"/>
                </a:solidFill>
                <a:latin typeface="B Zar"/>
                <a:ea typeface="B Zar"/>
                <a:cs typeface="B Zar"/>
              </a:rPr>
              <a:t>—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83680" y="5285232"/>
            <a:ext cx="4498848" cy="658368"/>
          </a:xfrm>
          <a:prstGeom prst="roundRect">
            <a:avLst>
              <a:gd name="adj" fmla="val 27777"/>
            </a:avLst>
          </a:prstGeom>
          <a:solidFill>
            <a:srgbClr val="FBF5E8"/>
          </a:solidFill>
          <a:ln w="13970">
            <a:solidFill>
              <a:srgbClr val="B8903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711696" y="5285232"/>
            <a:ext cx="4242816" cy="6583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0000"/>
              </a:lnSpc>
            </a:pPr>
            <a:r>
              <a:rPr sz="930" b="0" lang="fa-IR" altLang="en-US" dirty="0">
                <a:solidFill>
                  <a:srgbClr val="8A6628"/>
                </a:solidFill>
                <a:latin typeface="B Zar"/>
                <a:ea typeface="B Zar"/>
                <a:cs typeface="B Zar"/>
              </a:rPr>
              <a:t>اعداد از جدول توصیفی SPSS فصل ۴ درج شود.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572768" y="1417320"/>
            <a:ext cx="4617720" cy="2267712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480560" y="1572768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35000"/>
              </a:lnSpc>
            </a:pPr>
            <a:r>
              <a:rPr sz="1019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ویژگی‌های جمعیت‌شناختی نمونه</a:t>
            </a:r>
          </a:p>
        </p:txBody>
      </p:sp>
      <p:sp>
        <p:nvSpPr>
          <p:cNvPr id="101" name="Oval 100"/>
          <p:cNvSpPr/>
          <p:nvPr/>
        </p:nvSpPr>
        <p:spPr>
          <a:xfrm>
            <a:off x="1965960" y="1783080"/>
            <a:ext cx="1234440" cy="1234440"/>
          </a:xfrm>
          <a:prstGeom prst="ellipse">
            <a:avLst/>
          </a:prstGeom>
          <a:noFill/>
          <a:ln w="2794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Block Arc 101"/>
          <p:cNvSpPr/>
          <p:nvPr/>
        </p:nvSpPr>
        <p:spPr>
          <a:xfrm>
            <a:off x="1965960" y="1783080"/>
            <a:ext cx="1234440" cy="1234440"/>
          </a:xfrm>
          <a:prstGeom prst="blockArc">
            <a:avLst>
              <a:gd name="adj1" fmla="val 1620000000000"/>
              <a:gd name="adj2" fmla="val 2520000000000"/>
              <a:gd name="adj3" fmla="val 2200000000"/>
            </a:avLst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Block Arc 102"/>
          <p:cNvSpPr/>
          <p:nvPr/>
        </p:nvSpPr>
        <p:spPr>
          <a:xfrm>
            <a:off x="1965960" y="1783080"/>
            <a:ext cx="1234440" cy="1234440"/>
          </a:xfrm>
          <a:prstGeom prst="blockArc">
            <a:avLst>
              <a:gd name="adj1" fmla="val 420000000000"/>
              <a:gd name="adj2" fmla="val 1080000000000"/>
              <a:gd name="adj3" fmla="val 2200000000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965960" y="2194560"/>
            <a:ext cx="123444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1300" b="0" lang="fa-IR" altLang="en-US" dirty="0">
                <a:solidFill>
                  <a:srgbClr val="8A6628"/>
                </a:solidFill>
                <a:latin typeface="B Lotus"/>
                <a:ea typeface="B Lotus"/>
                <a:cs typeface="B Lotus"/>
              </a:rPr>
              <a:t>[٪]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1546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88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جنسیت · سن · تحصیلات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1572768" y="3840480"/>
            <a:ext cx="4617720" cy="2313432"/>
          </a:xfrm>
          <a:prstGeom prst="roundRect">
            <a:avLst>
              <a:gd name="adj" fmla="val 9486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801368" y="4005072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2000"/>
              </a:lnSpc>
            </a:pPr>
            <a:r>
              <a:rPr sz="1019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سایر نمودارهای توصیفی فصل ۴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1965960" y="4480560"/>
            <a:ext cx="0" cy="1325880"/>
          </a:xfrm>
          <a:prstGeom prst="line">
            <a:avLst/>
          </a:prstGeom>
          <a:ln w="12700">
            <a:solidFill>
              <a:srgbClr val="6B77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1965960" y="5806440"/>
            <a:ext cx="3703320" cy="0"/>
          </a:xfrm>
          <a:prstGeom prst="line">
            <a:avLst/>
          </a:prstGeom>
          <a:ln w="12700">
            <a:solidFill>
              <a:srgbClr val="6B77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Rounded Rectangle 109"/>
          <p:cNvSpPr/>
          <p:nvPr/>
        </p:nvSpPr>
        <p:spPr>
          <a:xfrm>
            <a:off x="5047488" y="4937759"/>
            <a:ext cx="365760" cy="868680"/>
          </a:xfrm>
          <a:prstGeom prst="roundRect">
            <a:avLst>
              <a:gd name="adj" fmla="val 20000"/>
            </a:avLst>
          </a:prstGeom>
          <a:solidFill>
            <a:srgbClr val="FBF5E8"/>
          </a:solidFill>
          <a:ln w="11430">
            <a:solidFill>
              <a:srgbClr val="B8903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4334255" y="4983479"/>
            <a:ext cx="365760" cy="822959"/>
          </a:xfrm>
          <a:prstGeom prst="roundRect">
            <a:avLst>
              <a:gd name="adj" fmla="val 20000"/>
            </a:avLst>
          </a:prstGeom>
          <a:solidFill>
            <a:srgbClr val="FBF5E8"/>
          </a:solidFill>
          <a:ln w="11430">
            <a:solidFill>
              <a:srgbClr val="B8903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3621023" y="5029199"/>
            <a:ext cx="365760" cy="777240"/>
          </a:xfrm>
          <a:prstGeom prst="roundRect">
            <a:avLst>
              <a:gd name="adj" fmla="val 20000"/>
            </a:avLst>
          </a:prstGeom>
          <a:solidFill>
            <a:srgbClr val="FBF5E8"/>
          </a:solidFill>
          <a:ln w="11430">
            <a:solidFill>
              <a:srgbClr val="B8903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2907791" y="5074920"/>
            <a:ext cx="365760" cy="731519"/>
          </a:xfrm>
          <a:prstGeom prst="roundRect">
            <a:avLst>
              <a:gd name="adj" fmla="val 20000"/>
            </a:avLst>
          </a:prstGeom>
          <a:solidFill>
            <a:srgbClr val="FBF5E8"/>
          </a:solidFill>
          <a:ln w="11430">
            <a:solidFill>
              <a:srgbClr val="B8903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2194559" y="5120640"/>
            <a:ext cx="365760" cy="685800"/>
          </a:xfrm>
          <a:prstGeom prst="roundRect">
            <a:avLst>
              <a:gd name="adj" fmla="val 20000"/>
            </a:avLst>
          </a:prstGeom>
          <a:solidFill>
            <a:srgbClr val="FBF5E8"/>
          </a:solidFill>
          <a:ln w="11430">
            <a:solidFill>
              <a:srgbClr val="B8903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801368" y="5888736"/>
            <a:ext cx="411480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840" b="0" lang="fa-IR" altLang="en-US" dirty="0">
                <a:solidFill>
                  <a:srgbClr val="8A6628"/>
                </a:solidFill>
                <a:latin typeface="B Zar"/>
                <a:ea typeface="B Zar"/>
                <a:cs typeface="B Zar"/>
              </a:rPr>
              <a:t>[محورها و عناوین بر اساس خروجی فصل ۴ تنظیم شود]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704320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20624" y="548640"/>
            <a:ext cx="0" cy="5833872"/>
          </a:xfrm>
          <a:prstGeom prst="line">
            <a:avLst/>
          </a:prstGeom>
          <a:ln w="13970">
            <a:solidFill>
              <a:srgbClr val="DADF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20624" y="548640"/>
            <a:ext cx="0" cy="3870960"/>
          </a:xfrm>
          <a:prstGeom prst="line">
            <a:avLst/>
          </a:prstGeom>
          <a:ln w="21590">
            <a:solidFill>
              <a:srgbClr val="2E7D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372618" y="555498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512064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عنوان و معرفی</a:t>
            </a:r>
          </a:p>
        </p:txBody>
      </p:sp>
      <p:sp>
        <p:nvSpPr>
          <p:cNvPr id="7" name="Oval 6"/>
          <p:cNvSpPr/>
          <p:nvPr/>
        </p:nvSpPr>
        <p:spPr>
          <a:xfrm>
            <a:off x="372618" y="937107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89367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کلیات پژوهش</a:t>
            </a:r>
          </a:p>
        </p:txBody>
      </p:sp>
      <p:sp>
        <p:nvSpPr>
          <p:cNvPr id="9" name="Oval 8"/>
          <p:cNvSpPr/>
          <p:nvPr/>
        </p:nvSpPr>
        <p:spPr>
          <a:xfrm>
            <a:off x="372618" y="1318717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27528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بیان مسئله</a:t>
            </a:r>
          </a:p>
        </p:txBody>
      </p:sp>
      <p:sp>
        <p:nvSpPr>
          <p:cNvPr id="11" name="Oval 10"/>
          <p:cNvSpPr/>
          <p:nvPr/>
        </p:nvSpPr>
        <p:spPr>
          <a:xfrm>
            <a:off x="372618" y="1700326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65689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اهمیت و ضرورت</a:t>
            </a:r>
          </a:p>
        </p:txBody>
      </p:sp>
      <p:sp>
        <p:nvSpPr>
          <p:cNvPr id="13" name="Oval 12"/>
          <p:cNvSpPr/>
          <p:nvPr/>
        </p:nvSpPr>
        <p:spPr>
          <a:xfrm>
            <a:off x="372618" y="2081936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203850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اهداف و فرضیه‌ها</a:t>
            </a:r>
          </a:p>
        </p:txBody>
      </p:sp>
      <p:sp>
        <p:nvSpPr>
          <p:cNvPr id="15" name="Oval 14"/>
          <p:cNvSpPr/>
          <p:nvPr/>
        </p:nvSpPr>
        <p:spPr>
          <a:xfrm>
            <a:off x="372618" y="2463546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242011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مبانی و پیشینه</a:t>
            </a:r>
          </a:p>
        </p:txBody>
      </p:sp>
      <p:sp>
        <p:nvSpPr>
          <p:cNvPr id="17" name="Oval 16"/>
          <p:cNvSpPr/>
          <p:nvPr/>
        </p:nvSpPr>
        <p:spPr>
          <a:xfrm>
            <a:off x="372618" y="2845155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2801721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روش‌شناسی</a:t>
            </a:r>
          </a:p>
        </p:txBody>
      </p:sp>
      <p:sp>
        <p:nvSpPr>
          <p:cNvPr id="19" name="Oval 18"/>
          <p:cNvSpPr/>
          <p:nvPr/>
        </p:nvSpPr>
        <p:spPr>
          <a:xfrm>
            <a:off x="372618" y="3226765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" y="3183331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جامعه و نمونه</a:t>
            </a:r>
          </a:p>
        </p:txBody>
      </p:sp>
      <p:sp>
        <p:nvSpPr>
          <p:cNvPr id="21" name="Oval 20"/>
          <p:cNvSpPr/>
          <p:nvPr/>
        </p:nvSpPr>
        <p:spPr>
          <a:xfrm>
            <a:off x="372618" y="3608374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356494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ابزار گردآوری</a:t>
            </a:r>
          </a:p>
        </p:txBody>
      </p:sp>
      <p:sp>
        <p:nvSpPr>
          <p:cNvPr id="23" name="Oval 22"/>
          <p:cNvSpPr/>
          <p:nvPr/>
        </p:nvSpPr>
        <p:spPr>
          <a:xfrm>
            <a:off x="372618" y="3989984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" y="394655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یافته‌ها</a:t>
            </a:r>
          </a:p>
        </p:txBody>
      </p:sp>
      <p:sp>
        <p:nvSpPr>
          <p:cNvPr id="25" name="Oval 24"/>
          <p:cNvSpPr/>
          <p:nvPr/>
        </p:nvSpPr>
        <p:spPr>
          <a:xfrm>
            <a:off x="324612" y="432358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7D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79476" y="4378452"/>
            <a:ext cx="82296" cy="82296"/>
          </a:xfrm>
          <a:prstGeom prst="ellipse">
            <a:avLst/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504" y="4314444"/>
            <a:ext cx="960120" cy="2103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6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تحلیل و بحث</a:t>
            </a:r>
          </a:p>
        </p:txBody>
      </p:sp>
      <p:sp>
        <p:nvSpPr>
          <p:cNvPr id="28" name="Oval 27"/>
          <p:cNvSpPr/>
          <p:nvPr/>
        </p:nvSpPr>
        <p:spPr>
          <a:xfrm>
            <a:off x="372618" y="4753203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" y="470976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نتیجه‌گیری</a:t>
            </a:r>
          </a:p>
        </p:txBody>
      </p:sp>
      <p:sp>
        <p:nvSpPr>
          <p:cNvPr id="30" name="Oval 29"/>
          <p:cNvSpPr/>
          <p:nvPr/>
        </p:nvSpPr>
        <p:spPr>
          <a:xfrm>
            <a:off x="372618" y="5134813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509137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پیشنهادها</a:t>
            </a:r>
          </a:p>
        </p:txBody>
      </p:sp>
      <p:sp>
        <p:nvSpPr>
          <p:cNvPr id="32" name="Oval 31"/>
          <p:cNvSpPr/>
          <p:nvPr/>
        </p:nvSpPr>
        <p:spPr>
          <a:xfrm>
            <a:off x="372618" y="551642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504" y="547298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محدودیت‌ها</a:t>
            </a:r>
          </a:p>
        </p:txBody>
      </p:sp>
      <p:sp>
        <p:nvSpPr>
          <p:cNvPr id="34" name="Oval 33"/>
          <p:cNvSpPr/>
          <p:nvPr/>
        </p:nvSpPr>
        <p:spPr>
          <a:xfrm>
            <a:off x="372618" y="589803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504" y="585459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جمع‌بندی</a:t>
            </a:r>
          </a:p>
        </p:txBody>
      </p:sp>
      <p:sp>
        <p:nvSpPr>
          <p:cNvPr id="36" name="Oval 35"/>
          <p:cNvSpPr/>
          <p:nvPr/>
        </p:nvSpPr>
        <p:spPr>
          <a:xfrm>
            <a:off x="372618" y="627964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623620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تشکر و پاسخ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283696" y="329184"/>
            <a:ext cx="82296" cy="82296"/>
          </a:xfrm>
          <a:prstGeom prst="roundRect">
            <a:avLst>
              <a:gd name="adj" fmla="val 44444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572768" y="256032"/>
            <a:ext cx="9528047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بخش ۱۱  ·  تحلیل و بحث (۱)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2768" y="502920"/>
            <a:ext cx="9546336" cy="4754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05000"/>
              </a:lnSpc>
            </a:pPr>
            <a:r>
              <a:rPr sz="2400" b="1" lang="fa-IR" altLang="en-US" dirty="0">
                <a:solidFill>
                  <a:srgbClr val="0D2137"/>
                </a:solidFill>
                <a:latin typeface="B Titr"/>
                <a:ea typeface="B Titr"/>
                <a:cs typeface="B Titr"/>
              </a:rPr>
              <a:t>پاسخ به فرضیه‌ها در یک نگاه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10735056" y="1060704"/>
            <a:ext cx="566928" cy="0"/>
          </a:xfrm>
          <a:prstGeom prst="line">
            <a:avLst/>
          </a:prstGeom>
          <a:ln w="25400">
            <a:solidFill>
              <a:srgbClr val="B890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1572768" y="1060704"/>
            <a:ext cx="9089136" cy="0"/>
          </a:xfrm>
          <a:prstGeom prst="line">
            <a:avLst/>
          </a:prstGeom>
          <a:ln w="12700">
            <a:solidFill>
              <a:srgbClr val="DADF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920240" y="6510528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74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دانشگاه پیام نور واحد جویبار  ·  دانشکدهٔ مدیریت، اقتصاد و حسابداری  ·  دفاع از پایان‌نامهٔ کارشناسی ارشد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69880" y="6492240"/>
            <a:ext cx="832104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50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۱۷ / ۲۲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572768" y="1417320"/>
            <a:ext cx="9729215" cy="960120"/>
          </a:xfrm>
          <a:prstGeom prst="roundRect">
            <a:avLst>
              <a:gd name="adj" fmla="val 26666"/>
            </a:avLst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572768" y="1417320"/>
            <a:ext cx="91440" cy="960120"/>
          </a:xfrm>
          <a:prstGeom prst="roundRect">
            <a:avLst>
              <a:gd name="adj" fmla="val 50000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92807" y="1417320"/>
            <a:ext cx="9089136" cy="9601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5000"/>
              </a:lnSpc>
            </a:pPr>
            <a:r>
              <a:rPr sz="1250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مهم‌ترین یافته: هر سه مؤلفهٔ بازارپردازی با میزان فروش رابطهٔ مثبت و معنادار دارند؛ هر چهار فرضیهٔ پژوهش تأیید شدند.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461504" y="2651760"/>
            <a:ext cx="3840480" cy="384048"/>
          </a:xfrm>
          <a:prstGeom prst="rect">
            <a:avLst/>
          </a:prstGeom>
          <a:solidFill>
            <a:srgbClr val="1E5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34656" y="2651760"/>
            <a:ext cx="3694176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80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یافتهٔ پژوهش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61104" y="2651760"/>
            <a:ext cx="3200400" cy="384048"/>
          </a:xfrm>
          <a:prstGeom prst="rect">
            <a:avLst/>
          </a:prstGeom>
          <a:solidFill>
            <a:srgbClr val="1E5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34256" y="2651760"/>
            <a:ext cx="3054096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80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مقایسه با پیشینه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72768" y="2651760"/>
            <a:ext cx="2688336" cy="384048"/>
          </a:xfrm>
          <a:prstGeom prst="rect">
            <a:avLst/>
          </a:prstGeom>
          <a:solidFill>
            <a:srgbClr val="1E5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45920" y="2651760"/>
            <a:ext cx="2542032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980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تفسیر و دلیل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461504" y="3108960"/>
            <a:ext cx="38404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1155680" y="3255264"/>
            <a:ext cx="91440" cy="91440"/>
          </a:xfrm>
          <a:prstGeom prst="roundRect">
            <a:avLst>
              <a:gd name="adj" fmla="val 40000"/>
            </a:avLst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89520" y="3108960"/>
            <a:ext cx="3493008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35000"/>
              </a:lnSpc>
            </a:pPr>
            <a:r>
              <a:rPr sz="100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اقلام تبلیغاتی: رابطهٔ مثبت و معنادار با فروش تأیید شد.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61104" y="3108960"/>
            <a:ext cx="32004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370832" y="3108960"/>
            <a:ext cx="2980944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30000"/>
              </a:lnSpc>
            </a:pPr>
            <a:r>
              <a:rPr sz="900" b="0" lang="fa-IR" altLang="en-US" dirty="0">
                <a:solidFill>
                  <a:srgbClr val="8A6628"/>
                </a:solidFill>
                <a:latin typeface="B Zar"/>
                <a:ea typeface="B Zar"/>
                <a:cs typeface="B Zar"/>
              </a:rPr>
              <a:t>[با یافتهٔ پژوهش … مطابقت/تفاوت]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572768" y="3108960"/>
            <a:ext cx="2688336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682496" y="310896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30000"/>
              </a:lnSpc>
            </a:pPr>
            <a:r>
              <a:rPr sz="900" b="0" lang="fa-IR" altLang="en-US" dirty="0">
                <a:solidFill>
                  <a:srgbClr val="8A6628"/>
                </a:solidFill>
                <a:latin typeface="B Zar"/>
                <a:ea typeface="B Zar"/>
                <a:cs typeface="B Zar"/>
              </a:rPr>
              <a:t>[تفسیر مبتنی بر فصل ۵]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461504" y="4023360"/>
            <a:ext cx="3840480" cy="822960"/>
          </a:xfrm>
          <a:prstGeom prst="rect">
            <a:avLst/>
          </a:prstGeom>
          <a:solidFill>
            <a:srgbClr val="F8F9FA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1155680" y="4169664"/>
            <a:ext cx="91440" cy="91440"/>
          </a:xfrm>
          <a:prstGeom prst="roundRect">
            <a:avLst>
              <a:gd name="adj" fmla="val 40000"/>
            </a:avLst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589520" y="4023360"/>
            <a:ext cx="3493008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35000"/>
              </a:lnSpc>
            </a:pPr>
            <a:r>
              <a:rPr sz="100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سازماندهی فعالیت‌های بازارپردازی: رابطهٔ مثبت و معنادار تأیید شد.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261104" y="4023360"/>
            <a:ext cx="3200400" cy="822960"/>
          </a:xfrm>
          <a:prstGeom prst="rect">
            <a:avLst/>
          </a:prstGeom>
          <a:solidFill>
            <a:srgbClr val="F8F9FA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370832" y="4023360"/>
            <a:ext cx="2980944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30000"/>
              </a:lnSpc>
            </a:pPr>
            <a:r>
              <a:rPr sz="900" b="0" lang="fa-IR" altLang="en-US" dirty="0">
                <a:solidFill>
                  <a:srgbClr val="8A6628"/>
                </a:solidFill>
                <a:latin typeface="B Zar"/>
                <a:ea typeface="B Zar"/>
                <a:cs typeface="B Zar"/>
              </a:rPr>
              <a:t>[با یافتهٔ پژوهش … مطابقت/تفاوت]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572768" y="4023360"/>
            <a:ext cx="2688336" cy="822960"/>
          </a:xfrm>
          <a:prstGeom prst="rect">
            <a:avLst/>
          </a:prstGeom>
          <a:solidFill>
            <a:srgbClr val="F8F9FA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682496" y="402336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30000"/>
              </a:lnSpc>
            </a:pPr>
            <a:r>
              <a:rPr sz="900" b="0" lang="fa-IR" altLang="en-US" dirty="0">
                <a:solidFill>
                  <a:srgbClr val="8A6628"/>
                </a:solidFill>
                <a:latin typeface="B Zar"/>
                <a:ea typeface="B Zar"/>
                <a:cs typeface="B Zar"/>
              </a:rPr>
              <a:t>[تفسیر مبتنی بر فصل ۵]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461504" y="4937760"/>
            <a:ext cx="38404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11155680" y="5084064"/>
            <a:ext cx="91440" cy="91440"/>
          </a:xfrm>
          <a:prstGeom prst="roundRect">
            <a:avLst>
              <a:gd name="adj" fmla="val 40000"/>
            </a:avLst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589520" y="4937760"/>
            <a:ext cx="3493008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35000"/>
              </a:lnSpc>
            </a:pPr>
            <a:r>
              <a:rPr sz="100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چیدمان و جانمایی محصولات: رابطهٔ مثبت و معنادار تأیید شد.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261104" y="4937760"/>
            <a:ext cx="32004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370832" y="4937760"/>
            <a:ext cx="2980944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30000"/>
              </a:lnSpc>
            </a:pPr>
            <a:r>
              <a:rPr sz="900" b="0" lang="fa-IR" altLang="en-US" dirty="0">
                <a:solidFill>
                  <a:srgbClr val="8A6628"/>
                </a:solidFill>
                <a:latin typeface="B Zar"/>
                <a:ea typeface="B Zar"/>
                <a:cs typeface="B Zar"/>
              </a:rPr>
              <a:t>[با یافتهٔ پژوهش … مطابقت/تفاوت]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572768" y="4937760"/>
            <a:ext cx="2688336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682496" y="493776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30000"/>
              </a:lnSpc>
            </a:pPr>
            <a:r>
              <a:rPr sz="900" b="0" lang="fa-IR" altLang="en-US" dirty="0">
                <a:solidFill>
                  <a:srgbClr val="8A6628"/>
                </a:solidFill>
                <a:latin typeface="B Zar"/>
                <a:ea typeface="B Zar"/>
                <a:cs typeface="B Zar"/>
              </a:rPr>
              <a:t>[تفسیر مبتنی بر فصل ۵]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572768" y="5989320"/>
            <a:ext cx="9729215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88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در زمان درج متن فصل ۵، منابع هم‌خوان و ناهم‌خوان برای هر ردیف مشخص شوند.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704320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20624" y="548640"/>
            <a:ext cx="0" cy="5833872"/>
          </a:xfrm>
          <a:prstGeom prst="line">
            <a:avLst/>
          </a:prstGeom>
          <a:ln w="13970">
            <a:solidFill>
              <a:srgbClr val="DADF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20624" y="548640"/>
            <a:ext cx="0" cy="3870960"/>
          </a:xfrm>
          <a:prstGeom prst="line">
            <a:avLst/>
          </a:prstGeom>
          <a:ln w="21590">
            <a:solidFill>
              <a:srgbClr val="2E7D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372618" y="555498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512064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عنوان و معرفی</a:t>
            </a:r>
          </a:p>
        </p:txBody>
      </p:sp>
      <p:sp>
        <p:nvSpPr>
          <p:cNvPr id="7" name="Oval 6"/>
          <p:cNvSpPr/>
          <p:nvPr/>
        </p:nvSpPr>
        <p:spPr>
          <a:xfrm>
            <a:off x="372618" y="937107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89367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کلیات پژوهش</a:t>
            </a:r>
          </a:p>
        </p:txBody>
      </p:sp>
      <p:sp>
        <p:nvSpPr>
          <p:cNvPr id="9" name="Oval 8"/>
          <p:cNvSpPr/>
          <p:nvPr/>
        </p:nvSpPr>
        <p:spPr>
          <a:xfrm>
            <a:off x="372618" y="1318717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27528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بیان مسئله</a:t>
            </a:r>
          </a:p>
        </p:txBody>
      </p:sp>
      <p:sp>
        <p:nvSpPr>
          <p:cNvPr id="11" name="Oval 10"/>
          <p:cNvSpPr/>
          <p:nvPr/>
        </p:nvSpPr>
        <p:spPr>
          <a:xfrm>
            <a:off x="372618" y="1700326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65689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اهمیت و ضرورت</a:t>
            </a:r>
          </a:p>
        </p:txBody>
      </p:sp>
      <p:sp>
        <p:nvSpPr>
          <p:cNvPr id="13" name="Oval 12"/>
          <p:cNvSpPr/>
          <p:nvPr/>
        </p:nvSpPr>
        <p:spPr>
          <a:xfrm>
            <a:off x="372618" y="2081936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203850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اهداف و فرضیه‌ها</a:t>
            </a:r>
          </a:p>
        </p:txBody>
      </p:sp>
      <p:sp>
        <p:nvSpPr>
          <p:cNvPr id="15" name="Oval 14"/>
          <p:cNvSpPr/>
          <p:nvPr/>
        </p:nvSpPr>
        <p:spPr>
          <a:xfrm>
            <a:off x="372618" y="2463546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242011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مبانی و پیشینه</a:t>
            </a:r>
          </a:p>
        </p:txBody>
      </p:sp>
      <p:sp>
        <p:nvSpPr>
          <p:cNvPr id="17" name="Oval 16"/>
          <p:cNvSpPr/>
          <p:nvPr/>
        </p:nvSpPr>
        <p:spPr>
          <a:xfrm>
            <a:off x="372618" y="2845155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2801721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روش‌شناسی</a:t>
            </a:r>
          </a:p>
        </p:txBody>
      </p:sp>
      <p:sp>
        <p:nvSpPr>
          <p:cNvPr id="19" name="Oval 18"/>
          <p:cNvSpPr/>
          <p:nvPr/>
        </p:nvSpPr>
        <p:spPr>
          <a:xfrm>
            <a:off x="372618" y="3226765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" y="3183331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جامعه و نمونه</a:t>
            </a:r>
          </a:p>
        </p:txBody>
      </p:sp>
      <p:sp>
        <p:nvSpPr>
          <p:cNvPr id="21" name="Oval 20"/>
          <p:cNvSpPr/>
          <p:nvPr/>
        </p:nvSpPr>
        <p:spPr>
          <a:xfrm>
            <a:off x="372618" y="3608374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356494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ابزار گردآوری</a:t>
            </a:r>
          </a:p>
        </p:txBody>
      </p:sp>
      <p:sp>
        <p:nvSpPr>
          <p:cNvPr id="23" name="Oval 22"/>
          <p:cNvSpPr/>
          <p:nvPr/>
        </p:nvSpPr>
        <p:spPr>
          <a:xfrm>
            <a:off x="372618" y="3989984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" y="394655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یافته‌ها</a:t>
            </a:r>
          </a:p>
        </p:txBody>
      </p:sp>
      <p:sp>
        <p:nvSpPr>
          <p:cNvPr id="25" name="Oval 24"/>
          <p:cNvSpPr/>
          <p:nvPr/>
        </p:nvSpPr>
        <p:spPr>
          <a:xfrm>
            <a:off x="324612" y="432358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7D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79476" y="4378452"/>
            <a:ext cx="82296" cy="82296"/>
          </a:xfrm>
          <a:prstGeom prst="ellipse">
            <a:avLst/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504" y="4314444"/>
            <a:ext cx="960120" cy="2103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6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تحلیل و بحث</a:t>
            </a:r>
          </a:p>
        </p:txBody>
      </p:sp>
      <p:sp>
        <p:nvSpPr>
          <p:cNvPr id="28" name="Oval 27"/>
          <p:cNvSpPr/>
          <p:nvPr/>
        </p:nvSpPr>
        <p:spPr>
          <a:xfrm>
            <a:off x="372618" y="4753203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" y="470976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نتیجه‌گیری</a:t>
            </a:r>
          </a:p>
        </p:txBody>
      </p:sp>
      <p:sp>
        <p:nvSpPr>
          <p:cNvPr id="30" name="Oval 29"/>
          <p:cNvSpPr/>
          <p:nvPr/>
        </p:nvSpPr>
        <p:spPr>
          <a:xfrm>
            <a:off x="372618" y="5134813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509137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پیشنهادها</a:t>
            </a:r>
          </a:p>
        </p:txBody>
      </p:sp>
      <p:sp>
        <p:nvSpPr>
          <p:cNvPr id="32" name="Oval 31"/>
          <p:cNvSpPr/>
          <p:nvPr/>
        </p:nvSpPr>
        <p:spPr>
          <a:xfrm>
            <a:off x="372618" y="551642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504" y="547298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محدودیت‌ها</a:t>
            </a:r>
          </a:p>
        </p:txBody>
      </p:sp>
      <p:sp>
        <p:nvSpPr>
          <p:cNvPr id="34" name="Oval 33"/>
          <p:cNvSpPr/>
          <p:nvPr/>
        </p:nvSpPr>
        <p:spPr>
          <a:xfrm>
            <a:off x="372618" y="589803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504" y="585459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جمع‌بندی</a:t>
            </a:r>
          </a:p>
        </p:txBody>
      </p:sp>
      <p:sp>
        <p:nvSpPr>
          <p:cNvPr id="36" name="Oval 35"/>
          <p:cNvSpPr/>
          <p:nvPr/>
        </p:nvSpPr>
        <p:spPr>
          <a:xfrm>
            <a:off x="372618" y="627964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623620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تشکر و پاسخ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283696" y="329184"/>
            <a:ext cx="82296" cy="82296"/>
          </a:xfrm>
          <a:prstGeom prst="roundRect">
            <a:avLst>
              <a:gd name="adj" fmla="val 44444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572768" y="256032"/>
            <a:ext cx="9528047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بخش ۱۱  ·  تحلیل و بحث (۲)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2768" y="502920"/>
            <a:ext cx="9546336" cy="4754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05000"/>
              </a:lnSpc>
            </a:pPr>
            <a:r>
              <a:rPr sz="2400" b="1" lang="fa-IR" altLang="en-US" dirty="0">
                <a:solidFill>
                  <a:srgbClr val="0D2137"/>
                </a:solidFill>
                <a:latin typeface="B Titr"/>
                <a:ea typeface="B Titr"/>
                <a:cs typeface="B Titr"/>
              </a:rPr>
              <a:t>چارچوب تفسیر یافته‌ها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10735056" y="1060704"/>
            <a:ext cx="566928" cy="0"/>
          </a:xfrm>
          <a:prstGeom prst="line">
            <a:avLst/>
          </a:prstGeom>
          <a:ln w="25400">
            <a:solidFill>
              <a:srgbClr val="B890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1572768" y="1060704"/>
            <a:ext cx="9089136" cy="0"/>
          </a:xfrm>
          <a:prstGeom prst="line">
            <a:avLst/>
          </a:prstGeom>
          <a:ln w="12700">
            <a:solidFill>
              <a:srgbClr val="DADF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920240" y="6510528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74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دانشگاه پیام نور واحد جویبار  ·  دانشکدهٔ مدیریت، اقتصاد و حسابداری  ·  دفاع از پایان‌نامهٔ کارشناسی ارشد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69880" y="6492240"/>
            <a:ext cx="832104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50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۱۸ / ۲۲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72768" y="1325880"/>
            <a:ext cx="9729215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2000"/>
              </a:lnSpc>
            </a:pPr>
            <a:r>
              <a:rPr sz="980" b="0" lang="fa-IR" altLang="en-US" dirty="0">
                <a:solidFill>
                  <a:srgbClr val="8A6628"/>
                </a:solidFill>
                <a:latin typeface="B Lotus"/>
                <a:ea typeface="B Lotus"/>
                <a:cs typeface="B Lotus"/>
              </a:rPr>
              <a:t>چارچوب تفسیر — بر اساس بحث فصل ۵ ویرایش و تکمیل شود.</a:t>
            </a:r>
          </a:p>
        </p:txBody>
      </p:sp>
      <p:sp>
        <p:nvSpPr>
          <p:cNvPr id="46" name="Chevron 45"/>
          <p:cNvSpPr/>
          <p:nvPr/>
        </p:nvSpPr>
        <p:spPr>
          <a:xfrm flipH="1">
            <a:off x="8938260" y="1691640"/>
            <a:ext cx="2363723" cy="932688"/>
          </a:xfrm>
          <a:prstGeom prst="chevron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76004" y="1691640"/>
            <a:ext cx="1860803" cy="9326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30000"/>
              </a:lnSpc>
            </a:pPr>
            <a:r>
              <a:rPr sz="980" b="0" lang="fa-IR" altLang="en-US" dirty="0">
                <a:solidFill>
                  <a:srgbClr val="FFFFFF"/>
                </a:solidFill>
                <a:latin typeface="B Zar"/>
                <a:ea typeface="B Zar"/>
                <a:cs typeface="B Zar"/>
              </a:rPr>
              <a:t>(۱)  اقدامات بازارپردازی در فروشگاه</a:t>
            </a:r>
          </a:p>
        </p:txBody>
      </p:sp>
      <p:sp>
        <p:nvSpPr>
          <p:cNvPr id="48" name="Chevron 47"/>
          <p:cNvSpPr/>
          <p:nvPr/>
        </p:nvSpPr>
        <p:spPr>
          <a:xfrm flipH="1">
            <a:off x="6483096" y="1691640"/>
            <a:ext cx="2363723" cy="932688"/>
          </a:xfrm>
          <a:prstGeom prst="chevron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720840" y="1691640"/>
            <a:ext cx="1860803" cy="9326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30000"/>
              </a:lnSpc>
            </a:pPr>
            <a:r>
              <a:rPr sz="980" b="0" lang="fa-IR" altLang="en-US" dirty="0">
                <a:solidFill>
                  <a:srgbClr val="FFFFFF"/>
                </a:solidFill>
                <a:latin typeface="B Zar"/>
                <a:ea typeface="B Zar"/>
                <a:cs typeface="B Zar"/>
              </a:rPr>
              <a:t>(۲)  توجه و تجربهٔ مثبت مشتری</a:t>
            </a:r>
          </a:p>
        </p:txBody>
      </p:sp>
      <p:sp>
        <p:nvSpPr>
          <p:cNvPr id="50" name="Chevron 49"/>
          <p:cNvSpPr/>
          <p:nvPr/>
        </p:nvSpPr>
        <p:spPr>
          <a:xfrm flipH="1">
            <a:off x="4027932" y="1691640"/>
            <a:ext cx="2363723" cy="932688"/>
          </a:xfrm>
          <a:prstGeom prst="chevron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5676" y="1691640"/>
            <a:ext cx="1860803" cy="9326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30000"/>
              </a:lnSpc>
            </a:pPr>
            <a:r>
              <a:rPr sz="980" b="0" lang="fa-IR" altLang="en-US" dirty="0">
                <a:solidFill>
                  <a:srgbClr val="FFFFFF"/>
                </a:solidFill>
                <a:latin typeface="B Zar"/>
                <a:ea typeface="B Zar"/>
                <a:cs typeface="B Zar"/>
              </a:rPr>
              <a:t>(۳)  شکل‌گیری قصد و تصمیم خرید</a:t>
            </a:r>
          </a:p>
        </p:txBody>
      </p:sp>
      <p:sp>
        <p:nvSpPr>
          <p:cNvPr id="52" name="Chevron 51"/>
          <p:cNvSpPr/>
          <p:nvPr/>
        </p:nvSpPr>
        <p:spPr>
          <a:xfrm flipH="1">
            <a:off x="1572768" y="1691640"/>
            <a:ext cx="2363723" cy="932688"/>
          </a:xfrm>
          <a:prstGeom prst="chevron">
            <a:avLst/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810512" y="1691640"/>
            <a:ext cx="1860803" cy="9326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30000"/>
              </a:lnSpc>
            </a:pPr>
            <a:r>
              <a:rPr sz="980" b="0" lang="fa-IR" altLang="en-US" dirty="0">
                <a:solidFill>
                  <a:srgbClr val="FFFFFF"/>
                </a:solidFill>
                <a:latin typeface="B Zar"/>
                <a:ea typeface="B Zar"/>
                <a:cs typeface="B Zar"/>
              </a:rPr>
              <a:t>(۴)  ارتقای میزان فروش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519672" y="2926080"/>
            <a:ext cx="4782312" cy="32004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519672" y="2926080"/>
            <a:ext cx="4782312" cy="475488"/>
          </a:xfrm>
          <a:prstGeom prst="roundRect">
            <a:avLst>
              <a:gd name="adj" fmla="val 46153"/>
            </a:avLst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519672" y="3200400"/>
            <a:ext cx="4782312" cy="201168"/>
          </a:xfrm>
          <a:prstGeom prst="roundRect">
            <a:avLst>
              <a:gd name="adj" fmla="val 50000"/>
            </a:avLst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702552" y="2926080"/>
            <a:ext cx="4416551" cy="475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1100" b="0" lang="fa-IR" altLang="en-US" dirty="0">
                <a:solidFill>
                  <a:srgbClr val="D6B878"/>
                </a:solidFill>
                <a:latin typeface="B Lotus"/>
                <a:ea typeface="B Lotus"/>
                <a:cs typeface="B Lotus"/>
              </a:rPr>
              <a:t>سازگاری یافته‌ها با مبانی نظری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100815" y="3657600"/>
            <a:ext cx="77724" cy="77724"/>
          </a:xfrm>
          <a:prstGeom prst="roundRect">
            <a:avLst>
              <a:gd name="adj" fmla="val 47058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757416" y="3584448"/>
            <a:ext cx="4270248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0000"/>
              </a:lnSpc>
            </a:pPr>
            <a:r>
              <a:rPr sz="980" b="0" lang="fa-IR" altLang="en-US" dirty="0">
                <a:solidFill>
                  <a:srgbClr val="8A6628"/>
                </a:solidFill>
                <a:latin typeface="B Zar"/>
                <a:ea typeface="B Zar"/>
                <a:cs typeface="B Zar"/>
              </a:rPr>
              <a:t>[انطباق با نظریه/مدل … در زمینهٔ اثر تبلیغات محیطی]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100815" y="4389120"/>
            <a:ext cx="77724" cy="77724"/>
          </a:xfrm>
          <a:prstGeom prst="roundRect">
            <a:avLst>
              <a:gd name="adj" fmla="val 47058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757416" y="4315968"/>
            <a:ext cx="4270248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0000"/>
              </a:lnSpc>
            </a:pPr>
            <a:r>
              <a:rPr sz="980" b="0" lang="fa-IR" altLang="en-US" dirty="0">
                <a:solidFill>
                  <a:srgbClr val="8A6628"/>
                </a:solidFill>
                <a:latin typeface="B Zar"/>
                <a:ea typeface="B Zar"/>
                <a:cs typeface="B Zar"/>
              </a:rPr>
              <a:t>[انطباق با نقش چیدمان در تصمیم خرید — از منابع فصل ۲]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1100815" y="5120640"/>
            <a:ext cx="77724" cy="77724"/>
          </a:xfrm>
          <a:prstGeom prst="roundRect">
            <a:avLst>
              <a:gd name="adj" fmla="val 47058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757416" y="5047488"/>
            <a:ext cx="4270248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0000"/>
              </a:lnSpc>
            </a:pPr>
            <a:r>
              <a:rPr sz="980" b="0" lang="fa-IR" altLang="en-US" dirty="0">
                <a:solidFill>
                  <a:srgbClr val="8A6628"/>
                </a:solidFill>
                <a:latin typeface="B Zar"/>
                <a:ea typeface="B Zar"/>
                <a:cs typeface="B Zar"/>
              </a:rPr>
              <a:t>[سایر موارد هم‌خوان با پیشینهٔ نظری]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572768" y="2926080"/>
            <a:ext cx="4782312" cy="32004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1572768" y="2926080"/>
            <a:ext cx="4782312" cy="475488"/>
          </a:xfrm>
          <a:prstGeom prst="roundRect">
            <a:avLst>
              <a:gd name="adj" fmla="val 46153"/>
            </a:avLst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1572768" y="3200400"/>
            <a:ext cx="4782312" cy="201168"/>
          </a:xfrm>
          <a:prstGeom prst="roundRect">
            <a:avLst>
              <a:gd name="adj" fmla="val 50000"/>
            </a:avLst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755648" y="2926080"/>
            <a:ext cx="4416551" cy="475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1100" b="0" lang="fa-IR" altLang="en-US" dirty="0">
                <a:solidFill>
                  <a:srgbClr val="D6B878"/>
                </a:solidFill>
                <a:latin typeface="B Lotus"/>
                <a:ea typeface="B Lotus"/>
                <a:cs typeface="B Lotus"/>
              </a:rPr>
              <a:t>تبیین تفاوت‌های احتمالی با پیشینه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153912" y="3657600"/>
            <a:ext cx="77724" cy="77724"/>
          </a:xfrm>
          <a:prstGeom prst="roundRect">
            <a:avLst>
              <a:gd name="adj" fmla="val 47058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810512" y="3584448"/>
            <a:ext cx="4270248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0000"/>
              </a:lnSpc>
            </a:pPr>
            <a:r>
              <a:rPr sz="980" b="0" lang="fa-IR" altLang="en-US" dirty="0">
                <a:solidFill>
                  <a:srgbClr val="8A6628"/>
                </a:solidFill>
                <a:latin typeface="B Zar"/>
                <a:ea typeface="B Zar"/>
                <a:cs typeface="B Zar"/>
              </a:rPr>
              <a:t>[تفاوت در شدت ضرایب و دلیل احتمالی آن]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153912" y="4389120"/>
            <a:ext cx="77724" cy="77724"/>
          </a:xfrm>
          <a:prstGeom prst="roundRect">
            <a:avLst>
              <a:gd name="adj" fmla="val 47058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810512" y="4315968"/>
            <a:ext cx="4270248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0000"/>
              </a:lnSpc>
            </a:pPr>
            <a:r>
              <a:rPr sz="980" b="0" lang="fa-IR" altLang="en-US" dirty="0">
                <a:solidFill>
                  <a:srgbClr val="8A6628"/>
                </a:solidFill>
                <a:latin typeface="B Zar"/>
                <a:ea typeface="B Zar"/>
                <a:cs typeface="B Zar"/>
              </a:rPr>
              <a:t>[نقش ویژگی‌های صنعت لوازم خانگی و بازار اهواز]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153912" y="5120640"/>
            <a:ext cx="77724" cy="77724"/>
          </a:xfrm>
          <a:prstGeom prst="roundRect">
            <a:avLst>
              <a:gd name="adj" fmla="val 47058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810512" y="5047488"/>
            <a:ext cx="4270248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0000"/>
              </a:lnSpc>
            </a:pPr>
            <a:r>
              <a:rPr sz="980" b="0" lang="fa-IR" altLang="en-US" dirty="0">
                <a:solidFill>
                  <a:srgbClr val="8A6628"/>
                </a:solidFill>
                <a:latin typeface="B Zar"/>
                <a:ea typeface="B Zar"/>
                <a:cs typeface="B Zar"/>
              </a:rPr>
              <a:t>[سایر موارد اختلاف و تبیین آن]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704320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20624" y="548640"/>
            <a:ext cx="0" cy="5833872"/>
          </a:xfrm>
          <a:prstGeom prst="line">
            <a:avLst/>
          </a:prstGeom>
          <a:ln w="13970">
            <a:solidFill>
              <a:srgbClr val="DADF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20624" y="548640"/>
            <a:ext cx="0" cy="4252569"/>
          </a:xfrm>
          <a:prstGeom prst="line">
            <a:avLst/>
          </a:prstGeom>
          <a:ln w="21590">
            <a:solidFill>
              <a:srgbClr val="2E7D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372618" y="555498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512064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عنوان و معرفی</a:t>
            </a:r>
          </a:p>
        </p:txBody>
      </p:sp>
      <p:sp>
        <p:nvSpPr>
          <p:cNvPr id="7" name="Oval 6"/>
          <p:cNvSpPr/>
          <p:nvPr/>
        </p:nvSpPr>
        <p:spPr>
          <a:xfrm>
            <a:off x="372618" y="937107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89367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کلیات پژوهش</a:t>
            </a:r>
          </a:p>
        </p:txBody>
      </p:sp>
      <p:sp>
        <p:nvSpPr>
          <p:cNvPr id="9" name="Oval 8"/>
          <p:cNvSpPr/>
          <p:nvPr/>
        </p:nvSpPr>
        <p:spPr>
          <a:xfrm>
            <a:off x="372618" y="1318717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27528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بیان مسئله</a:t>
            </a:r>
          </a:p>
        </p:txBody>
      </p:sp>
      <p:sp>
        <p:nvSpPr>
          <p:cNvPr id="11" name="Oval 10"/>
          <p:cNvSpPr/>
          <p:nvPr/>
        </p:nvSpPr>
        <p:spPr>
          <a:xfrm>
            <a:off x="372618" y="1700326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65689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اهمیت و ضرورت</a:t>
            </a:r>
          </a:p>
        </p:txBody>
      </p:sp>
      <p:sp>
        <p:nvSpPr>
          <p:cNvPr id="13" name="Oval 12"/>
          <p:cNvSpPr/>
          <p:nvPr/>
        </p:nvSpPr>
        <p:spPr>
          <a:xfrm>
            <a:off x="372618" y="2081936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203850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اهداف و فرضیه‌ها</a:t>
            </a:r>
          </a:p>
        </p:txBody>
      </p:sp>
      <p:sp>
        <p:nvSpPr>
          <p:cNvPr id="15" name="Oval 14"/>
          <p:cNvSpPr/>
          <p:nvPr/>
        </p:nvSpPr>
        <p:spPr>
          <a:xfrm>
            <a:off x="372618" y="2463546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242011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مبانی و پیشینه</a:t>
            </a:r>
          </a:p>
        </p:txBody>
      </p:sp>
      <p:sp>
        <p:nvSpPr>
          <p:cNvPr id="17" name="Oval 16"/>
          <p:cNvSpPr/>
          <p:nvPr/>
        </p:nvSpPr>
        <p:spPr>
          <a:xfrm>
            <a:off x="372618" y="2845155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2801721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روش‌شناسی</a:t>
            </a:r>
          </a:p>
        </p:txBody>
      </p:sp>
      <p:sp>
        <p:nvSpPr>
          <p:cNvPr id="19" name="Oval 18"/>
          <p:cNvSpPr/>
          <p:nvPr/>
        </p:nvSpPr>
        <p:spPr>
          <a:xfrm>
            <a:off x="372618" y="3226765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" y="3183331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جامعه و نمونه</a:t>
            </a:r>
          </a:p>
        </p:txBody>
      </p:sp>
      <p:sp>
        <p:nvSpPr>
          <p:cNvPr id="21" name="Oval 20"/>
          <p:cNvSpPr/>
          <p:nvPr/>
        </p:nvSpPr>
        <p:spPr>
          <a:xfrm>
            <a:off x="372618" y="3608374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356494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ابزار گردآوری</a:t>
            </a:r>
          </a:p>
        </p:txBody>
      </p:sp>
      <p:sp>
        <p:nvSpPr>
          <p:cNvPr id="23" name="Oval 22"/>
          <p:cNvSpPr/>
          <p:nvPr/>
        </p:nvSpPr>
        <p:spPr>
          <a:xfrm>
            <a:off x="372618" y="3989984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" y="394655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یافته‌ها</a:t>
            </a:r>
          </a:p>
        </p:txBody>
      </p:sp>
      <p:sp>
        <p:nvSpPr>
          <p:cNvPr id="25" name="Oval 24"/>
          <p:cNvSpPr/>
          <p:nvPr/>
        </p:nvSpPr>
        <p:spPr>
          <a:xfrm>
            <a:off x="372618" y="4371594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432816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تحلیل و بحث</a:t>
            </a:r>
          </a:p>
        </p:txBody>
      </p:sp>
      <p:sp>
        <p:nvSpPr>
          <p:cNvPr id="27" name="Oval 26"/>
          <p:cNvSpPr/>
          <p:nvPr/>
        </p:nvSpPr>
        <p:spPr>
          <a:xfrm>
            <a:off x="324612" y="4705197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7D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79476" y="4760061"/>
            <a:ext cx="82296" cy="82296"/>
          </a:xfrm>
          <a:prstGeom prst="ellipse">
            <a:avLst/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" y="4696053"/>
            <a:ext cx="960120" cy="2103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6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نتیجه‌گیری</a:t>
            </a:r>
          </a:p>
        </p:txBody>
      </p:sp>
      <p:sp>
        <p:nvSpPr>
          <p:cNvPr id="30" name="Oval 29"/>
          <p:cNvSpPr/>
          <p:nvPr/>
        </p:nvSpPr>
        <p:spPr>
          <a:xfrm>
            <a:off x="372618" y="5134813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509137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پیشنهادها</a:t>
            </a:r>
          </a:p>
        </p:txBody>
      </p:sp>
      <p:sp>
        <p:nvSpPr>
          <p:cNvPr id="32" name="Oval 31"/>
          <p:cNvSpPr/>
          <p:nvPr/>
        </p:nvSpPr>
        <p:spPr>
          <a:xfrm>
            <a:off x="372618" y="551642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504" y="547298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محدودیت‌ها</a:t>
            </a:r>
          </a:p>
        </p:txBody>
      </p:sp>
      <p:sp>
        <p:nvSpPr>
          <p:cNvPr id="34" name="Oval 33"/>
          <p:cNvSpPr/>
          <p:nvPr/>
        </p:nvSpPr>
        <p:spPr>
          <a:xfrm>
            <a:off x="372618" y="589803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504" y="585459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جمع‌بندی</a:t>
            </a:r>
          </a:p>
        </p:txBody>
      </p:sp>
      <p:sp>
        <p:nvSpPr>
          <p:cNvPr id="36" name="Oval 35"/>
          <p:cNvSpPr/>
          <p:nvPr/>
        </p:nvSpPr>
        <p:spPr>
          <a:xfrm>
            <a:off x="372618" y="627964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623620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تشکر و پاسخ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283696" y="329184"/>
            <a:ext cx="82296" cy="82296"/>
          </a:xfrm>
          <a:prstGeom prst="roundRect">
            <a:avLst>
              <a:gd name="adj" fmla="val 44444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572768" y="256032"/>
            <a:ext cx="9528047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بخش ۱۲  ·  نتیجه‌گیری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2768" y="502920"/>
            <a:ext cx="9546336" cy="4754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05000"/>
              </a:lnSpc>
            </a:pPr>
            <a:r>
              <a:rPr sz="2400" b="1" lang="fa-IR" altLang="en-US" dirty="0">
                <a:solidFill>
                  <a:srgbClr val="0D2137"/>
                </a:solidFill>
                <a:latin typeface="B Titr"/>
                <a:ea typeface="B Titr"/>
                <a:cs typeface="B Titr"/>
              </a:rPr>
              <a:t>مهم‌ترین یافته‌ها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10735056" y="1060704"/>
            <a:ext cx="566928" cy="0"/>
          </a:xfrm>
          <a:prstGeom prst="line">
            <a:avLst/>
          </a:prstGeom>
          <a:ln w="25400">
            <a:solidFill>
              <a:srgbClr val="B890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1572768" y="1060704"/>
            <a:ext cx="9089136" cy="0"/>
          </a:xfrm>
          <a:prstGeom prst="line">
            <a:avLst/>
          </a:prstGeom>
          <a:ln w="12700">
            <a:solidFill>
              <a:srgbClr val="DADF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920240" y="6510528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74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دانشگاه پیام نور واحد جویبار  ·  دانشکدهٔ مدیریت، اقتصاد و حسابداری  ·  دفاع از پایان‌نامهٔ کارشناسی ارشد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69880" y="6492240"/>
            <a:ext cx="832104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50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۱۹ / ۲۲</a:t>
            </a:r>
          </a:p>
        </p:txBody>
      </p:sp>
      <p:pic>
        <p:nvPicPr>
          <p:cNvPr id="45" name="Picture 44" descr="c_cl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463040"/>
            <a:ext cx="2697480" cy="3931920"/>
          </a:xfrm>
          <a:prstGeom prst="rect">
            <a:avLst/>
          </a:prstGeom>
        </p:spPr>
      </p:pic>
      <p:sp>
        <p:nvSpPr>
          <p:cNvPr id="46" name="Rounded Rectangle 45"/>
          <p:cNvSpPr/>
          <p:nvPr/>
        </p:nvSpPr>
        <p:spPr>
          <a:xfrm>
            <a:off x="4754880" y="1481328"/>
            <a:ext cx="6547104" cy="1078992"/>
          </a:xfrm>
          <a:prstGeom prst="roundRect">
            <a:avLst>
              <a:gd name="adj" fmla="val 23728"/>
            </a:avLst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956048" y="1664208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56048" y="1664208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10000"/>
              </a:lnSpc>
            </a:pPr>
            <a:r>
              <a:rPr sz="919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نتیجهٔ اصلی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17920" y="1481328"/>
            <a:ext cx="4901184" cy="10789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5000"/>
              </a:lnSpc>
            </a:pPr>
            <a:r>
              <a:rPr sz="1320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بازارپردازی بر ارتقای فروش محصولات شرکت دوو تأثیر مثبت و معنادار دارد.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754880" y="2788920"/>
            <a:ext cx="6547104" cy="841248"/>
          </a:xfrm>
          <a:prstGeom prst="roundRect">
            <a:avLst>
              <a:gd name="adj" fmla="val 26086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71632" y="2990088"/>
            <a:ext cx="438912" cy="438912"/>
          </a:xfrm>
          <a:prstGeom prst="ellipse">
            <a:avLst/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771632" y="2971800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00000"/>
              </a:lnSpc>
            </a:pPr>
            <a:r>
              <a:rPr sz="1400" b="1" lang="fa-IR" altLang="en-US" dirty="0">
                <a:solidFill>
                  <a:srgbClr val="FFFFFF"/>
                </a:solidFill>
                <a:latin typeface="B Titr"/>
                <a:ea typeface="B Titr"/>
                <a:cs typeface="B Titr"/>
              </a:rPr>
              <a:t>۱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0" y="2880360"/>
            <a:ext cx="548640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1150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استقرار هدفمند اقلام تبلیغاتی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0" y="3227832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98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رابطهٔ مثبت و معنادار با میزان فروش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754880" y="3739896"/>
            <a:ext cx="6547104" cy="841248"/>
          </a:xfrm>
          <a:prstGeom prst="roundRect">
            <a:avLst>
              <a:gd name="adj" fmla="val 26086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771632" y="3941063"/>
            <a:ext cx="438912" cy="438912"/>
          </a:xfrm>
          <a:prstGeom prst="ellipse">
            <a:avLst/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771632" y="3922776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00000"/>
              </a:lnSpc>
            </a:pPr>
            <a:r>
              <a:rPr sz="1400" b="1" lang="fa-IR" altLang="en-US" dirty="0">
                <a:solidFill>
                  <a:srgbClr val="FFFFFF"/>
                </a:solidFill>
                <a:latin typeface="B Titr"/>
                <a:ea typeface="B Titr"/>
                <a:cs typeface="B Titr"/>
              </a:rPr>
              <a:t>۲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29200" y="3831335"/>
            <a:ext cx="548640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1150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سازماندهی فعالیت‌های بازارپردازی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0" y="4178808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98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رابطهٔ مثبت و معنادار با میزان فروش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754880" y="4690872"/>
            <a:ext cx="6547104" cy="841248"/>
          </a:xfrm>
          <a:prstGeom prst="roundRect">
            <a:avLst>
              <a:gd name="adj" fmla="val 26086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771632" y="4892040"/>
            <a:ext cx="438912" cy="438912"/>
          </a:xfrm>
          <a:prstGeom prst="ellipse">
            <a:avLst/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771632" y="4873752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00000"/>
              </a:lnSpc>
            </a:pPr>
            <a:r>
              <a:rPr sz="1400" b="1" lang="fa-IR" altLang="en-US" dirty="0">
                <a:solidFill>
                  <a:srgbClr val="FFFFFF"/>
                </a:solidFill>
                <a:latin typeface="B Titr"/>
                <a:ea typeface="B Titr"/>
                <a:cs typeface="B Titr"/>
              </a:rPr>
              <a:t>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0" y="4782312"/>
            <a:ext cx="548640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1150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چیدمان و جانمایی بهینهٔ محصولات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29200" y="5129783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98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رابطهٔ مثبت و معنادار با میزان فروش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754880" y="5760720"/>
            <a:ext cx="6547104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94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یافته‌های آماری تفصیلی در فصل ۴ و تحلیل آن‌ها در فصل ۵ ارائه شده است.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704320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20624" y="548640"/>
            <a:ext cx="0" cy="5833872"/>
          </a:xfrm>
          <a:prstGeom prst="line">
            <a:avLst/>
          </a:prstGeom>
          <a:ln w="13970">
            <a:solidFill>
              <a:srgbClr val="DADF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20624" y="548640"/>
            <a:ext cx="0" cy="4634179"/>
          </a:xfrm>
          <a:prstGeom prst="line">
            <a:avLst/>
          </a:prstGeom>
          <a:ln w="21590">
            <a:solidFill>
              <a:srgbClr val="2E7D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372618" y="555498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512064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عنوان و معرفی</a:t>
            </a:r>
          </a:p>
        </p:txBody>
      </p:sp>
      <p:sp>
        <p:nvSpPr>
          <p:cNvPr id="7" name="Oval 6"/>
          <p:cNvSpPr/>
          <p:nvPr/>
        </p:nvSpPr>
        <p:spPr>
          <a:xfrm>
            <a:off x="372618" y="937107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89367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کلیات پژوهش</a:t>
            </a:r>
          </a:p>
        </p:txBody>
      </p:sp>
      <p:sp>
        <p:nvSpPr>
          <p:cNvPr id="9" name="Oval 8"/>
          <p:cNvSpPr/>
          <p:nvPr/>
        </p:nvSpPr>
        <p:spPr>
          <a:xfrm>
            <a:off x="372618" y="1318717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27528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بیان مسئله</a:t>
            </a:r>
          </a:p>
        </p:txBody>
      </p:sp>
      <p:sp>
        <p:nvSpPr>
          <p:cNvPr id="11" name="Oval 10"/>
          <p:cNvSpPr/>
          <p:nvPr/>
        </p:nvSpPr>
        <p:spPr>
          <a:xfrm>
            <a:off x="372618" y="1700326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65689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اهمیت و ضرورت</a:t>
            </a:r>
          </a:p>
        </p:txBody>
      </p:sp>
      <p:sp>
        <p:nvSpPr>
          <p:cNvPr id="13" name="Oval 12"/>
          <p:cNvSpPr/>
          <p:nvPr/>
        </p:nvSpPr>
        <p:spPr>
          <a:xfrm>
            <a:off x="372618" y="2081936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203850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اهداف و فرضیه‌ها</a:t>
            </a:r>
          </a:p>
        </p:txBody>
      </p:sp>
      <p:sp>
        <p:nvSpPr>
          <p:cNvPr id="15" name="Oval 14"/>
          <p:cNvSpPr/>
          <p:nvPr/>
        </p:nvSpPr>
        <p:spPr>
          <a:xfrm>
            <a:off x="372618" y="2463546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242011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مبانی و پیشینه</a:t>
            </a:r>
          </a:p>
        </p:txBody>
      </p:sp>
      <p:sp>
        <p:nvSpPr>
          <p:cNvPr id="17" name="Oval 16"/>
          <p:cNvSpPr/>
          <p:nvPr/>
        </p:nvSpPr>
        <p:spPr>
          <a:xfrm>
            <a:off x="372618" y="2845155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2801721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روش‌شناسی</a:t>
            </a:r>
          </a:p>
        </p:txBody>
      </p:sp>
      <p:sp>
        <p:nvSpPr>
          <p:cNvPr id="19" name="Oval 18"/>
          <p:cNvSpPr/>
          <p:nvPr/>
        </p:nvSpPr>
        <p:spPr>
          <a:xfrm>
            <a:off x="372618" y="3226765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" y="3183331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جامعه و نمونه</a:t>
            </a:r>
          </a:p>
        </p:txBody>
      </p:sp>
      <p:sp>
        <p:nvSpPr>
          <p:cNvPr id="21" name="Oval 20"/>
          <p:cNvSpPr/>
          <p:nvPr/>
        </p:nvSpPr>
        <p:spPr>
          <a:xfrm>
            <a:off x="372618" y="3608374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356494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ابزار گردآوری</a:t>
            </a:r>
          </a:p>
        </p:txBody>
      </p:sp>
      <p:sp>
        <p:nvSpPr>
          <p:cNvPr id="23" name="Oval 22"/>
          <p:cNvSpPr/>
          <p:nvPr/>
        </p:nvSpPr>
        <p:spPr>
          <a:xfrm>
            <a:off x="372618" y="3989984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" y="394655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یافته‌ها</a:t>
            </a:r>
          </a:p>
        </p:txBody>
      </p:sp>
      <p:sp>
        <p:nvSpPr>
          <p:cNvPr id="25" name="Oval 24"/>
          <p:cNvSpPr/>
          <p:nvPr/>
        </p:nvSpPr>
        <p:spPr>
          <a:xfrm>
            <a:off x="372618" y="4371594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432816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تحلیل و بحث</a:t>
            </a:r>
          </a:p>
        </p:txBody>
      </p:sp>
      <p:sp>
        <p:nvSpPr>
          <p:cNvPr id="27" name="Oval 26"/>
          <p:cNvSpPr/>
          <p:nvPr/>
        </p:nvSpPr>
        <p:spPr>
          <a:xfrm>
            <a:off x="372618" y="4753203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4" y="470976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نتیجه‌گیری</a:t>
            </a:r>
          </a:p>
        </p:txBody>
      </p:sp>
      <p:sp>
        <p:nvSpPr>
          <p:cNvPr id="29" name="Oval 28"/>
          <p:cNvSpPr/>
          <p:nvPr/>
        </p:nvSpPr>
        <p:spPr>
          <a:xfrm>
            <a:off x="324612" y="5086807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7D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79476" y="5141671"/>
            <a:ext cx="82296" cy="82296"/>
          </a:xfrm>
          <a:prstGeom prst="ellipse">
            <a:avLst/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5077663"/>
            <a:ext cx="960120" cy="2103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6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پیشنهادها</a:t>
            </a:r>
          </a:p>
        </p:txBody>
      </p:sp>
      <p:sp>
        <p:nvSpPr>
          <p:cNvPr id="32" name="Oval 31"/>
          <p:cNvSpPr/>
          <p:nvPr/>
        </p:nvSpPr>
        <p:spPr>
          <a:xfrm>
            <a:off x="372618" y="551642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504" y="547298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محدودیت‌ها</a:t>
            </a:r>
          </a:p>
        </p:txBody>
      </p:sp>
      <p:sp>
        <p:nvSpPr>
          <p:cNvPr id="34" name="Oval 33"/>
          <p:cNvSpPr/>
          <p:nvPr/>
        </p:nvSpPr>
        <p:spPr>
          <a:xfrm>
            <a:off x="372618" y="589803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504" y="585459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جمع‌بندی</a:t>
            </a:r>
          </a:p>
        </p:txBody>
      </p:sp>
      <p:sp>
        <p:nvSpPr>
          <p:cNvPr id="36" name="Oval 35"/>
          <p:cNvSpPr/>
          <p:nvPr/>
        </p:nvSpPr>
        <p:spPr>
          <a:xfrm>
            <a:off x="372618" y="627964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623620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تشکر و پاسخ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283696" y="329184"/>
            <a:ext cx="82296" cy="82296"/>
          </a:xfrm>
          <a:prstGeom prst="roundRect">
            <a:avLst>
              <a:gd name="adj" fmla="val 44444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572768" y="256032"/>
            <a:ext cx="9528047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بخش ۱۳  ·  پیشنهادها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2768" y="502920"/>
            <a:ext cx="9546336" cy="4754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05000"/>
              </a:lnSpc>
            </a:pPr>
            <a:r>
              <a:rPr sz="2400" b="1" lang="fa-IR" altLang="en-US" dirty="0">
                <a:solidFill>
                  <a:srgbClr val="0D2137"/>
                </a:solidFill>
                <a:latin typeface="B Titr"/>
                <a:ea typeface="B Titr"/>
                <a:cs typeface="B Titr"/>
              </a:rPr>
              <a:t>پیشنهادهای کاربردی و پژوهشی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10735056" y="1060704"/>
            <a:ext cx="566928" cy="0"/>
          </a:xfrm>
          <a:prstGeom prst="line">
            <a:avLst/>
          </a:prstGeom>
          <a:ln w="25400">
            <a:solidFill>
              <a:srgbClr val="B890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1572768" y="1060704"/>
            <a:ext cx="9089136" cy="0"/>
          </a:xfrm>
          <a:prstGeom prst="line">
            <a:avLst/>
          </a:prstGeom>
          <a:ln w="12700">
            <a:solidFill>
              <a:srgbClr val="DADF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920240" y="6510528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74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دانشگاه پیام نور واحد جویبار  ·  دانشکدهٔ مدیریت، اقتصاد و حسابداری  ·  دفاع از پایان‌نامهٔ کارشناسی ارشد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69880" y="6492240"/>
            <a:ext cx="832104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50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۲۰ / ۲۲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72768" y="1298448"/>
            <a:ext cx="9729215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2000"/>
              </a:lnSpc>
            </a:pPr>
            <a:r>
              <a:rPr sz="940" b="0" lang="fa-IR" altLang="en-US" dirty="0">
                <a:solidFill>
                  <a:srgbClr val="8A6628"/>
                </a:solidFill>
                <a:latin typeface="B Lotus"/>
                <a:ea typeface="B Lotus"/>
                <a:cs typeface="B Lotus"/>
              </a:rPr>
              <a:t>پیش‌نویس قابل ویرایش — متن نهایی پیشنهادها از فصل ۵ جایگزین شود.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19672" y="1627632"/>
            <a:ext cx="4782312" cy="457200"/>
          </a:xfrm>
          <a:prstGeom prst="roundRect">
            <a:avLst>
              <a:gd name="adj" fmla="val 40000"/>
            </a:avLst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02552" y="1627632"/>
            <a:ext cx="4416551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1120" b="0" lang="fa-IR" altLang="en-US" dirty="0">
                <a:solidFill>
                  <a:srgbClr val="D6B878"/>
                </a:solidFill>
                <a:latin typeface="B Lotus"/>
                <a:ea typeface="B Lotus"/>
                <a:cs typeface="B Lotus"/>
              </a:rPr>
              <a:t>پیشنهادهای کاربردی برای فروشگاه‌های دوو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572768" y="1627632"/>
            <a:ext cx="4782312" cy="457200"/>
          </a:xfrm>
          <a:prstGeom prst="roundRect">
            <a:avLst>
              <a:gd name="adj" fmla="val 40000"/>
            </a:avLst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755648" y="1627632"/>
            <a:ext cx="4416551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1120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پیشنهادهای پژوهشی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519672" y="2212848"/>
            <a:ext cx="4782312" cy="1170432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826496" y="2377440"/>
            <a:ext cx="365760" cy="365760"/>
          </a:xfrm>
          <a:prstGeom prst="ellipse">
            <a:avLst/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826496" y="235915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00000"/>
              </a:lnSpc>
            </a:pPr>
            <a:r>
              <a:rPr sz="1200" b="1" lang="fa-IR" altLang="en-US" dirty="0">
                <a:solidFill>
                  <a:srgbClr val="0D2137"/>
                </a:solidFill>
                <a:latin typeface="B Titr"/>
                <a:ea typeface="B Titr"/>
                <a:cs typeface="B Titr"/>
              </a:rPr>
              <a:t>۱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20840" y="2340864"/>
            <a:ext cx="4005072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30000"/>
              </a:lnSpc>
            </a:pPr>
            <a:r>
              <a:rPr sz="1030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بهینه‌سازی استقرار هدفمند اقلام تبلیغاتی در محیط فروشگاه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20840" y="2889504"/>
            <a:ext cx="4325112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25000"/>
              </a:lnSpc>
            </a:pPr>
            <a:r>
              <a:rPr sz="880" b="0" lang="fa-IR" altLang="en-US" dirty="0">
                <a:solidFill>
                  <a:srgbClr val="8A6628"/>
                </a:solidFill>
                <a:latin typeface="B Zar"/>
                <a:ea typeface="B Zar"/>
                <a:cs typeface="B Zar"/>
              </a:rPr>
              <a:t>[اقدام اجرایی دقیق بر پایهٔ نتایج درج شود]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572768" y="2212848"/>
            <a:ext cx="4782312" cy="1170432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879592" y="2377440"/>
            <a:ext cx="365760" cy="365760"/>
          </a:xfrm>
          <a:prstGeom prst="ellipse">
            <a:avLst/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79592" y="235915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00000"/>
              </a:lnSpc>
            </a:pPr>
            <a:r>
              <a:rPr sz="1200" b="1" lang="fa-IR" altLang="en-US" dirty="0">
                <a:solidFill>
                  <a:srgbClr val="FFFFFF"/>
                </a:solidFill>
                <a:latin typeface="B Titr"/>
                <a:ea typeface="B Titr"/>
                <a:cs typeface="B Titr"/>
              </a:rPr>
              <a:t>۱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773936" y="2304288"/>
            <a:ext cx="4005072" cy="10058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0000"/>
              </a:lnSpc>
            </a:pPr>
            <a:r>
              <a:rPr sz="103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تکرار مطالعه در سایر شهرها و فروشگاه‌های زنجیره‌ای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519672" y="3511296"/>
            <a:ext cx="4782312" cy="1170432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826496" y="3675887"/>
            <a:ext cx="365760" cy="365760"/>
          </a:xfrm>
          <a:prstGeom prst="ellipse">
            <a:avLst/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826496" y="36576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00000"/>
              </a:lnSpc>
            </a:pPr>
            <a:r>
              <a:rPr sz="1200" b="1" lang="fa-IR" altLang="en-US" dirty="0">
                <a:solidFill>
                  <a:srgbClr val="0D2137"/>
                </a:solidFill>
                <a:latin typeface="B Titr"/>
                <a:ea typeface="B Titr"/>
                <a:cs typeface="B Titr"/>
              </a:rPr>
              <a:t>۲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20840" y="3639312"/>
            <a:ext cx="4005072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30000"/>
              </a:lnSpc>
            </a:pPr>
            <a:r>
              <a:rPr sz="1030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ساماندهی و اثربخش‌کردن فعالیت‌های بازارپردازی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20840" y="4187952"/>
            <a:ext cx="4325112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25000"/>
              </a:lnSpc>
            </a:pPr>
            <a:r>
              <a:rPr sz="880" b="0" lang="fa-IR" altLang="en-US" dirty="0">
                <a:solidFill>
                  <a:srgbClr val="8A6628"/>
                </a:solidFill>
                <a:latin typeface="B Zar"/>
                <a:ea typeface="B Zar"/>
                <a:cs typeface="B Zar"/>
              </a:rPr>
              <a:t>[اقدام اجرایی دقیق بر پایهٔ نتایج درج شود]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572768" y="3511296"/>
            <a:ext cx="4782312" cy="1170432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5879592" y="3675887"/>
            <a:ext cx="365760" cy="365760"/>
          </a:xfrm>
          <a:prstGeom prst="ellipse">
            <a:avLst/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879592" y="36576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00000"/>
              </a:lnSpc>
            </a:pPr>
            <a:r>
              <a:rPr sz="1200" b="1" lang="fa-IR" altLang="en-US" dirty="0">
                <a:solidFill>
                  <a:srgbClr val="FFFFFF"/>
                </a:solidFill>
                <a:latin typeface="B Titr"/>
                <a:ea typeface="B Titr"/>
                <a:cs typeface="B Titr"/>
              </a:rPr>
              <a:t>۲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773936" y="3602736"/>
            <a:ext cx="4005072" cy="10058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0000"/>
              </a:lnSpc>
            </a:pPr>
            <a:r>
              <a:rPr sz="103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بررسی متغیرهای میانجی: تجربهٔ مشتری و قصد خرید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519672" y="4809744"/>
            <a:ext cx="4782312" cy="1170432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0826496" y="4974336"/>
            <a:ext cx="365760" cy="365760"/>
          </a:xfrm>
          <a:prstGeom prst="ellipse">
            <a:avLst/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826496" y="495604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00000"/>
              </a:lnSpc>
            </a:pPr>
            <a:r>
              <a:rPr sz="1200" b="1" lang="fa-IR" altLang="en-US" dirty="0">
                <a:solidFill>
                  <a:srgbClr val="0D2137"/>
                </a:solidFill>
                <a:latin typeface="B Titr"/>
                <a:ea typeface="B Titr"/>
                <a:cs typeface="B Titr"/>
              </a:rPr>
              <a:t>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720840" y="4937759"/>
            <a:ext cx="4005072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30000"/>
              </a:lnSpc>
            </a:pPr>
            <a:r>
              <a:rPr sz="1030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بهبود چیدمان و جانمایی محصولات در نقاط کلیدی فروشگاه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5486400"/>
            <a:ext cx="4325112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25000"/>
              </a:lnSpc>
            </a:pPr>
            <a:r>
              <a:rPr sz="880" b="0" lang="fa-IR" altLang="en-US" dirty="0">
                <a:solidFill>
                  <a:srgbClr val="8A6628"/>
                </a:solidFill>
                <a:latin typeface="B Zar"/>
                <a:ea typeface="B Zar"/>
                <a:cs typeface="B Zar"/>
              </a:rPr>
              <a:t>[اقدام اجرایی دقیق بر پایهٔ نتایج درج شود]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572768" y="4809744"/>
            <a:ext cx="4782312" cy="1170432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879592" y="4974336"/>
            <a:ext cx="365760" cy="365760"/>
          </a:xfrm>
          <a:prstGeom prst="ellipse">
            <a:avLst/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879592" y="495604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00000"/>
              </a:lnSpc>
            </a:pPr>
            <a:r>
              <a:rPr sz="1200" b="1" lang="fa-IR" altLang="en-US" dirty="0">
                <a:solidFill>
                  <a:srgbClr val="FFFFFF"/>
                </a:solidFill>
                <a:latin typeface="B Titr"/>
                <a:ea typeface="B Titr"/>
                <a:cs typeface="B Titr"/>
              </a:rPr>
              <a:t>۳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773936" y="4901183"/>
            <a:ext cx="4005072" cy="10058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0000"/>
              </a:lnSpc>
            </a:pPr>
            <a:r>
              <a:rPr sz="103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تکمیل پژوهش با داده‌های واقعی فروش و روش‌های آماری پیشرفته‌تر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704320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20624" y="548640"/>
            <a:ext cx="0" cy="5833872"/>
          </a:xfrm>
          <a:prstGeom prst="line">
            <a:avLst/>
          </a:prstGeom>
          <a:ln w="13970">
            <a:solidFill>
              <a:srgbClr val="DADF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20624" y="548640"/>
            <a:ext cx="0" cy="5015788"/>
          </a:xfrm>
          <a:prstGeom prst="line">
            <a:avLst/>
          </a:prstGeom>
          <a:ln w="21590">
            <a:solidFill>
              <a:srgbClr val="2E7D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372618" y="555498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512064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عنوان و معرفی</a:t>
            </a:r>
          </a:p>
        </p:txBody>
      </p:sp>
      <p:sp>
        <p:nvSpPr>
          <p:cNvPr id="7" name="Oval 6"/>
          <p:cNvSpPr/>
          <p:nvPr/>
        </p:nvSpPr>
        <p:spPr>
          <a:xfrm>
            <a:off x="372618" y="937107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89367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کلیات پژوهش</a:t>
            </a:r>
          </a:p>
        </p:txBody>
      </p:sp>
      <p:sp>
        <p:nvSpPr>
          <p:cNvPr id="9" name="Oval 8"/>
          <p:cNvSpPr/>
          <p:nvPr/>
        </p:nvSpPr>
        <p:spPr>
          <a:xfrm>
            <a:off x="372618" y="1318717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27528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بیان مسئله</a:t>
            </a:r>
          </a:p>
        </p:txBody>
      </p:sp>
      <p:sp>
        <p:nvSpPr>
          <p:cNvPr id="11" name="Oval 10"/>
          <p:cNvSpPr/>
          <p:nvPr/>
        </p:nvSpPr>
        <p:spPr>
          <a:xfrm>
            <a:off x="372618" y="1700326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65689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اهمیت و ضرورت</a:t>
            </a:r>
          </a:p>
        </p:txBody>
      </p:sp>
      <p:sp>
        <p:nvSpPr>
          <p:cNvPr id="13" name="Oval 12"/>
          <p:cNvSpPr/>
          <p:nvPr/>
        </p:nvSpPr>
        <p:spPr>
          <a:xfrm>
            <a:off x="372618" y="2081936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203850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اهداف و فرضیه‌ها</a:t>
            </a:r>
          </a:p>
        </p:txBody>
      </p:sp>
      <p:sp>
        <p:nvSpPr>
          <p:cNvPr id="15" name="Oval 14"/>
          <p:cNvSpPr/>
          <p:nvPr/>
        </p:nvSpPr>
        <p:spPr>
          <a:xfrm>
            <a:off x="372618" y="2463546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242011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مبانی و پیشینه</a:t>
            </a:r>
          </a:p>
        </p:txBody>
      </p:sp>
      <p:sp>
        <p:nvSpPr>
          <p:cNvPr id="17" name="Oval 16"/>
          <p:cNvSpPr/>
          <p:nvPr/>
        </p:nvSpPr>
        <p:spPr>
          <a:xfrm>
            <a:off x="372618" y="2845155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2801721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روش‌شناسی</a:t>
            </a:r>
          </a:p>
        </p:txBody>
      </p:sp>
      <p:sp>
        <p:nvSpPr>
          <p:cNvPr id="19" name="Oval 18"/>
          <p:cNvSpPr/>
          <p:nvPr/>
        </p:nvSpPr>
        <p:spPr>
          <a:xfrm>
            <a:off x="372618" y="3226765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" y="3183331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جامعه و نمونه</a:t>
            </a:r>
          </a:p>
        </p:txBody>
      </p:sp>
      <p:sp>
        <p:nvSpPr>
          <p:cNvPr id="21" name="Oval 20"/>
          <p:cNvSpPr/>
          <p:nvPr/>
        </p:nvSpPr>
        <p:spPr>
          <a:xfrm>
            <a:off x="372618" y="3608374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356494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ابزار گردآوری</a:t>
            </a:r>
          </a:p>
        </p:txBody>
      </p:sp>
      <p:sp>
        <p:nvSpPr>
          <p:cNvPr id="23" name="Oval 22"/>
          <p:cNvSpPr/>
          <p:nvPr/>
        </p:nvSpPr>
        <p:spPr>
          <a:xfrm>
            <a:off x="372618" y="3989984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" y="394655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یافته‌ها</a:t>
            </a:r>
          </a:p>
        </p:txBody>
      </p:sp>
      <p:sp>
        <p:nvSpPr>
          <p:cNvPr id="25" name="Oval 24"/>
          <p:cNvSpPr/>
          <p:nvPr/>
        </p:nvSpPr>
        <p:spPr>
          <a:xfrm>
            <a:off x="372618" y="4371594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432816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تحلیل و بحث</a:t>
            </a:r>
          </a:p>
        </p:txBody>
      </p:sp>
      <p:sp>
        <p:nvSpPr>
          <p:cNvPr id="27" name="Oval 26"/>
          <p:cNvSpPr/>
          <p:nvPr/>
        </p:nvSpPr>
        <p:spPr>
          <a:xfrm>
            <a:off x="372618" y="4753203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4" y="470976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نتیجه‌گیری</a:t>
            </a:r>
          </a:p>
        </p:txBody>
      </p:sp>
      <p:sp>
        <p:nvSpPr>
          <p:cNvPr id="29" name="Oval 28"/>
          <p:cNvSpPr/>
          <p:nvPr/>
        </p:nvSpPr>
        <p:spPr>
          <a:xfrm>
            <a:off x="372618" y="5134813"/>
            <a:ext cx="96012" cy="96012"/>
          </a:xfrm>
          <a:prstGeom prst="ellipse">
            <a:avLst/>
          </a:prstGeom>
          <a:solidFill>
            <a:srgbClr val="B8903E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3504" y="509137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1E5E62"/>
                </a:solidFill>
                <a:latin typeface="B Zar"/>
                <a:ea typeface="B Zar"/>
                <a:cs typeface="B Zar"/>
              </a:rPr>
              <a:t>پیشنهادها</a:t>
            </a:r>
          </a:p>
        </p:txBody>
      </p:sp>
      <p:sp>
        <p:nvSpPr>
          <p:cNvPr id="31" name="Oval 30"/>
          <p:cNvSpPr/>
          <p:nvPr/>
        </p:nvSpPr>
        <p:spPr>
          <a:xfrm>
            <a:off x="324612" y="5468416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7D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79476" y="5523280"/>
            <a:ext cx="82296" cy="82296"/>
          </a:xfrm>
          <a:prstGeom prst="ellipse">
            <a:avLst/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504" y="5459272"/>
            <a:ext cx="960120" cy="2103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6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محدودیت‌ها</a:t>
            </a:r>
          </a:p>
        </p:txBody>
      </p:sp>
      <p:sp>
        <p:nvSpPr>
          <p:cNvPr id="34" name="Oval 33"/>
          <p:cNvSpPr/>
          <p:nvPr/>
        </p:nvSpPr>
        <p:spPr>
          <a:xfrm>
            <a:off x="372618" y="589803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504" y="585459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جمع‌بندی</a:t>
            </a:r>
          </a:p>
        </p:txBody>
      </p:sp>
      <p:sp>
        <p:nvSpPr>
          <p:cNvPr id="36" name="Oval 35"/>
          <p:cNvSpPr/>
          <p:nvPr/>
        </p:nvSpPr>
        <p:spPr>
          <a:xfrm>
            <a:off x="372618" y="6279642"/>
            <a:ext cx="96012" cy="96012"/>
          </a:xfrm>
          <a:prstGeom prst="ellipse">
            <a:avLst/>
          </a:prstGeom>
          <a:solidFill>
            <a:srgbClr val="FFFFFF"/>
          </a:solidFill>
          <a:ln w="11430">
            <a:solidFill>
              <a:srgbClr val="DA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623620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تشکر و پاسخ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283696" y="329184"/>
            <a:ext cx="82296" cy="82296"/>
          </a:xfrm>
          <a:prstGeom prst="roundRect">
            <a:avLst>
              <a:gd name="adj" fmla="val 44444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572768" y="256032"/>
            <a:ext cx="9528047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1E5E62"/>
                </a:solidFill>
                <a:latin typeface="B Lotus"/>
                <a:ea typeface="B Lotus"/>
                <a:cs typeface="B Lotus"/>
              </a:rPr>
              <a:t>بخش ۱۴  ·  محدودیت‌ها و جمع‌بندی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2768" y="502920"/>
            <a:ext cx="9546336" cy="4754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05000"/>
              </a:lnSpc>
            </a:pPr>
            <a:r>
              <a:rPr sz="2400" b="1" lang="fa-IR" altLang="en-US" dirty="0">
                <a:solidFill>
                  <a:srgbClr val="0D2137"/>
                </a:solidFill>
                <a:latin typeface="B Titr"/>
                <a:ea typeface="B Titr"/>
                <a:cs typeface="B Titr"/>
              </a:rPr>
              <a:t>محدودیت‌ها و جمع‌بندی نهایی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10735056" y="1060704"/>
            <a:ext cx="566928" cy="0"/>
          </a:xfrm>
          <a:prstGeom prst="line">
            <a:avLst/>
          </a:prstGeom>
          <a:ln w="25400">
            <a:solidFill>
              <a:srgbClr val="B890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1572768" y="1060704"/>
            <a:ext cx="9089136" cy="0"/>
          </a:xfrm>
          <a:prstGeom prst="line">
            <a:avLst/>
          </a:prstGeom>
          <a:ln w="12700">
            <a:solidFill>
              <a:srgbClr val="DADFE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920240" y="6510528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740" b="0" lang="fa-IR" altLang="en-US" dirty="0">
                <a:solidFill>
                  <a:srgbClr val="6B7785"/>
                </a:solidFill>
                <a:latin typeface="B Zar"/>
                <a:ea typeface="B Zar"/>
                <a:cs typeface="B Zar"/>
              </a:rPr>
              <a:t>دانشگاه پیام نور واحد جویبار  ·  دانشکدهٔ مدیریت، اقتصاد و حسابداری  ·  دفاع از پایان‌نامهٔ کارشناسی ارشد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69880" y="6492240"/>
            <a:ext cx="832104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50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۲۱ / ۲۲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355080" y="1417320"/>
            <a:ext cx="4946904" cy="4736592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12700">
            <a:solidFill>
              <a:srgbClr val="E7E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355080" y="1417320"/>
            <a:ext cx="4946904" cy="475488"/>
          </a:xfrm>
          <a:prstGeom prst="roundRect">
            <a:avLst>
              <a:gd name="adj" fmla="val 46153"/>
            </a:avLst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55080" y="1691640"/>
            <a:ext cx="4946904" cy="201168"/>
          </a:xfrm>
          <a:prstGeom prst="roundRect">
            <a:avLst>
              <a:gd name="adj" fmla="val 50000"/>
            </a:avLst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37960" y="1417320"/>
            <a:ext cx="4581144" cy="4754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1080" b="0" lang="fa-IR" altLang="en-US" dirty="0">
                <a:solidFill>
                  <a:srgbClr val="D6B878"/>
                </a:solidFill>
                <a:latin typeface="B Lotus"/>
                <a:ea typeface="B Lotus"/>
                <a:cs typeface="B Lotus"/>
              </a:rPr>
              <a:t>محدودیت‌های پژوهش (بازبینی بر اساس فصل ۵)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137392" y="2194560"/>
            <a:ext cx="77724" cy="77724"/>
          </a:xfrm>
          <a:prstGeom prst="roundRect">
            <a:avLst>
              <a:gd name="adj" fmla="val 47058"/>
            </a:avLst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0" y="2121408"/>
            <a:ext cx="4370832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5000"/>
              </a:lnSpc>
            </a:pPr>
            <a:r>
              <a:rPr sz="106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محدود بودن قلمرو مکانی به فروشگاه‌های دوو در اهواز و لزوم احتیاط در تعمیم نتایج.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137392" y="3035808"/>
            <a:ext cx="77724" cy="77724"/>
          </a:xfrm>
          <a:prstGeom prst="roundRect">
            <a:avLst>
              <a:gd name="adj" fmla="val 47058"/>
            </a:avLst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83680" y="2962656"/>
            <a:ext cx="4370832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ct val="145000"/>
              </a:lnSpc>
            </a:pPr>
            <a:r>
              <a:rPr sz="1060" b="0" lang="fa-IR" altLang="en-US" dirty="0">
                <a:solidFill>
                  <a:srgbClr val="223140"/>
                </a:solidFill>
                <a:latin typeface="B Zar"/>
                <a:ea typeface="B Zar"/>
                <a:cs typeface="B Zar"/>
              </a:rPr>
              <a:t>اتکا به داده‌های خودگزارشیِ گردآوری‌شده با پرسشنامه.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583680" y="4892040"/>
            <a:ext cx="4498848" cy="960120"/>
          </a:xfrm>
          <a:prstGeom prst="roundRect">
            <a:avLst>
              <a:gd name="adj" fmla="val 19047"/>
            </a:avLst>
          </a:prstGeom>
          <a:solidFill>
            <a:srgbClr val="FBF5E8"/>
          </a:solidFill>
          <a:ln w="13970">
            <a:solidFill>
              <a:srgbClr val="B8903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11696" y="4892040"/>
            <a:ext cx="4242816" cy="9601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0000"/>
              </a:lnSpc>
            </a:pPr>
            <a:r>
              <a:rPr sz="960" b="0" lang="fa-IR" altLang="en-US" dirty="0">
                <a:solidFill>
                  <a:srgbClr val="8A6628"/>
                </a:solidFill>
                <a:latin typeface="B Zar"/>
                <a:ea typeface="B Zar"/>
                <a:cs typeface="B Zar"/>
              </a:rPr>
              <a:t>[سایر محدودیت‌های زمانی، منابع و روش‌شناختی از فصل ۵ درج شود]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572768" y="1417320"/>
            <a:ext cx="4617720" cy="4736592"/>
          </a:xfrm>
          <a:prstGeom prst="roundRect">
            <a:avLst>
              <a:gd name="adj" fmla="val 5544"/>
            </a:avLst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3104388" y="164592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104388" y="1645920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10000"/>
              </a:lnSpc>
            </a:pPr>
            <a:r>
              <a:rPr sz="1000" b="0" lang="fa-IR" altLang="en-US" dirty="0">
                <a:solidFill>
                  <a:srgbClr val="0D2137"/>
                </a:solidFill>
                <a:latin typeface="B Lotus"/>
                <a:ea typeface="B Lotus"/>
                <a:cs typeface="B Lotus"/>
              </a:rPr>
              <a:t>جمع‌بندی نهایی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938528" y="2212848"/>
            <a:ext cx="3886200" cy="603504"/>
          </a:xfrm>
          <a:prstGeom prst="roundRect">
            <a:avLst>
              <a:gd name="adj" fmla="val 30303"/>
            </a:avLst>
          </a:prstGeom>
          <a:solidFill>
            <a:srgbClr val="183658"/>
          </a:solidFill>
          <a:ln w="10160">
            <a:solidFill>
              <a:srgbClr val="3C54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285232" y="2340864"/>
            <a:ext cx="347472" cy="347472"/>
          </a:xfrm>
          <a:prstGeom prst="ellipse">
            <a:avLst/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285232" y="232257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00000"/>
              </a:lnSpc>
            </a:pPr>
            <a:r>
              <a:rPr sz="1100" b="1" lang="fa-IR" altLang="en-US" dirty="0">
                <a:solidFill>
                  <a:srgbClr val="FFFFFF"/>
                </a:solidFill>
                <a:latin typeface="B Titr"/>
                <a:ea typeface="B Titr"/>
                <a:cs typeface="B Titr"/>
              </a:rPr>
              <a:t>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103120" y="2212848"/>
            <a:ext cx="301752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1080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۳ مؤلفهٔ بازارپردازی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3881628" y="2852928"/>
            <a:ext cx="0" cy="146304"/>
          </a:xfrm>
          <a:prstGeom prst="line">
            <a:avLst/>
          </a:prstGeom>
          <a:ln w="17780">
            <a:solidFill>
              <a:srgbClr val="D6B8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1938528" y="3035808"/>
            <a:ext cx="3886200" cy="603504"/>
          </a:xfrm>
          <a:prstGeom prst="roundRect">
            <a:avLst>
              <a:gd name="adj" fmla="val 30303"/>
            </a:avLst>
          </a:prstGeom>
          <a:solidFill>
            <a:srgbClr val="183658"/>
          </a:solidFill>
          <a:ln w="10160">
            <a:solidFill>
              <a:srgbClr val="3C54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5285232" y="3163824"/>
            <a:ext cx="347472" cy="347472"/>
          </a:xfrm>
          <a:prstGeom prst="ellipse">
            <a:avLst/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285232" y="314553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00000"/>
              </a:lnSpc>
            </a:pPr>
            <a:r>
              <a:rPr sz="1100" b="1" lang="fa-IR" altLang="en-US" dirty="0">
                <a:solidFill>
                  <a:srgbClr val="FFFFFF"/>
                </a:solidFill>
                <a:latin typeface="B Titr"/>
                <a:ea typeface="B Titr"/>
                <a:cs typeface="B Titr"/>
              </a:rPr>
              <a:t>۲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03120" y="3035808"/>
            <a:ext cx="301752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1080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رابطهٔ مثبت و معنادار با فروش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3881628" y="3675887"/>
            <a:ext cx="0" cy="146304"/>
          </a:xfrm>
          <a:prstGeom prst="line">
            <a:avLst/>
          </a:prstGeom>
          <a:ln w="17780">
            <a:solidFill>
              <a:srgbClr val="D6B8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1938528" y="3858768"/>
            <a:ext cx="3886200" cy="603504"/>
          </a:xfrm>
          <a:prstGeom prst="roundRect">
            <a:avLst>
              <a:gd name="adj" fmla="val 30303"/>
            </a:avLst>
          </a:prstGeom>
          <a:solidFill>
            <a:srgbClr val="183658"/>
          </a:solidFill>
          <a:ln w="10160">
            <a:solidFill>
              <a:srgbClr val="3C54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285232" y="3986783"/>
            <a:ext cx="347472" cy="347472"/>
          </a:xfrm>
          <a:prstGeom prst="ellipse">
            <a:avLst/>
          </a:prstGeom>
          <a:solidFill>
            <a:srgbClr val="2E7D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85232" y="396849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00000"/>
              </a:lnSpc>
            </a:pPr>
            <a:r>
              <a:rPr sz="1100" b="1" lang="fa-IR" altLang="en-US" dirty="0">
                <a:solidFill>
                  <a:srgbClr val="FFFFFF"/>
                </a:solidFill>
                <a:latin typeface="B Titr"/>
                <a:ea typeface="B Titr"/>
                <a:cs typeface="B Titr"/>
              </a:rPr>
              <a:t>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103120" y="3858768"/>
            <a:ext cx="301752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1080" b="0" lang="fa-IR" altLang="en-US" dirty="0">
                <a:solidFill>
                  <a:srgbClr val="FFFFFF"/>
                </a:solidFill>
                <a:latin typeface="B Lotus"/>
                <a:ea typeface="B Lotus"/>
                <a:cs typeface="B Lotus"/>
              </a:rPr>
              <a:t>ارتقای فروش محصولات دوو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2148840" y="4754880"/>
            <a:ext cx="3447288" cy="0"/>
          </a:xfrm>
          <a:prstGeom prst="line">
            <a:avLst/>
          </a:prstGeom>
          <a:ln w="11430">
            <a:solidFill>
              <a:srgbClr val="465C7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1810512" y="4882896"/>
            <a:ext cx="416052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55000"/>
              </a:lnSpc>
            </a:pPr>
            <a:r>
              <a:rPr sz="1030" b="0" lang="fa-IR" altLang="en-US" dirty="0">
                <a:solidFill>
                  <a:srgbClr val="ECE8DE"/>
                </a:solidFill>
                <a:latin typeface="B Zar"/>
                <a:ea typeface="B Zar"/>
                <a:cs typeface="B Zar"/>
              </a:rPr>
              <a:t>پیام کلیدی: طراحی هدفمند محیط فروشگاه — اقلام تبلیغاتی، فعالیت‌های بازارپردازی و چیدمان — اهرمی اثرگذار برای ارتقای فروش است.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than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704320" cy="685800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420624" y="548640"/>
            <a:ext cx="0" cy="5833872"/>
          </a:xfrm>
          <a:prstGeom prst="line">
            <a:avLst/>
          </a:prstGeom>
          <a:ln w="13970">
            <a:solidFill>
              <a:srgbClr val="ECE8D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20624" y="548640"/>
            <a:ext cx="0" cy="5779008"/>
          </a:xfrm>
          <a:prstGeom prst="line">
            <a:avLst/>
          </a:prstGeom>
          <a:ln w="21590">
            <a:solidFill>
              <a:srgbClr val="D6B8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372618" y="555498"/>
            <a:ext cx="96012" cy="96012"/>
          </a:xfrm>
          <a:prstGeom prst="ellipse">
            <a:avLst/>
          </a:prstGeom>
          <a:solidFill>
            <a:srgbClr val="D6B878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512064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ECE8DE"/>
                </a:solidFill>
                <a:latin typeface="B Zar"/>
                <a:ea typeface="B Zar"/>
                <a:cs typeface="B Zar"/>
              </a:rPr>
              <a:t>عنوان و معرفی</a:t>
            </a:r>
          </a:p>
        </p:txBody>
      </p:sp>
      <p:sp>
        <p:nvSpPr>
          <p:cNvPr id="7" name="Oval 6"/>
          <p:cNvSpPr/>
          <p:nvPr/>
        </p:nvSpPr>
        <p:spPr>
          <a:xfrm>
            <a:off x="372618" y="937107"/>
            <a:ext cx="96012" cy="96012"/>
          </a:xfrm>
          <a:prstGeom prst="ellipse">
            <a:avLst/>
          </a:prstGeom>
          <a:solidFill>
            <a:srgbClr val="D6B878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89367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ECE8DE"/>
                </a:solidFill>
                <a:latin typeface="B Zar"/>
                <a:ea typeface="B Zar"/>
                <a:cs typeface="B Zar"/>
              </a:rPr>
              <a:t>کلیات پژوهش</a:t>
            </a:r>
          </a:p>
        </p:txBody>
      </p:sp>
      <p:sp>
        <p:nvSpPr>
          <p:cNvPr id="9" name="Oval 8"/>
          <p:cNvSpPr/>
          <p:nvPr/>
        </p:nvSpPr>
        <p:spPr>
          <a:xfrm>
            <a:off x="372618" y="1318717"/>
            <a:ext cx="96012" cy="96012"/>
          </a:xfrm>
          <a:prstGeom prst="ellipse">
            <a:avLst/>
          </a:prstGeom>
          <a:solidFill>
            <a:srgbClr val="D6B878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275283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ECE8DE"/>
                </a:solidFill>
                <a:latin typeface="B Zar"/>
                <a:ea typeface="B Zar"/>
                <a:cs typeface="B Zar"/>
              </a:rPr>
              <a:t>بیان مسئله</a:t>
            </a:r>
          </a:p>
        </p:txBody>
      </p:sp>
      <p:sp>
        <p:nvSpPr>
          <p:cNvPr id="11" name="Oval 10"/>
          <p:cNvSpPr/>
          <p:nvPr/>
        </p:nvSpPr>
        <p:spPr>
          <a:xfrm>
            <a:off x="372618" y="1700326"/>
            <a:ext cx="96012" cy="96012"/>
          </a:xfrm>
          <a:prstGeom prst="ellipse">
            <a:avLst/>
          </a:prstGeom>
          <a:solidFill>
            <a:srgbClr val="D6B878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65689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ECE8DE"/>
                </a:solidFill>
                <a:latin typeface="B Zar"/>
                <a:ea typeface="B Zar"/>
                <a:cs typeface="B Zar"/>
              </a:rPr>
              <a:t>اهمیت و ضرورت</a:t>
            </a:r>
          </a:p>
        </p:txBody>
      </p:sp>
      <p:sp>
        <p:nvSpPr>
          <p:cNvPr id="13" name="Oval 12"/>
          <p:cNvSpPr/>
          <p:nvPr/>
        </p:nvSpPr>
        <p:spPr>
          <a:xfrm>
            <a:off x="372618" y="2081936"/>
            <a:ext cx="96012" cy="96012"/>
          </a:xfrm>
          <a:prstGeom prst="ellipse">
            <a:avLst/>
          </a:prstGeom>
          <a:solidFill>
            <a:srgbClr val="D6B878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203850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ECE8DE"/>
                </a:solidFill>
                <a:latin typeface="B Zar"/>
                <a:ea typeface="B Zar"/>
                <a:cs typeface="B Zar"/>
              </a:rPr>
              <a:t>اهداف و فرضیه‌ها</a:t>
            </a:r>
          </a:p>
        </p:txBody>
      </p:sp>
      <p:sp>
        <p:nvSpPr>
          <p:cNvPr id="15" name="Oval 14"/>
          <p:cNvSpPr/>
          <p:nvPr/>
        </p:nvSpPr>
        <p:spPr>
          <a:xfrm>
            <a:off x="372618" y="2463546"/>
            <a:ext cx="96012" cy="96012"/>
          </a:xfrm>
          <a:prstGeom prst="ellipse">
            <a:avLst/>
          </a:prstGeom>
          <a:solidFill>
            <a:srgbClr val="D6B878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242011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ECE8DE"/>
                </a:solidFill>
                <a:latin typeface="B Zar"/>
                <a:ea typeface="B Zar"/>
                <a:cs typeface="B Zar"/>
              </a:rPr>
              <a:t>مبانی و پیشینه</a:t>
            </a:r>
          </a:p>
        </p:txBody>
      </p:sp>
      <p:sp>
        <p:nvSpPr>
          <p:cNvPr id="17" name="Oval 16"/>
          <p:cNvSpPr/>
          <p:nvPr/>
        </p:nvSpPr>
        <p:spPr>
          <a:xfrm>
            <a:off x="372618" y="2845155"/>
            <a:ext cx="96012" cy="96012"/>
          </a:xfrm>
          <a:prstGeom prst="ellipse">
            <a:avLst/>
          </a:prstGeom>
          <a:solidFill>
            <a:srgbClr val="D6B878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2801721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ECE8DE"/>
                </a:solidFill>
                <a:latin typeface="B Zar"/>
                <a:ea typeface="B Zar"/>
                <a:cs typeface="B Zar"/>
              </a:rPr>
              <a:t>روش‌شناسی</a:t>
            </a:r>
          </a:p>
        </p:txBody>
      </p:sp>
      <p:sp>
        <p:nvSpPr>
          <p:cNvPr id="19" name="Oval 18"/>
          <p:cNvSpPr/>
          <p:nvPr/>
        </p:nvSpPr>
        <p:spPr>
          <a:xfrm>
            <a:off x="372618" y="3226765"/>
            <a:ext cx="96012" cy="96012"/>
          </a:xfrm>
          <a:prstGeom prst="ellipse">
            <a:avLst/>
          </a:prstGeom>
          <a:solidFill>
            <a:srgbClr val="D6B878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" y="3183331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ECE8DE"/>
                </a:solidFill>
                <a:latin typeface="B Zar"/>
                <a:ea typeface="B Zar"/>
                <a:cs typeface="B Zar"/>
              </a:rPr>
              <a:t>جامعه و نمونه</a:t>
            </a:r>
          </a:p>
        </p:txBody>
      </p:sp>
      <p:sp>
        <p:nvSpPr>
          <p:cNvPr id="21" name="Oval 20"/>
          <p:cNvSpPr/>
          <p:nvPr/>
        </p:nvSpPr>
        <p:spPr>
          <a:xfrm>
            <a:off x="372618" y="3608374"/>
            <a:ext cx="96012" cy="96012"/>
          </a:xfrm>
          <a:prstGeom prst="ellipse">
            <a:avLst/>
          </a:prstGeom>
          <a:solidFill>
            <a:srgbClr val="D6B878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356494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ECE8DE"/>
                </a:solidFill>
                <a:latin typeface="B Zar"/>
                <a:ea typeface="B Zar"/>
                <a:cs typeface="B Zar"/>
              </a:rPr>
              <a:t>ابزار گردآوری</a:t>
            </a:r>
          </a:p>
        </p:txBody>
      </p:sp>
      <p:sp>
        <p:nvSpPr>
          <p:cNvPr id="23" name="Oval 22"/>
          <p:cNvSpPr/>
          <p:nvPr/>
        </p:nvSpPr>
        <p:spPr>
          <a:xfrm>
            <a:off x="372618" y="3989984"/>
            <a:ext cx="96012" cy="96012"/>
          </a:xfrm>
          <a:prstGeom prst="ellipse">
            <a:avLst/>
          </a:prstGeom>
          <a:solidFill>
            <a:srgbClr val="D6B878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" y="394655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ECE8DE"/>
                </a:solidFill>
                <a:latin typeface="B Zar"/>
                <a:ea typeface="B Zar"/>
                <a:cs typeface="B Zar"/>
              </a:rPr>
              <a:t>یافته‌ها</a:t>
            </a:r>
          </a:p>
        </p:txBody>
      </p:sp>
      <p:sp>
        <p:nvSpPr>
          <p:cNvPr id="25" name="Oval 24"/>
          <p:cNvSpPr/>
          <p:nvPr/>
        </p:nvSpPr>
        <p:spPr>
          <a:xfrm>
            <a:off x="372618" y="4371594"/>
            <a:ext cx="96012" cy="96012"/>
          </a:xfrm>
          <a:prstGeom prst="ellipse">
            <a:avLst/>
          </a:prstGeom>
          <a:solidFill>
            <a:srgbClr val="D6B878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432816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ECE8DE"/>
                </a:solidFill>
                <a:latin typeface="B Zar"/>
                <a:ea typeface="B Zar"/>
                <a:cs typeface="B Zar"/>
              </a:rPr>
              <a:t>تحلیل و بحث</a:t>
            </a:r>
          </a:p>
        </p:txBody>
      </p:sp>
      <p:sp>
        <p:nvSpPr>
          <p:cNvPr id="27" name="Oval 26"/>
          <p:cNvSpPr/>
          <p:nvPr/>
        </p:nvSpPr>
        <p:spPr>
          <a:xfrm>
            <a:off x="372618" y="4753203"/>
            <a:ext cx="96012" cy="96012"/>
          </a:xfrm>
          <a:prstGeom prst="ellipse">
            <a:avLst/>
          </a:prstGeom>
          <a:solidFill>
            <a:srgbClr val="D6B878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4" y="470976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ECE8DE"/>
                </a:solidFill>
                <a:latin typeface="B Zar"/>
                <a:ea typeface="B Zar"/>
                <a:cs typeface="B Zar"/>
              </a:rPr>
              <a:t>نتیجه‌گیری</a:t>
            </a:r>
          </a:p>
        </p:txBody>
      </p:sp>
      <p:sp>
        <p:nvSpPr>
          <p:cNvPr id="29" name="Oval 28"/>
          <p:cNvSpPr/>
          <p:nvPr/>
        </p:nvSpPr>
        <p:spPr>
          <a:xfrm>
            <a:off x="372618" y="5134813"/>
            <a:ext cx="96012" cy="96012"/>
          </a:xfrm>
          <a:prstGeom prst="ellipse">
            <a:avLst/>
          </a:prstGeom>
          <a:solidFill>
            <a:srgbClr val="D6B878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3504" y="509137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ECE8DE"/>
                </a:solidFill>
                <a:latin typeface="B Zar"/>
                <a:ea typeface="B Zar"/>
                <a:cs typeface="B Zar"/>
              </a:rPr>
              <a:t>پیشنهادها</a:t>
            </a:r>
          </a:p>
        </p:txBody>
      </p:sp>
      <p:sp>
        <p:nvSpPr>
          <p:cNvPr id="31" name="Oval 30"/>
          <p:cNvSpPr/>
          <p:nvPr/>
        </p:nvSpPr>
        <p:spPr>
          <a:xfrm>
            <a:off x="372618" y="5516422"/>
            <a:ext cx="96012" cy="96012"/>
          </a:xfrm>
          <a:prstGeom prst="ellipse">
            <a:avLst/>
          </a:prstGeom>
          <a:solidFill>
            <a:srgbClr val="D6B878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4" y="547298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ECE8DE"/>
                </a:solidFill>
                <a:latin typeface="B Zar"/>
                <a:ea typeface="B Zar"/>
                <a:cs typeface="B Zar"/>
              </a:rPr>
              <a:t>محدودیت‌ها</a:t>
            </a:r>
          </a:p>
        </p:txBody>
      </p:sp>
      <p:sp>
        <p:nvSpPr>
          <p:cNvPr id="33" name="Oval 32"/>
          <p:cNvSpPr/>
          <p:nvPr/>
        </p:nvSpPr>
        <p:spPr>
          <a:xfrm>
            <a:off x="372618" y="5898032"/>
            <a:ext cx="96012" cy="96012"/>
          </a:xfrm>
          <a:prstGeom prst="ellipse">
            <a:avLst/>
          </a:prstGeom>
          <a:solidFill>
            <a:srgbClr val="D6B878"/>
          </a:solidFill>
          <a:ln w="11430">
            <a:solidFill>
              <a:srgbClr val="B890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504" y="585459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770" b="0" lang="fa-IR" altLang="en-US" dirty="0">
                <a:solidFill>
                  <a:srgbClr val="ECE8DE"/>
                </a:solidFill>
                <a:latin typeface="B Zar"/>
                <a:ea typeface="B Zar"/>
                <a:cs typeface="B Zar"/>
              </a:rPr>
              <a:t>جمع‌بندی</a:t>
            </a:r>
          </a:p>
        </p:txBody>
      </p:sp>
      <p:sp>
        <p:nvSpPr>
          <p:cNvPr id="35" name="Oval 34"/>
          <p:cNvSpPr/>
          <p:nvPr/>
        </p:nvSpPr>
        <p:spPr>
          <a:xfrm>
            <a:off x="324612" y="6231636"/>
            <a:ext cx="192024" cy="192024"/>
          </a:xfrm>
          <a:prstGeom prst="ellipse">
            <a:avLst/>
          </a:prstGeom>
          <a:solidFill>
            <a:srgbClr val="0D2137"/>
          </a:solidFill>
          <a:ln w="25400">
            <a:solidFill>
              <a:srgbClr val="D6B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9476" y="6286500"/>
            <a:ext cx="82296" cy="82296"/>
          </a:xfrm>
          <a:prstGeom prst="ellipse">
            <a:avLst/>
          </a:prstGeom>
          <a:solidFill>
            <a:srgbClr val="D6B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6222492"/>
            <a:ext cx="960120" cy="2103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60" b="0" lang="fa-IR" altLang="en-US" dirty="0">
                <a:solidFill>
                  <a:srgbClr val="D6B878"/>
                </a:solidFill>
                <a:latin typeface="B Lotus"/>
                <a:ea typeface="B Lotus"/>
                <a:cs typeface="B Lotus"/>
              </a:rPr>
              <a:t>تشکر و پاسخ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20240" y="6510528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 rtl="1">
              <a:lnSpc>
                <a:spcPct val="142000"/>
              </a:lnSpc>
            </a:pPr>
            <a:r>
              <a:rPr sz="740" b="0" lang="fa-IR" altLang="en-US" dirty="0">
                <a:solidFill>
                  <a:srgbClr val="AAB2BC"/>
                </a:solidFill>
                <a:latin typeface="B Zar"/>
                <a:ea typeface="B Zar"/>
                <a:cs typeface="B Zar"/>
              </a:rPr>
              <a:t>دانشگاه پیام نور واحد جویبار  ·  دانشکدهٔ مدیریت، اقتصاد و حسابداری  ·  دفاع از پایان‌نامهٔ کارشناسی ارشد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69880" y="6492240"/>
            <a:ext cx="832104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 rtl="1">
              <a:lnSpc>
                <a:spcPct val="142000"/>
              </a:lnSpc>
            </a:pPr>
            <a:r>
              <a:rPr sz="850" b="0" lang="fa-IR" altLang="en-US" dirty="0">
                <a:solidFill>
                  <a:srgbClr val="D6B878"/>
                </a:solidFill>
                <a:latin typeface="B Lotus"/>
                <a:ea typeface="B Lotus"/>
                <a:cs typeface="B Lotus"/>
              </a:rPr>
              <a:t>۲۲ / ۲۲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0" y="1298448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1050" b="0" lang="fa-IR" altLang="en-US" dirty="0">
                <a:solidFill>
                  <a:srgbClr val="D6B878"/>
                </a:solidFill>
                <a:latin typeface="B Lotus"/>
                <a:ea typeface="B Lotus"/>
                <a:cs typeface="B Lotus"/>
              </a:rPr>
              <a:t>دانشگاه پیام نور واحد جویبار — دانشکدهٔ مدیریت، اقتصاد و حسابداری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94560" y="2395728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10000"/>
              </a:lnSpc>
            </a:pPr>
            <a:r>
              <a:rPr sz="3800" b="1" lang="fa-IR" altLang="en-US" dirty="0">
                <a:solidFill>
                  <a:srgbClr val="FFFFFF"/>
                </a:solidFill>
                <a:latin typeface="B Titr"/>
                <a:ea typeface="B Titr"/>
                <a:cs typeface="B Titr"/>
              </a:rPr>
              <a:t>سپاسگزارم از توجه شما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257800" y="3401568"/>
            <a:ext cx="1188720" cy="0"/>
          </a:xfrm>
          <a:prstGeom prst="line">
            <a:avLst/>
          </a:prstGeom>
          <a:ln w="25400">
            <a:solidFill>
              <a:srgbClr val="B890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5779008" y="3319272"/>
            <a:ext cx="146304" cy="146304"/>
          </a:xfrm>
          <a:prstGeom prst="ellipse">
            <a:avLst/>
          </a:prstGeom>
          <a:solidFill>
            <a:srgbClr val="B89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194560" y="358444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2200" b="0" lang="fa-IR" altLang="en-US" dirty="0">
                <a:solidFill>
                  <a:srgbClr val="D6B878"/>
                </a:solidFill>
                <a:latin typeface="B Lotus"/>
                <a:ea typeface="B Lotus"/>
                <a:cs typeface="B Lotus"/>
              </a:rPr>
              <a:t>پرسش و پاسخ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977639" y="4892040"/>
            <a:ext cx="3749039" cy="1024128"/>
          </a:xfrm>
          <a:prstGeom prst="roundRect">
            <a:avLst>
              <a:gd name="adj" fmla="val 21428"/>
            </a:avLst>
          </a:prstGeom>
          <a:solidFill>
            <a:srgbClr val="1A304A"/>
          </a:solidFill>
          <a:ln w="10160">
            <a:solidFill>
              <a:srgbClr val="5A6E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60520" y="5047488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1100" b="0" lang="fa-IR" altLang="en-US" dirty="0">
                <a:solidFill>
                  <a:srgbClr val="ECE8DE"/>
                </a:solidFill>
                <a:latin typeface="B Zar"/>
                <a:ea typeface="B Zar"/>
                <a:cs typeface="B Zar"/>
              </a:rPr>
              <a:t>دانشجو: بابک مرادوند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60520" y="5413248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ct val="142000"/>
              </a:lnSpc>
            </a:pPr>
            <a:r>
              <a:rPr sz="1100" b="0" lang="fa-IR" altLang="en-US" dirty="0">
                <a:solidFill>
                  <a:srgbClr val="ECE8DE"/>
                </a:solidFill>
                <a:latin typeface="B Zar"/>
                <a:ea typeface="B Zar"/>
                <a:cs typeface="B Zar"/>
              </a:rPr>
              <a:t>استاد راهنما: دکتر رمضان غلامی اواتی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بررسی تأثیر بازارپردازی بر ارتقای فروش محصولات شرکت دوو</dc:title>
  <dc:subject>پایان‌نامهٔ کارشناسی ارشد — جلسهٔ دفاع</dc:subject>
  <dc:creator>بابک مرادوند</dc:creator>
  <cp:keywords>بازارپردازی؛ ارتقای فروش؛ فروشگاه‌های دوو؛ اهواز؛ اسپیرمن</cp:keywords>
  <dc:description>راهنما: متن‌های داخل براکت و خانه‌های خط‌چین‌شده، جای‌نمای داده‌های پایان‌نامه هستند و باید با داده‌های دقیق فصل‌های ۳، ۴ و ۵ جایگزین شوند.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پایان‌نامهٔ کارشناسی ارشد</cp:category>
</cp:coreProperties>
</file>