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embeddedFontLst>
    <p:embeddedFont>
      <p:font typeface="Vazirmatn" charset="178" pitchFamily="34"/>
      <p:regular r:id="rId53"/>
      <p:bold r:id="rId5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font" Target="fonts/font_rId53.fntdata"/><Relationship Id="rId54" Type="http://schemas.openxmlformats.org/officeDocument/2006/relationships/font" Target="fonts/font_rId5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4-advanced_1.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1C">
              <a:alpha val="6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794760"/>
            <a:ext cx="12191695" cy="3063240"/>
          </a:xfrm>
          <a:prstGeom prst="rect">
            <a:avLst/>
          </a:prstGeom>
          <a:solidFill>
            <a:srgbClr val="16211C">
              <a:alpha val="5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65615" y="0"/>
            <a:ext cx="2926080" cy="14630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Vazirmatn"/>
                <a:cs typeface="Vazirmatn"/>
              </a:rPr>
              <a:t>Puttclub</a:t>
            </a:r>
          </a:p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7E2D6"/>
                </a:solidFill>
                <a:latin typeface="Vazirmatn"/>
                <a:cs typeface="Vazirmatn"/>
              </a:rPr>
              <a:t>آکادمی گلف پات‌کلاب  ·  الهام طالبی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1175" y="502920"/>
            <a:ext cx="3520440" cy="841248"/>
          </a:xfrm>
          <a:prstGeom prst="roundRect">
            <a:avLst>
              <a:gd name="adj" fmla="val 6000"/>
            </a:avLst>
          </a:prstGeom>
          <a:solidFill>
            <a:srgbClr val="FFFFFF">
              <a:alpha val="1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31175" y="548640"/>
            <a:ext cx="3520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مدرس: الهام طالبی</a:t>
            </a:r>
          </a:p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F9A9A"/>
                </a:solidFill>
                <a:latin typeface="Vazirmatn"/>
                <a:cs typeface="Vazirmatn"/>
              </a:rPr>
              <a:t>مدرس درجه یک گلف ایران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10362895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F9A9A"/>
                </a:solidFill>
                <a:latin typeface="Vazirmatn"/>
                <a:cs typeface="Vazirmatn"/>
              </a:rPr>
              <a:t>Puttclub  |  آکادمی گلف پات‌کلاب  |  سطح ۴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Vazirmatn"/>
                <a:cs typeface="Vazirmatn"/>
              </a:rPr>
              <a:t>دوره چهارم آموزش گلف — پیشرفته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D7E2D6"/>
                </a:solidFill>
                <a:latin typeface="Vazirmatn"/>
                <a:cs typeface="Vazirmatn"/>
              </a:rPr>
              <a:t>عملکرد رقابتی، مدیریت حرفه‌ای بازی و تصمیم‌سازی در فشار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●  </a:t>
            </a:r>
            <a:r>
              <a:rPr sz="1450" b="0" i="0">
                <a:solidFill>
                  <a:srgbClr val="C9D6C8"/>
                </a:solidFill>
                <a:latin typeface="Vazirmatn"/>
                <a:cs typeface="Vazirmatn"/>
              </a:rPr>
              <a:t>پیش‌نیاز: تسلط کامل بر سطوح مقدماتی تا نیمه‌پیشرفته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●  </a:t>
            </a:r>
            <a:r>
              <a:rPr sz="1450" b="0" i="0">
                <a:solidFill>
                  <a:srgbClr val="C9D6C8"/>
                </a:solidFill>
                <a:latin typeface="Vazirmatn"/>
                <a:cs typeface="Vazirmatn"/>
              </a:rPr>
              <a:t>هدف: تبدیل بازیکن به یک بازیکن مسابقه‌ای توانمند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●  </a:t>
            </a:r>
            <a:r>
              <a:rPr sz="1450" b="0" i="0">
                <a:solidFill>
                  <a:srgbClr val="C9D6C8"/>
                </a:solidFill>
                <a:latin typeface="Vazirmatn"/>
                <a:cs typeface="Vazirmatn"/>
              </a:rPr>
              <a:t>۴۲ فصل تخصصی  ·  ۱۲ جلسه  ·  شبیه‌سازی مسابقه و پرونده عملکرد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114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latin typeface="Vazirmatn"/>
                <a:cs typeface="Vazirmatn"/>
                <a:solidFill>
                  <a:srgbClr val="FFFFFF">
                    <a:alpha val="22000"/>
                  </a:srgbClr>
                </a:solidFill>
              </a:rPr>
              <a:t>۰۴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999713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Vazirmatn"/>
                <a:cs typeface="Vazirmatn"/>
              </a:rPr>
              <a:t>هدف و فلسفه دوره پیشرفته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AF3E8"/>
                </a:solidFill>
                <a:latin typeface="Vazirmatn"/>
                <a:cs typeface="Vazirmatn"/>
              </a:rPr>
              <a:t>از «خوب ضربه زدن» تا «بهترین تصمیم ممکن در هر شرایط»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535" y="3429000"/>
            <a:ext cx="49377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چرا این ضربه و این کلاب را انتخاب کردم؟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اگر ضربه اشتباه شود چه اتفاقی می‌افتد؟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شرایط زمین و باد چه تأثیری دارد؟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بهترین نقطه فرود توپ کجاست؟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چگونه امتیاز را حفظ یا کاهش دهم؟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در فشار مسابقه چگونه تصمیم بگیرم؟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دوم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ارزیابی اولیه بازیکن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65960"/>
          <a:ext cx="10545774" cy="34015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72887"/>
                <a:gridCol w="5272887"/>
              </a:tblGrid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بخش ارزیابی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موارد بررسی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تکنیکی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Grip، Stance، Posture، Alignment، Takeaway، Backswing، Downswing، Impact، Follow Through، تعادل، ریتم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ضربات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Driver، Wood، Hybrid، Iron، Wedge، Putter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Short Game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Chip، Pitch، Bunker، Putting، Up &amp; Down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ذهنی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واکنش به ضربه بد، تصمیم در فشار، عجله، ماندن روی ضربه قبلی، حفظ برنامه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آماری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حداقل اطلاعات یک راند کامل ثبت شود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550407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350" b="0" i="0">
                <a:solidFill>
                  <a:srgbClr val="5C6B62"/>
                </a:solidFill>
                <a:latin typeface="Vazirmatn"/>
                <a:cs typeface="Vazirmatn"/>
              </a:rPr>
              <a:t>ارزیابی همه‌جانبه پیش از شروع، نقشه راه دقیق تمرین را مشخص می‌کند.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دوم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جدول آمار پایه هر راند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65960"/>
          <a:ext cx="10545774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15258"/>
                <a:gridCol w="3515258"/>
                <a:gridCol w="3515258"/>
              </a:tblGrid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شاخص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شاخص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شاخص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Score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Fairway Hit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GIR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Putts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3-Putt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Penalty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Up &amp; Down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Sand Save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Bogey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Double Bogey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میانگین Drive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پراکندگی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983480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350" b="0" i="0">
                <a:solidFill>
                  <a:srgbClr val="5C6B62"/>
                </a:solidFill>
                <a:latin typeface="Vazirmatn"/>
                <a:cs typeface="Vazirmatn"/>
              </a:rPr>
              <a:t>ثبت منظم آمار، تصمیم‌های تمرینی را از حدس به واقعیت تبدیل می‌کند.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wing-power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Swing قدرتی و در عین حال تکرارپذیر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سوم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تسلط کامل بر Swing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500" b="0" i="0">
                <a:solidFill>
                  <a:srgbClr val="1F2A24"/>
                </a:solidFill>
                <a:latin typeface="Vazirmatn"/>
                <a:cs typeface="Vazirmatn"/>
              </a:rPr>
              <a:t>در سطح پیشرفته Swing باید تا حد زیادی قابل تکرار باشد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بازیکن باید بتواند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200" b="0" i="0">
                <a:solidFill>
                  <a:srgbClr val="1F2A24"/>
                </a:solidFill>
                <a:latin typeface="Vazirmatn"/>
                <a:cs typeface="Vazirmatn"/>
              </a:rPr>
              <a:t>سرعت مناسب ایجاد کند و تعادل خود را حفظ کند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200" b="0" i="0">
                <a:solidFill>
                  <a:srgbClr val="1F2A24"/>
                </a:solidFill>
                <a:latin typeface="Vazirmatn"/>
                <a:cs typeface="Vazirmatn"/>
              </a:rPr>
              <a:t>Contact مناسب و کنترل Clubface داشته باشد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200" b="0" i="0">
                <a:solidFill>
                  <a:srgbClr val="1F2A24"/>
                </a:solidFill>
                <a:latin typeface="Vazirmatn"/>
                <a:cs typeface="Vazirmatn"/>
              </a:rPr>
              <a:t>مسیر کلاب و ارتفاع و مسیر توپ را مدیریت کند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200" b="0" i="0">
                <a:solidFill>
                  <a:srgbClr val="1F2A24"/>
                </a:solidFill>
                <a:latin typeface="Vazirmatn"/>
                <a:cs typeface="Vazirmatn"/>
              </a:rPr>
              <a:t>در شرایط مختلف (باد، شیب، Lie) Swing را تطبیق دهد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Swing قابل‌تکرار و قابل‌تطبیق، زیرساخت همه مهارت‌های پیشرفته است.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چهارم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کنترل Club 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596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596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2764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Face Square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Face عمود بر خط هدف؛ توپ مستقیم شروع می‌شود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4418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Face Open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Face باز؛ توپ به سمت راست و با ارتفاع بیشتر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Face Closed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Face بسته؛ توپ به سمت چپ و با ارتفاع کمتر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تمرین: ۱۰ توپ با آهن متوسط؛ قبل از ضربه اعلام کنید «هدف: Straight» و نتیجه را ثبت کنید تا توانایی پیش‌بینی بالا رود.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پنجم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کنترل Club Path — ثبت الگو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65960"/>
          <a:ext cx="10545774" cy="22677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15258"/>
                <a:gridCol w="3515258"/>
                <a:gridCol w="3515258"/>
              </a:tblGrid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نتیجه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نتیجه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نتیجه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Straight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Push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Pull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Fade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Draw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Slice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Hook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—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—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416552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350" b="0" i="0">
                <a:solidFill>
                  <a:srgbClr val="5C6B62"/>
                </a:solidFill>
                <a:latin typeface="Vazirmatn"/>
                <a:cs typeface="Vazirmatn"/>
              </a:rPr>
              <a:t>۲۰ توپ با آهن متوسط بزنید و نتایج را ثبت کنید؛ مربی الگوی غالب بازیکن را مشخص می‌کند (ترکیب Face + Path).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ششم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Shot Shaping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3007" y="196596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3007" y="1965960"/>
            <a:ext cx="5181447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4175" y="2130552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Draw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توپ با انحنای کنترل‌شده به سمت چپ (راست‌دست)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65960"/>
            <a:ext cx="5181447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130552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Fade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توپ با انحنای کنترل‌شده به سمت راست (راست‌دست)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قرار نیست در هر ضربه Draw یا Fade بزنید؛ هدف این است که در صورت نیاز بتوانید ضربه مناسب را اجرا کنید.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هفتم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کنترل ارتفاع توپ (Trajectory)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596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596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2764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Low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باد شدید، عبور نکردن از موانع، کنترل مسیر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4418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Medium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مسیر استاندارد و معمول بازی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High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توقف سریع‌تر، عبور از موانع، برخی Approachها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تمرین: با یک کلاب مشخص ۵ توپ Low، ۵ Medium و ۵ High بزنید تا کنترل Trajectory تثبیت شود.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هشتم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Distance Control — جدول شخصی فاصله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65960"/>
          <a:ext cx="10545772" cy="3886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431800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کلاب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Full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¾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½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PW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9 Iron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8 Iron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7 Iron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6 Iron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5 Iron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Hybrid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Wood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035040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350" b="0" i="0">
                <a:solidFill>
                  <a:srgbClr val="5C6B62"/>
                </a:solidFill>
                <a:latin typeface="Vazirmatn"/>
                <a:cs typeface="Vazirmatn"/>
              </a:rPr>
              <a:t>این جدول باید بر اساس مسافت واقعی خود بازیکن تکمیل شود: «این کلاب با این Swing در این شرایط چه مسافتی می‌دهد؟'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نهم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Wedge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یکی از مهم‌ترین بخش‌های دوره پیشرفته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برای فواصل مختلف Wedge داشته باشید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۳۰ تا ۹۰ متر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۳۰، ۴۰، ۵۰، ۶۰، ۷۰، ۸۰ و ۹۰ متر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برای هر فاصله ثبت کنید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کلاب، نوع Swing، طول Swing، Carry و Roll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کنترل Wedge بیشترین تأثیر را بر کاهش Score دارد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بازیکنی که فاصله‌های Wedge را دقیق کنترل کند، به‌طور مستقیم ضربه‌های کمتری روی Green دارد.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Carry و Roll در سطح پیشرفته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Carry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مسافتی که توپ قبل از برخورد با زمین طی می‌کند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Roll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مسافتی که توپ پس از برخورد روی زمین می‌غلتد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تمرین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یک هدف مشخص انتخاب 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ابتدا Landing Point را تعیین کنید، سپس ضربه را اجرا 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توپ الزاماً نباید مستقیم به سمت Hole پرواز کند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باید در بهترین نقطه فرود بیاید تا Roll درست اتفاق افتد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انتخاب Landing Point دقیق، مهم‌ترین مهارت ذهنی Short Game است.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یازدهم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Advanced Chipping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بر اساس شرایط زمین تصمیم بگیرید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Chip کوتاه / Chip بلند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توپ Low / توپ High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توپ با Roll زیاد / Roll کم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انتخاب کلاب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7 Iron، 8 Iron، 9 Iron، PW، SW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قانون مهم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ابتدا Landing Area را انتخاب کن، سپس کلاب را انتخاب کن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در Short Game ابتدا مقصد فرود را انتخاب کنید؛ کلاب وسیله رسیدن به آن نقطه است.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دوازدهم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Advanced Pitching — ثبت فواصل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65960"/>
          <a:ext cx="10545772" cy="388619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فاصله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Carry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Roll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Landing Point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۲۰ متر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۳۰ متر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۴۰ متر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۵۰ متر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۶۰ متر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۷۰ متر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035040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350" b="0" i="0">
                <a:solidFill>
                  <a:srgbClr val="5C6B62"/>
                </a:solidFill>
                <a:latin typeface="Vazirmatn"/>
                <a:cs typeface="Vazirmatn"/>
              </a:rPr>
              <a:t>برای هر فاصله Carry + Roll + Landing Point ثبت شود تا یک مرجع شخصی قابل اعتماد ساخته شود.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unker-lie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مدیریت سناریوهای مختلف Bunker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سیزدهم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Bunker Play — سناریوها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C62828"/>
                </a:solidFill>
                <a:latin typeface="Vazirmatn"/>
                <a:cs typeface="Vazirmatn"/>
              </a:rPr>
              <a:t>Bunker ساده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توپ نزدیک مرکز؛ تکنیک پایه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C62828"/>
                </a:solidFill>
                <a:latin typeface="Vazirmatn"/>
                <a:cs typeface="Vazirmatn"/>
              </a:rPr>
              <a:t>Bunker عمیق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تمرکز روی خروج مطمئن توپ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C62828"/>
                </a:solidFill>
                <a:latin typeface="Vazirmatn"/>
                <a:cs typeface="Vazirmatn"/>
              </a:rPr>
              <a:t>فاصله زیاد تا Hole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اول خروج مناسب، سپس کنترل مسیر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C62828"/>
                </a:solidFill>
                <a:latin typeface="Vazirmatn"/>
                <a:cs typeface="Vazirmatn"/>
              </a:rPr>
              <a:t>Bunker نزدیک Green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قرار دادن توپ در محدوده امن Green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در همه سناریوها کنترل شن و تعادل کلیدی است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همیشه به دنبال ضربه فوق‌العاده نباشید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در این سطح خروج موفق اولویت دارد؛ ضربه فوق‌العاده هدف نیست.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چهاردهم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Putting پیشرفته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Putting می‌تواند تفاوت اصلی بین دو بازیکن هم‌سطح باشد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مهارت‌های کلیدی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Start Line و Distance Control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Green Reading و Break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Uphill، Downhill و Side Slope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Lag Putting و Short Putting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Putting سطح بالای بازی، جایی است که راندها برنده یا بازنده می‌شوند.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پانزدهم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مراحل Green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01606" y="2651760"/>
            <a:ext cx="1567129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01606" y="2651760"/>
            <a:ext cx="1567129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92562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11333" y="2971800"/>
            <a:ext cx="134767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فاصله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توپ تا Hole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5876" y="2651760"/>
            <a:ext cx="1567129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5876" y="2651760"/>
            <a:ext cx="1567129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96833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5604" y="2971800"/>
            <a:ext cx="134767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شیب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Green را بخوان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2651760"/>
            <a:ext cx="1567129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2651760"/>
            <a:ext cx="1567129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01104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9875" y="2971800"/>
            <a:ext cx="134767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سرعت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تند یا کند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4418" y="2651760"/>
            <a:ext cx="1567129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4418" y="2651760"/>
            <a:ext cx="1567129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05375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4146" y="2971800"/>
            <a:ext cx="134767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Break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انحنای خط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18689" y="2651760"/>
            <a:ext cx="1567129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18689" y="2651760"/>
            <a:ext cx="1567129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09645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8417" y="2971800"/>
            <a:ext cx="134767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نقطه شروع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Start 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2651760"/>
            <a:ext cx="1567129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2651760"/>
            <a:ext cx="1567129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13916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2971800"/>
            <a:ext cx="134767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سرعت توپ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اجرا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40680"/>
            <a:ext cx="10545775" cy="77724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5440680"/>
            <a:ext cx="82296" cy="77724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532120"/>
            <a:ext cx="1004285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24"/>
                </a:solidFill>
                <a:latin typeface="Vazirmatn"/>
                <a:cs typeface="Vazirmatn"/>
              </a:rPr>
              <a:t>هدف: انتخاب Line قبل از قرار گرفتن پشت توپ؛ وقتی روی توپ هستید فقط اجرا کنید.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een-hole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جلوگیری از 3-Putt در فاصله‌های بلند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شانزدهم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Lag Putting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C62828"/>
                </a:solidFill>
                <a:latin typeface="Vazirmatn"/>
                <a:cs typeface="Vazirmatn"/>
              </a:rPr>
              <a:t>هدف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  —  نزدیک کردن توپ به Hole و جلوگیری از 3-Putt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C62828"/>
                </a:solidFill>
                <a:latin typeface="Vazirmatn"/>
                <a:cs typeface="Vazirmatn"/>
              </a:rPr>
              <a:t>تمرین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  —  توپ‌ها در فاصله‌های ۱۰، ۱۵ و ۲۰ متر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هدف قرار گرفتن توپ در شعاع حدود ۱ متر از Hole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کنترل سرعت بر خط مقدم است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Lag Putt خوب یعنی Putt دوم کوتاه و مطمئن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از فاصله بلند، اولویت اول نزدیک کردن توپ است، نه Hole کردن.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هفدهم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Short Putting تحت فشار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تمرین پله‌ای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۱۰ توپ از فاصله ۱ متر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۱۰ توپ از فاصله ۱.۵ متر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۱۰ توپ از فاصله ۲ متر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هر توپ از دست رفته ثبت شود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هدف فقط تکنیک نیست؛ هدف کنترل ذهن در فشار است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شبیه‌سازی فشار در تمرین، اضطراب واقعی مسابقه را کاهش می‌دهد.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هجدهم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بازی از شیب‌ها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3007" y="196596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3007" y="1965960"/>
            <a:ext cx="5181447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4175" y="2130552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Uphill Lie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توپ بالاتر از سطح معمول؛ تمایل به پرتاب بالاتر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65960"/>
            <a:ext cx="5181447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130552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Downhill Lie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توپ پایین‌تر؛ تمایل به توپ Low و چرخش بیشتر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365760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3657600"/>
            <a:ext cx="5181447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4175" y="3822191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Ball Above Feet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توپ بالاتر از پاها؛ گرایش به Draw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5760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657600"/>
            <a:ext cx="5181447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822191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Ball Below Feet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توپ پایین‌تر از پاها؛ گرایش به Fade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در هر شرایط Stance، Balance، Alignment، Club Selection و Ball Position باید تطبیق داده شود.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نوزدهم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بازی در باد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596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596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2764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باد روبه‌رو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فاصله کم می‌شود؛ کلاب بیشتر + توپ 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4418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باد پشت سر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فاصله زیاد می‌شود؛ مراقب پرتاب بیش از حد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باد از چپ/راست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جهت و Start Line را جبران کنید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در باد شدید افزایش قدرت بهترین راه‌حل نیست؛ گاهی کلاب بیشتر + Swing کنترل‌شده نتیجه بهتری دارد.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بیستم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Course Management پیشرفته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قبل از هر Hole تصمیم بگیرید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۱) هدف Tee Shot چیست؟ (Fairway / Distance / Position)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۲) خطرها کجاست؟ (Bunker، Water، OB، Rough، Trees)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۳) بهترین محل برای ضربه دوم کجاست؟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۴) اگر ضربه بد شد کجا بهتر است اشتباه کنیم؟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برنامه از قبل مشخص‌شده، تصمیم‌گیری احساسی در وسط Hole را حذف می‌کند.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بیست‌ویکم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Risk &amp; Reward — سه سطح تصمیم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596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596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2764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ریسک کم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ضربه مطمئن و ایمن؛ پاداش کم ولی تکرارپذیر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4418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ریسک متوسط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تعادل بین امتیاز و خطر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ریسک زیاد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تلاش برای نتیجه بهتر با احتمال خطای بیشتر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قانون: اگر سود احتمالی یک ضربه کم ولی ریسک آن زیاد است، آن ضربه معمولاً ارزش اجرا ندارد.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6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96313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F9A9A"/>
                </a:solidFill>
                <a:latin typeface="Vazirmatn"/>
                <a:cs typeface="Vazirmatn"/>
              </a:rPr>
              <a:t>فصل بیست‌ودوم  |  بازی برای Par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9814255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Vazirmatn"/>
                <a:cs typeface="Vazirmatn"/>
              </a:rPr>
              <a:t>« هر Hole را لزوماً با هدف Birdie بازی نکنید؛ اگر Tee Shot بد شد، برای جبران یک ضربه پرریسک نزنید. »</a:t>
            </a:r>
          </a:p>
          <a:p>
            <a:pPr algn="ctr" rtl="1">
              <a:lnSpc>
                <a:spcPct val="120000"/>
              </a:lnSpc>
              <a:spcBef>
                <a:spcPts val="1800"/>
              </a:spcBef>
              <a:spcAft>
                <a:spcPts val="800"/>
              </a:spcAft>
            </a:pPr>
            <a:r>
              <a:rPr sz="1600" b="0" i="0">
                <a:solidFill>
                  <a:srgbClr val="C9D6C8"/>
                </a:solidFill>
                <a:latin typeface="Vazirmatn"/>
                <a:cs typeface="Vazirmatn"/>
              </a:rPr>
              <a:t>گاهی بهترین تصمیم: Bogey کنترل‌شده به جای Double Bogey است — این همان Par Management است.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بیست‌وسوم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بازی برای Birdie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Birdie زمانی هدف قرار می‌گیرد که شرایط مناسب باشد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Tee Shot مناسب و در موقعیت خوب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فاصله و Lie مناسب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Green قابل حمله و خطرهای اطراف قابل مدیریت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بازیکن باید یاد بگیرد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Birdie را دنبال نکند؛ شرایط Birdie را ایجاد کند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بازیکن باهوش با Tee Shot و Position خوب، فرصت Birdie را به وجود می‌آورد.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بیست‌وچهارم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مدیریت کامل یک Hole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3741" y="2651760"/>
            <a:ext cx="2464993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03741" y="2651760"/>
            <a:ext cx="2464993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43630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3469" y="2971800"/>
            <a:ext cx="224553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قبل از Tee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باد، Pin، Hazard، Landing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2651760"/>
            <a:ext cx="2464993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147" y="2651760"/>
            <a:ext cx="2464993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50036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9875" y="2971800"/>
            <a:ext cx="224553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بعد از Tee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Lie، فاصله، Miss Area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6553" y="2651760"/>
            <a:ext cx="2464993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16553" y="2651760"/>
            <a:ext cx="2464993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56442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6281" y="2971800"/>
            <a:ext cx="224553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قبل از Approach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Carry، Roll، محل امن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651760"/>
            <a:ext cx="2464993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2651760"/>
            <a:ext cx="2464993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62848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971800"/>
            <a:ext cx="224553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روی Green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Break، Speed، Start 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440680"/>
            <a:ext cx="10545775" cy="77724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440680"/>
            <a:ext cx="82296" cy="77724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532120"/>
            <a:ext cx="1004285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24"/>
                </a:solidFill>
                <a:latin typeface="Vazirmatn"/>
                <a:cs typeface="Vazirmatn"/>
              </a:rPr>
              <a:t>برای هر مرحله از Hole یک برنامه مشخص داشته باشید؛ مدیریت Hole یعنی تصمیم‌های زنجیره‌ای درست.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بیست‌وپنجم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Pre-Shot Routine حرفه‌ای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00182" y="2651760"/>
            <a:ext cx="968552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00182" y="2651760"/>
            <a:ext cx="968552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91850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9910" y="2971800"/>
            <a:ext cx="7490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هدف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مشخص کن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03029" y="2651760"/>
            <a:ext cx="968552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03029" y="2651760"/>
            <a:ext cx="968552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94698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2757" y="2971800"/>
            <a:ext cx="7490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نوع ضربه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انتخاب کن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5876" y="2651760"/>
            <a:ext cx="968552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5876" y="2651760"/>
            <a:ext cx="968552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97545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5604" y="2971800"/>
            <a:ext cx="7490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کلاب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انتخاب کن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08724" y="2651760"/>
            <a:ext cx="968552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08724" y="2651760"/>
            <a:ext cx="968552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00392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8452" y="2971800"/>
            <a:ext cx="7490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Practice Swing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کوتاه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11571" y="2651760"/>
            <a:ext cx="968552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11571" y="2651760"/>
            <a:ext cx="968552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03239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1299" y="2971800"/>
            <a:ext cx="7490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Alignment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تنظیم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4418" y="2651760"/>
            <a:ext cx="968552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4418" y="2651760"/>
            <a:ext cx="968552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6086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4146" y="2971800"/>
            <a:ext cx="7490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Setup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آماده شو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17265" y="2651760"/>
            <a:ext cx="968552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17265" y="2651760"/>
            <a:ext cx="968552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08933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26993" y="2971800"/>
            <a:ext cx="7490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نگاه آخر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به هدف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20112" y="2651760"/>
            <a:ext cx="968552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20112" y="2651760"/>
            <a:ext cx="968552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211781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29840" y="2971800"/>
            <a:ext cx="7490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Swing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اجرا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2651760"/>
            <a:ext cx="968552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2651760"/>
            <a:ext cx="968552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628" y="2267712"/>
            <a:ext cx="585216" cy="58521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2971800"/>
            <a:ext cx="7490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پذیرش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نتیجه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5440680"/>
            <a:ext cx="10545775" cy="77724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" y="5440680"/>
            <a:ext cx="82296" cy="77724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" y="5532120"/>
            <a:ext cx="1004285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24"/>
                </a:solidFill>
                <a:latin typeface="Vazirmatn"/>
                <a:cs typeface="Vazirmatn"/>
              </a:rPr>
              <a:t>قانون طلایی: تصمیم‌گیری باید قبل از ورود به توپ کامل شده باشد.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بیست‌وششم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Post-Shot Routine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اگر خوب بود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ثبت و ادامه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اگر بد بود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۱) علت احتمالی را شناسایی کن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۲) یک نکته اصلاحی مشخص کن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۳) ضربه را رها کن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۴) وارد ضربه بعدی شو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نباید چندین بار ضربه قبلی را در ذهن تکرار کنید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یک نکته اصلاحی مشخص، نه تحلیل بی‌پایان — سپس کامل رها کنید.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بیست‌وهفتم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Mental Game — سه مرحله جدا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596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596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2764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قبل از ضربه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تمرکز کامل بر هدف و تصمیم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4418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هنگام ضربه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اعتماد به تصمیم و اجرای آزاد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بعد از ضربه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پذیرش نتیجه بدون قضاوت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تمرین ذهنی: قبل از هر ضربه فقط یک جمله در ذهن داشته باشید — «هدف، تصمیم، اجرا».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بیست‌وهشتم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بازی در شرایط فشار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تمرین‌ها باید از حالت عادی خارج و شبیه مسابقه شوند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فشار ۱:: اگر توپ وارد محدوده نشد یک امتیاز منفی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فشار ۲:: ۱۰ توپ؛ حداقل ۸ توپ باید در محدوده باشد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فشار ۳:: قبل از هر ضربه زمان محدود تعیین شود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فشار ۴:: یک هدف مسابقه‌ای با فقط یک فرصت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فشار را در تمرین تجربه کنید تا در مسابقه آشنا و قابل‌کنترل باشد.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4-advanced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راند ۱۸ Hole با شرایط واقعی مسابقه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بیست‌ونهم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شبیه‌سازی مسابقه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یک راند ۱۸ Hole کاملاً شبیه مسابقه اجرا شود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C62828"/>
                </a:solidFill>
                <a:latin typeface="Vazirmatn"/>
                <a:cs typeface="Vazirmatn"/>
              </a:rPr>
              <a:t>قوانین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250" b="0" i="0">
                <a:solidFill>
                  <a:srgbClr val="1F2A24"/>
                </a:solidFill>
                <a:latin typeface="Vazirmatn"/>
                <a:cs typeface="Vazirmatn"/>
              </a:rPr>
              <a:t>بدون کمک مربی در تصمیم‌گیری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250" b="0" i="0">
                <a:solidFill>
                  <a:srgbClr val="1F2A24"/>
                </a:solidFill>
                <a:latin typeface="Vazirmatn"/>
                <a:cs typeface="Vazirmatn"/>
              </a:rPr>
              <a:t>ثبت Score و ثبت کامل آمار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250" b="0" i="0">
                <a:solidFill>
                  <a:srgbClr val="1F2A24"/>
                </a:solidFill>
                <a:latin typeface="Vazirmatn"/>
                <a:cs typeface="Vazirmatn"/>
              </a:rPr>
              <a:t>اجرای Pre-Shot Routine در هر ضربه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250" b="0" i="0">
                <a:solidFill>
                  <a:srgbClr val="1F2A24"/>
                </a:solidFill>
                <a:latin typeface="Vazirmatn"/>
                <a:cs typeface="Vazirmatn"/>
              </a:rPr>
              <a:t>مدیریت زمان و انرژی و رعایت Etiquette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مربی فقط مشاهده و ثبت می‌کند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تنها با تجربه فشار واقعی یک راند کامل، مهارت‌ها به عملکرد مسابقه‌ای تبدیل می‌شوند.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سی‌ام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تحلیل آماری بازیکن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65960"/>
          <a:ext cx="10545774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72887"/>
                <a:gridCol w="5272887"/>
              </a:tblGrid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بخش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شاخص‌های کلیدی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Driving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Fairway Hit، Distance، Dispersion، Penalty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Approach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GIR، Distance to Pin، Miss Direction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Short Game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Up &amp; Down، Sand Save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Putting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Total Putts، Putts per Hole، 3-Putt، Short Putts Missed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983480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350" b="0" i="0">
                <a:solidFill>
                  <a:srgbClr val="5C6B62"/>
                </a:solidFill>
                <a:latin typeface="Vazirmatn"/>
                <a:cs typeface="Vazirmatn"/>
              </a:rPr>
              <a:t>آمار تفکیکی نشان می‌دهد بیشترین امتیاز از دست رفته در کدام بخش است.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سی‌ویکم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تحلیل اشتباهات — چهار گروه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3007" y="196596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3007" y="1965960"/>
            <a:ext cx="5181447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4175" y="2130552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Technical Error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مشکل تکنیکی؛ نیاز به اصلاح Swing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65960"/>
            <a:ext cx="5181447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130552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Decision Error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تصمیم اشتباه؛ نیاز به Course Management بهتر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365760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3657600"/>
            <a:ext cx="5181447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4175" y="3822191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Mental Error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مشکل ذهنی؛ تمرکز، فشار یا رها کردن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5760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657600"/>
            <a:ext cx="5181447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822191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Execution Error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تصمیم درست ولی اجرای ضعیف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هر اشتباه الزاماً با تغییر Swing اصلاح نمی‌شود؛ اول نوع خطا را تفکیک کنید.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سی‌ودوم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تمرین تصادفی (Random Practice)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در سطح پیشرفته تمرین نباید همیشه «۱۰ توپ یکسان» باشد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تمرین باید شبیه مسابقه شود، مثلاً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Driver → 7 Iron → Wedge → Putter → دوباره Driver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با فاصله و هدف‌های متفاوت در هر ضربه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هدف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انتقال مهارت از Range به Course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مغز در شرایط متنوع، تصمیم‌گیری واقعی را یاد می‌گیرد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Random Practice کیفیت انتقال مهارت به زمین واقعی را به‌شدت بالا می‌برد.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سی‌وسوم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تمرین 9 Hole هدفمند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596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596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2764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راند ۱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فقط Fairway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4418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راند ۲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تمرکز روی Approach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راند ۳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تمرکز روی Putting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1596" y="365760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596" y="365760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2764" y="3822191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راند ۴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Course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4418" y="365760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4418" y="365760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5586" y="3822191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راند ۵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Mental Game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در یک راند همزمان نخواهید همه چیز را اصلاح کنید؛ هر راند یک تمرکز مشخص دارد.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سی‌وچهارم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برنامه تمرینی ۱۲ جلسه‌ای پیشرفته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65960"/>
          <a:ext cx="10545772" cy="388619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جلسه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موضوع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جلسه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موضوع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۱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ارزیابی کامل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۷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Advanced Wedge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۲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Swing و Clubface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۸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Advanced Short Game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۳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Club Path و Shot Shape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۹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Putting &amp; Green Reading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۴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Distance &amp; Trajectory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۱۰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Course Management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۵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Driver و Tee Strategy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۱۱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Mental Game + Pressure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۶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Approach &amp; Green Targeting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۱۲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مسابقه و ارزیابی نهایی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035040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350" b="0" i="0">
                <a:solidFill>
                  <a:srgbClr val="5C6B62"/>
                </a:solidFill>
                <a:latin typeface="Vazirmatn"/>
                <a:cs typeface="Vazirmatn"/>
              </a:rPr>
              <a:t>هر جلسه با ثبت آمار و مقایسه با ارزیابی اولیه همراه است.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سی‌وپنجم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ساختار هر جلسه تمرینی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65960"/>
          <a:ext cx="10545772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زمان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بخش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زمان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بخش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۱۵ دقیقه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Warm Up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۳۰ دقیقه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تمرین موقعیتی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۲۰ دقیقه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تکنیک و آموزش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۳۰ دقیقه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تمرین شبیه مسابقه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۳۰ دقیقه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تمرین هدفمند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۱۵ دقیقه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Putting / Short Game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۱۰ دقیقه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آمار و تحلیل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—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—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983480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350" b="0" i="0">
                <a:solidFill>
                  <a:srgbClr val="5C6B62"/>
                </a:solidFill>
                <a:latin typeface="Vazirmatn"/>
                <a:cs typeface="Vazirmatn"/>
              </a:rPr>
              <a:t>جلسه ساختارمند، تمرین را از تکرار بی‌هدف به توسعه هدفمند تبدیل می‌کند.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سی‌وششم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برنامه هفتگی پیشنهادی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0891" y="1965960"/>
            <a:ext cx="2453563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0891" y="1965960"/>
            <a:ext cx="2453563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62059" y="2130552"/>
            <a:ext cx="2051227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روز ۱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Full Swing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965960"/>
            <a:ext cx="2453563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965960"/>
            <a:ext cx="2453563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4175" y="2130552"/>
            <a:ext cx="2051227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روز ۲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Short Game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5123" y="1965960"/>
            <a:ext cx="2453563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5123" y="1965960"/>
            <a:ext cx="2453563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6291" y="2130552"/>
            <a:ext cx="2051227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روز ۳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Putting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965960"/>
            <a:ext cx="2453563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965960"/>
            <a:ext cx="2453563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130552"/>
            <a:ext cx="2051227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روز ۴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Driver + Woods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0891" y="3657600"/>
            <a:ext cx="2453563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0891" y="3657600"/>
            <a:ext cx="2453563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059" y="3822191"/>
            <a:ext cx="2051227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روز ۵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Approach + Wedge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657600"/>
            <a:ext cx="2453563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3657600"/>
            <a:ext cx="2453563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4175" y="3822191"/>
            <a:ext cx="2051227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روز ۶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Course Management + Playing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5123" y="3657600"/>
            <a:ext cx="2453563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5123" y="3657600"/>
            <a:ext cx="2453563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6291" y="3822191"/>
            <a:ext cx="2051227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روز ۷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استراحت / Recovery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ریکاوری و استراحت بخشی فعال از برنامه تمرینی یک بازیکن مسابقه‌ای است.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سی‌وهفتم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آزمون تئوری نهایی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بازیکن باید بتواند به این پرسش‌ها پاسخ دهد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Course Management چیست و تفاوت Technical و Decision Error؟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چه زمانی Risk را انتخاب کنیم و چرا همیشه به Flag حمله نکنیم؟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تفاوت Carry و Roll چیست و در باد شدید چه کنیم؟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هدف Lag Putting چیست و چرا Pre-Shot Routine مهم است؟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چرا ثبت آمار مهم است و بعد از ضربه بد چگونه واکنش دهیم؟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درک مفهومی، پشتوانه تصمیم‌گیری مستقل زیر فشار است.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سی‌وهشتم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آزمون عملی نهایی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12556" y="1920240"/>
            <a:ext cx="3301898" cy="38862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12556" y="1920240"/>
            <a:ext cx="3301898" cy="65836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12556" y="2487168"/>
            <a:ext cx="3301898" cy="9144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5436" y="1975104"/>
            <a:ext cx="2936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Full Game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8588" y="2788920"/>
            <a:ext cx="284469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Full Swing پایدار و قابل تکرار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Iron با کنترل فاصله و جهت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Driver با کنترل مسیر و Dispersion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Wedge با کنترل فاصله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1920240"/>
            <a:ext cx="3301898" cy="38862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4898" y="1920240"/>
            <a:ext cx="3301898" cy="65836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4898" y="2487168"/>
            <a:ext cx="3301898" cy="9144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7778" y="1975104"/>
            <a:ext cx="2936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Short Game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930" y="2788920"/>
            <a:ext cx="284469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Chip با انتخاب کلاب و Landing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Pitch با کنترل Carry و Roll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Bunker با خروج مطمئن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Putting با کنترل Line و 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1920240"/>
            <a:ext cx="3301898" cy="38862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1920240"/>
            <a:ext cx="3301898" cy="65836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487168"/>
            <a:ext cx="3301898" cy="9144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975104"/>
            <a:ext cx="2936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بازی و ذهن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2788920"/>
            <a:ext cx="284469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Course Management و تصمیم مناسب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Pre-Shot Routine ثابت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کنترل احساسات پس از خطا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عملکرد قابل قبول در فشار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080760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بازیکن باید همه این‌ها را مستقل از مربی و در شرایط شبیه مسابقه اجرا کند.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سی‌ونهم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آزمون مسابقه‌ای — امتیازدهی ۱۰۰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65960"/>
          <a:ext cx="10545772" cy="34015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بخش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امتیاز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بخش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امتیاز</a:t>
                      </a:r>
                    </a:p>
                  </a:txBody>
                  <a:tcPr anchor="ctr" marT="25400" marB="25400">
                    <a:solidFill>
                      <a:srgbClr val="C6282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تکنیک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۲۰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Short Game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۱۵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Driving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۱۰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Putting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۱۵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Approach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۱۵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Course Management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۱۰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Mental Game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۱۰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Etiquette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۵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C62828"/>
                          </a:solidFill>
                          <a:latin typeface="Vazirmatn"/>
                          <a:cs typeface="Vazirmatn"/>
                        </a:rPr>
                        <a:t>جمع کل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۱۰۰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550407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350" b="0" i="0">
                <a:solidFill>
                  <a:srgbClr val="5C6B62"/>
                </a:solidFill>
                <a:latin typeface="Vazirmatn"/>
                <a:cs typeface="Vazirmatn"/>
              </a:rPr>
              <a:t>یک مسابقه ۱۸ Hole برگزار و بر اساس این معیارها امتیازدهی می‌شود.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چهلم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معیار قبولی دوره پیشرفته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12556" y="1920240"/>
            <a:ext cx="3301898" cy="38862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12556" y="1920240"/>
            <a:ext cx="3301898" cy="65836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12556" y="2487168"/>
            <a:ext cx="3301898" cy="9144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5436" y="1975104"/>
            <a:ext cx="2936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تصمیم‌گیری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8588" y="2788920"/>
            <a:ext cx="284469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بدون وابستگی به مربی تصمیم بگیرد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کلاب مناسب را انتخاب کند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شرایط زمین، باد و شیب را تحلیل کند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ریسک را مدیریت کند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1920240"/>
            <a:ext cx="3301898" cy="38862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4898" y="1920240"/>
            <a:ext cx="3301898" cy="65836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4898" y="2487168"/>
            <a:ext cx="3301898" cy="9144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7778" y="1975104"/>
            <a:ext cx="2936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ثبات ذهنی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930" y="2788920"/>
            <a:ext cx="284469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بعد از اشتباه بازی خود را حفظ کند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در فشار عملکرد قابل قبول داشته باشد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Pre-Shot Routine ثابت داشته باشد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1920240"/>
            <a:ext cx="3301898" cy="38862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1920240"/>
            <a:ext cx="3301898" cy="65836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487168"/>
            <a:ext cx="3301898" cy="9144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975104"/>
            <a:ext cx="2936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آمار و رشد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2788920"/>
            <a:ext cx="284469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آمار خود را ثبت و تحلیل کند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نقاط ضعف را شناسایی کند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62828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برنامه تمرینی شخصی داشته باشد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080760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قبولی یعنی تبدیل شدن به بازیکنی مستقل، باهوش و آماده مسابقه.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چهل‌ویکم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پروژه نهایی بازیکن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C62828"/>
                </a:solidFill>
                <a:latin typeface="Vazirmatn"/>
                <a:cs typeface="Vazirmatn"/>
              </a:rPr>
              <a:t>هر بازیکن در پایان دوره یک پرونده عملکرد گلف دارد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مشخصات بازیکن:: سطح، Handicap، سابقه بازی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مشخصات فنی:: نقاط قوت و نقاط ضعف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جدول مسافت کلاب‌ها و آمار حداقل ۵ راند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آمار Putting و Short Game و نقاط ضعف اصلی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62828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اهداف سه‌ماهه بعد و برنامه تمرینی شخصی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پرونده عملکرد، نقشه راه رشد بلندمدت بازیکن پس از دوره است.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62828"/>
                </a:solidFill>
                <a:latin typeface="Vazirmatn"/>
                <a:cs typeface="Vazirmatn"/>
              </a:rPr>
              <a:t>فصل چهل‌ودوم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برنامه پیشرفت سه‌ماهه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596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596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2764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ماه اول — Stability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تمرکز بر Swing، Contact، Distance و Putting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4418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ماه دوم — Performance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تمرکز بر Course Management، Shot Selection، Short Game و Mental Game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3362858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62828"/>
                </a:solidFill>
                <a:latin typeface="Vazirmatn"/>
                <a:cs typeface="Vazirmatn"/>
              </a:rPr>
              <a:t>ماه سوم — Competition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تمرکز بر مسابقه، فشار، مدیریت Score، تحلیل آماری و کاهش اشتباهات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رشد از ثبات تکنیکی شروع، به عملکرد و سپس به اجرای رقابتی می‌رسد.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Vazirmatn"/>
                <a:cs typeface="Vazirmatn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6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96313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F9A9A"/>
                </a:solidFill>
                <a:latin typeface="Vazirmatn"/>
                <a:cs typeface="Vazirmatn"/>
              </a:rPr>
              <a:t>اصل نهایی چهار دوره  |  تکامل ذهن بازیکن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9814255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Vazirmatn"/>
                <a:cs typeface="Vazirmatn"/>
              </a:rPr>
              <a:t>« مسیر بازیکن: «چگونه ضربه بزنم؟» ← «چه ضربه‌ای بزنم؟» ← «چرا این ضربه را بزنم؟» ← «چگونه با کمترین اشتباه بهترین Score را ثبت کنم؟» »</a:t>
            </a:r>
          </a:p>
          <a:p>
            <a:pPr algn="ctr" rtl="1">
              <a:lnSpc>
                <a:spcPct val="120000"/>
              </a:lnSpc>
              <a:spcBef>
                <a:spcPts val="1800"/>
              </a:spcBef>
              <a:spcAft>
                <a:spcPts val="800"/>
              </a:spcAft>
            </a:pPr>
            <a:r>
              <a:rPr sz="1600" b="0" i="0">
                <a:solidFill>
                  <a:srgbClr val="C9D6C8"/>
                </a:solidFill>
                <a:latin typeface="Vazirmatn"/>
                <a:cs typeface="Vazirmatn"/>
              </a:rPr>
              <a:t>این نقطه، آغاز ورود بازیکن به سطح واقعی Performance Golf و Golf Competition است.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urse-aerial_1.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1C">
              <a:alpha val="7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628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Vazirmatn"/>
                <a:cs typeface="Vazirmatn"/>
              </a:rPr>
              <a:t>جمع‌بندی چهار سطح آموزشی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0891" y="2286000"/>
            <a:ext cx="2316403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0891" y="2286000"/>
            <a:ext cx="2316403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70619" y="2331720"/>
            <a:ext cx="20969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مقدماتی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25483" y="2971800"/>
            <a:ext cx="19872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یادگیری اصول</a:t>
            </a:r>
          </a:p>
        </p:txBody>
      </p:sp>
      <p:sp>
        <p:nvSpPr>
          <p:cNvPr id="10" name="Left Arrow 9"/>
          <p:cNvSpPr/>
          <p:nvPr/>
        </p:nvSpPr>
        <p:spPr>
          <a:xfrm>
            <a:off x="8576843" y="2971800"/>
            <a:ext cx="310896" cy="457200"/>
          </a:xfrm>
          <a:prstGeom prst="leftArrow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8727" y="2286000"/>
            <a:ext cx="2316403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2286000"/>
            <a:ext cx="2316403" cy="56692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8455" y="2331720"/>
            <a:ext cx="20969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تکمیلی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319" y="2971800"/>
            <a:ext cx="19872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تثبیت مهارت‌ها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5894679" y="2971800"/>
            <a:ext cx="310896" cy="457200"/>
          </a:xfrm>
          <a:prstGeom prst="leftArrow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96563" y="2286000"/>
            <a:ext cx="2316403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96563" y="2286000"/>
            <a:ext cx="2316403" cy="566928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6291" y="2331720"/>
            <a:ext cx="20969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نیمه‌پیشرفته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1155" y="2971800"/>
            <a:ext cx="19872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کنترل و تصمیم‌گیری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3212515" y="2971800"/>
            <a:ext cx="310896" cy="457200"/>
          </a:xfrm>
          <a:prstGeom prst="leftArrow">
            <a:avLst/>
          </a:prstGeom>
          <a:solidFill>
            <a:srgbClr val="EF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2286000"/>
            <a:ext cx="2316403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2286000"/>
            <a:ext cx="2316403" cy="5669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2331720"/>
            <a:ext cx="20969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پیشرفته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2971800"/>
            <a:ext cx="19872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عملکرد، مسابقه و مدیریت حرفه‌ای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34840"/>
            <a:ext cx="999713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EAF3E8"/>
                </a:solidFill>
                <a:latin typeface="Vazirmatn"/>
                <a:cs typeface="Vazirmatn"/>
              </a:rPr>
              <a:t>هدف نهایی سیستم آموزشی: ساخت بازیکنی تکنیکی، باهوش، منضبط، مستقل و آماده مسابقه.</a:t>
            </a:r>
          </a:p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9A9A"/>
                </a:solidFill>
                <a:latin typeface="Vazirmatn"/>
                <a:cs typeface="Vazirmatn"/>
              </a:rPr>
              <a:t>⛳ Puttclub  —  آکادمی گلف پات‌کلاب   |   مدرس: الهام طالبی (مدرس درجه یک گلف ایران)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Advanced · Level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9A9A"/>
                </a:solidFill>
                <a:latin typeface="Vazirmatn"/>
                <a:cs typeface="Vazirmatn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