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3-semi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6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794760"/>
            <a:ext cx="12191695" cy="3063240"/>
          </a:xfrm>
          <a:prstGeom prst="rect">
            <a:avLst/>
          </a:prstGeom>
          <a:solidFill>
            <a:srgbClr val="16211C">
              <a:alpha val="5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65615" y="0"/>
            <a:ext cx="2926080" cy="146304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69080"/>
            <a:ext cx="1036289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B74D"/>
                </a:solidFill>
                <a:latin typeface="Tahoma"/>
                <a:cs typeface="Tahoma"/>
              </a:rPr>
              <a:t>آکادمی حرفه‌ای گلف  |  سطح ۳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Tahoma"/>
                <a:cs typeface="Tahoma"/>
              </a:rPr>
              <a:t>دوره سوم آموزش گلف — نیمه‌پیشرفته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D7E2D6"/>
                </a:solidFill>
                <a:latin typeface="Tahoma"/>
                <a:cs typeface="Tahoma"/>
              </a:rPr>
              <a:t>کنترل بازی، استراتژی و مدیریت زمین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پیش‌نیاز: تسلط نسبی بر دوره مقدماتی و تکمیلی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هدف: تحلیل شرایط زمین و انتخاب ضربه مناسب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C9D6C8"/>
                </a:solidFill>
                <a:latin typeface="Tahoma"/>
                <a:cs typeface="Tahoma"/>
              </a:rPr>
              <a:t>۳۳ فصل آموزشی  ·  ۱۲ جلسه عملی  ·  مدیریت ریسک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4114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1" i="0">
                <a:latin typeface="Tahoma"/>
                <a:cs typeface="Tahoma"/>
                <a:solidFill>
                  <a:srgbClr val="FFFFFF">
                    <a:alpha val="22000"/>
                  </a:srgbClr>
                </a:solidFill>
              </a:rPr>
              <a:t>۰۳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999713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Tahoma"/>
                <a:cs typeface="Tahoma"/>
              </a:rPr>
              <a:t>هدف دوره نیمه‌پیشرفته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EAF3E8"/>
                </a:solidFill>
                <a:latin typeface="Tahoma"/>
                <a:cs typeface="Tahoma"/>
              </a:rPr>
              <a:t>از بازیکن تکنیکی به بازیکن تصمیم‌گیرنده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535" y="3429000"/>
            <a:ext cx="493776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دیگر فقط «چگونه ضربه بزنم» کافی نیست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چه ضربه‌ای، با کدام کلاب، به کدام نقطه و با چه هدفی؟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تکنیک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  —  کنترل بهتر ضربه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استراتژی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  —  انتخاب بهترین مسیر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تصمیم‌گیری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  —  انتخاب ضربه مناسب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آنالیز</a:t>
            </a:r>
            <a:r>
              <a:rPr sz="1600" b="0" i="0">
                <a:solidFill>
                  <a:srgbClr val="FFFFFF"/>
                </a:solidFill>
                <a:latin typeface="Tahoma"/>
                <a:cs typeface="Tahoma"/>
              </a:rPr>
              <a:t>  —  بررسی عملکرد و اصلاح اشتباهات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ارزیابی اولیه بازیکن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قبل از شروع دوره، مربی یک ارزیابی انجام می‌دهد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با کلاب‌های مختلف چند ضربه بزنید و ثبت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Carry، Total Distance و جهت شروع توپ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مسیر پرواز، نقطه برخورد روی Face و میزان پراکندگی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کیفیت Contact و خطای غالب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هدف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پیدا کردن الگوی واقعی بازی بازیکن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مثال: «فاصله خوب است اما پراکندگی زیاد است»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ارزیابی واقع‌بینانه، پایه برنامه تمرینی شخصی و مؤثر است.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۳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شناخت الگوی توپ (Ball Flight)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Pull / Hook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شروع چپ + حرکت چپ (بسته به شدت و Spin)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Push / Slice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شروع راست + حرکت راست (بسته به شدت و Spin)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Straight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شروع مستقیم + حرکت کم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هدف این نیست که همیشه توپ صاف باشد؛ هدف این است که بدانید توپ چرا آن‌طور حرکت کرده است.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۴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Club 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یکی از عوامل اصلی جهت اولیه توپ، Club Face 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تمرین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ابتدا بدون Swing کامل، ضربات کوتاه و کوچک بزنید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فقط روی تماس و جهت Face تمرکز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سپس پیش بروید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Half Swing ← Three-Quarter ← Full Swing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قانون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اول Contact و Face Control، سپس Speed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جهت شروع توپ بیش از هر چیز به جهت Face در لحظه Impact بستگی دارد.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۵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پس از کنترل Face، مفهوم مسیر حرکت کلاب را درک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دو عامل کلیدی شکل حرکت توپ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Club Path + Club Face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در تمرین تفاوت این سه را مشاهده و ثبت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شروع توپ (Start Direction)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انحراف توپ (Curve)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شدت انحراف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با ثبت الگو، علت خطا قابل تشخیص می‌شود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رابطه Face و Path تعیین می‌کند توپ مستقیم، Fade، Draw، Slice یا Hook برود.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wing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ثبات و تکرارپذیری در Iron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۶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Iron پیشرفته‌تر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در این سطح Iron فقط برای «زدن توپ» نیست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چهار هدف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  —  Distance + Direction + Trajectory + Consistency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تمرین Distance Control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  —  با یک کلاب (مثلاً 7 Iron) ۱۰ ضربه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به‌جای دورترین توپ، میانگین و پراکندگی را بررسی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مثال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  —  میانگین Carry ۱۳۵ متر اما پراکندگی ۱۱۵ تا ۱۵۰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پراکندگی زیاد یعنی کنترل فاصله هنوز مناسب نیست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بازیکن قابل‌اعتماد کسی است که پراکندگی کم دارد، نه کسی که یک ضربه خیلی دور می‌زند.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۷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سه اندازه Swing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Half Swing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حرکت کوتاه و کنترل‌شده برای فاصله کمتر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Three-Quarter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حرکت متوسط برای فاصله میانی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Full Swing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Swing کامل برای فاصله بیشتر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تغییر طول Swing یکی از اصلی‌ترین ابزارهای کنترل فاصله در Short و Mid Game است.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۸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کنترل ارتفاع توپ (Trajectory)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High Shot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برای پرواز بلندتر، توقف سریع یا عبور از مانع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Low Shot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برای باد شدید، موانع خاص و کنترل مسیر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Medium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مسیر استاندارد بازی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در این مرحله هدف درک رابطه Loft، Setup، Swing و Trajectory است، نه تسلط کامل بر Shotهای تخصصی.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۹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شکل دادن به ضربه (Shot Shaping)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در این دوره با Draw و Fade به‌صورت عملی آشنا می‌شوید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Draw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برای راست‌دست، انحنای کنترل‌شده به چپ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Fade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برای راست‌دست، انحنای کنترل‌شده به راست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هدف اول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شناخت شکل طبیعی توپ خودتان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سپس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استفاده از آن به‌عنوان ابزار در شرایط مناسب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تمرین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دو Target (چپ و راست) تعیین کنید و توپ را به هرکدام نزدیک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ابتدا الگوی طبیعی خود را بشناسید؛ بعد آن را در خدمت استراتژی قرار دهید.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iver-te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Fairway Hit گاهی ارزشمندتر از چند متر فاصله است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۱۰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Wood و Driver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در این سطح هدف Driver فقط فاصله نیست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EF6C00"/>
                </a:solidFill>
                <a:latin typeface="Tahoma"/>
                <a:cs typeface="Tahoma"/>
              </a:rPr>
              <a:t>سه معیار مهم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Distance:: چقدر دور؟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Dispersion:: چقدر پراکنده؟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250" b="0" i="0">
                <a:solidFill>
                  <a:srgbClr val="1F2A24"/>
                </a:solidFill>
                <a:latin typeface="Tahoma"/>
                <a:cs typeface="Tahoma"/>
              </a:rPr>
              <a:t>Direction:: به کجا؟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50" b="1" i="0">
                <a:solidFill>
                  <a:srgbClr val="EF6C00"/>
                </a:solidFill>
                <a:latin typeface="Tahoma"/>
                <a:cs typeface="Tahoma"/>
              </a:rPr>
              <a:t>تمرین Fairway Finder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  —  یک محدوده امن در Fairway مشخص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50" b="0" i="0">
                <a:solidFill>
                  <a:srgbClr val="1F2A24"/>
                </a:solidFill>
                <a:latin typeface="Tahoma"/>
                <a:cs typeface="Tahoma"/>
              </a:rPr>
              <a:t>هدف قرار گرفتن توپ داخل محدوده امن است، نه حداکثر فاصله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یک Driver دقیق و در Fairway، فشار کل ضربه بعدی را به‌شدت کاهش می‌دهد.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۱۱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مدیریت Tee 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قبل از Tee Shot این موارد را بررسی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Fairway، Bunker و OB کجاست؟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خطر آب کجاست و بهترین سمت Fairway کدام است؟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Hole بعدی از کدام سمت بهتر قابل بازی است؟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سپس کلاب را انتخاب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گاهی Driver بهترین انتخاب نیست؛ Wood یا Hybrid نتیجه بهتری می‌دهد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Tee Shot خوب یعنی قرار دادن توپ در بهترین موقعیت برای ضربه بعدی، نه لزوماً دورترین ضربه.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۱۲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Approach 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Approach یعنی ضربه‌ای برای نزدیک کردن توپ به Green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قبل از ضربه به ترتیب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فاصله را اندازه بگیرید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Pin Location و خطرات اطراف Green را ببینید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شرایط Lie و باد را بررسی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Target و سپس کلاب مناسب را انتخاب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Approch خوب با تصمیم درست شروع می‌شود، نه با تکنیک بهتر.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6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313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B74D"/>
                </a:solidFill>
                <a:latin typeface="Tahoma"/>
                <a:cs typeface="Tahoma"/>
              </a:rPr>
              <a:t>فصل ۱۳  |  هدف‌گیری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81425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Tahoma"/>
                <a:cs typeface="Tahoma"/>
              </a:rPr>
              <a:t>« هدف همیشه پرچم نیست؛ هدف، امن‌ترین نقطه مناسب است. »</a:t>
            </a:r>
          </a:p>
          <a:p>
            <a:pPr algn="ctr" rtl="1">
              <a:lnSpc>
                <a:spcPct val="120000"/>
              </a:lnSpc>
              <a:spcBef>
                <a:spcPts val="1800"/>
              </a:spcBef>
              <a:spcAft>
                <a:spcPts val="800"/>
              </a:spcAft>
            </a:pPr>
            <a:r>
              <a:rPr sz="1600" b="0" i="0">
                <a:solidFill>
                  <a:srgbClr val="C9D6C8"/>
                </a:solidFill>
                <a:latin typeface="Tahoma"/>
                <a:cs typeface="Tahoma"/>
              </a:rPr>
              <a:t>اگر پرچم نزدیک Bunker باشد، ممکن است هدف ما قسمت دیگری از Green باشد — کاهش احتمال خطای بزرگ.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۱۴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Pitch Distance Chart شخصی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4015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فاصله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کلاب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طول Swing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4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Carry / Roll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۲۰ متر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۳۰ متر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۴۰ متر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۵۰ متر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۶۰ متر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ثبت بازیکن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550407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Pitch را از ۲۰ تا ۶۰ متر تمرین کنید و کم‌کم یک Pitch Distance Chart شخصی بسازید.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۱۵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تفاوت Carry، Roll و Total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Carry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فاصله پرواز توپ تا اولین برخورد با زمین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Roll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مسافتی که توپ بعد از برخورد روی زمین طی می‌کند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Total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Carry + Roll = فاصله نهایی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در Short Game دانستن این تفاوت برای انتخاب Landing Point بسیار حیاتی است.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۱۶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Chip از Lieهای مختلف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Chip را از شرایط مختلف تمرین کنید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Fairway و Rough کوتاه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Rough بلند و نزدیک لبه Green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شیب بالا (Uphill) و شیب پایین (Downhill)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قبل از هر ضربه از خود بپرسید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«Lie من چه نوع ضربه‌ای را اجازه می‌دهد؟»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وضعیت Lie تعیین می‌کند چه ضربه‌ای ممکن و منطقی است؛ اول Lie را بخوانید.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۱۷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انتخاب کلاب در Chip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یک موقعیت را با چند کلاب بازی کنید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7 Iron ← 9 ← PW ← Wedge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هدف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رسیدن توپ به یک Target مشخص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مشاهده خواهید کرد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Loft بیشتر ← پرواز بیشتر و Roll کمتر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Loft کمتر ← پرواز کمتر و Roll بیشتر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نتیجه واقعی به تکنیک، Lie، Green و شرایط ضربه وابسته است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با تغییر کلاب، مسیر پرواز و Roll تغییر می‌کند؛ این یعنی کلاب ابزار کنترل Trajectory است.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unker-li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توپ در شن — تکنیک Sand Shot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۱۸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Bunker — تکنیک پایه Sand Shot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Setup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  —  Stance پایدار و وزن کمی بیشتر روی پای جلو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Club Face متناسب با ضربه و توپ در موقعیت مناسب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در بسیاری از Bunker Shotهای معمول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200" b="0" i="0">
                <a:solidFill>
                  <a:srgbClr val="1F2A24"/>
                </a:solidFill>
                <a:latin typeface="Tahoma"/>
                <a:cs typeface="Tahoma"/>
              </a:rPr>
              <a:t>کلاب مستقیماً مثل آهن توپ را نمی‌زند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200" b="0" i="0">
                <a:solidFill>
                  <a:srgbClr val="1F2A24"/>
                </a:solidFill>
                <a:latin typeface="Tahoma"/>
                <a:cs typeface="Tahoma"/>
              </a:rPr>
              <a:t>بلکه با ورود به شن، توپ را روی موج شن خارج می‌کند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500" b="0" i="0">
                <a:solidFill>
                  <a:srgbClr val="1F2A24"/>
                </a:solidFill>
                <a:latin typeface="Tahoma"/>
                <a:cs typeface="Tahoma"/>
              </a:rPr>
              <a:t>تمرین ابتدا با Swingهای کوچک و کنترل‌شده انجام شود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در Bunker هدف ورود کنترل‌شده به شن پشت توپ است، نه ضربه مستقیم به توپ.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۱۹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سه مهارت Putting نیمه‌پیشرفته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51596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51596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52764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Green Reading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خواندن شیب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4418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4418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5586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Start Line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جهت شروع توپ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3362858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3362858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30552"/>
            <a:ext cx="2960522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Speed Control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کنترل سرعت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حتی اگر خط درست باشد، سرعت اشتباه می‌تواند Putt را کاملاً خراب کند.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reen-hole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Lag Putting برای فاصله‌های بلند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۲۰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تمرین Lag Putting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از فاصله‌های ۱۰، ۱۵ و ۲۰ متر تمرین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هدف الزاماً Hole کردن توپ نیست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600" b="1" i="0">
                <a:solidFill>
                  <a:srgbClr val="EF6C00"/>
                </a:solidFill>
                <a:latin typeface="Tahoma"/>
                <a:cs typeface="Tahoma"/>
              </a:rPr>
              <a:t>هدف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  —  نزدیک کردن توپ به Hole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یک محدوده (مثلاً دایره‌ای) اطراف Hole تعیین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بازیکن باید توپ را در آن محدوده نگه دارد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این تمرین از 3-Putt جلوگیری می‌کند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Lag Putt خوب یعنی توپ نزدیک Hole بمیرد تا Putt بعدی ساده و مطمئن باشد.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۲۱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Uphill و Downhill Putting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3007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96596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4175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Uphill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معمولاً نیازمند انرژی و ضربه محکم‌تر است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6596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Downhill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معمولاً بسیار حساس به سرعت؛ ضربه نرم‌تر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تمرین: از یک شیب ساده یک Putt رو به بالا و یک Putt رو به پایین بزنید؛ قبل از ضربه شیب + سرعت را ارزیابی کنید.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۲۲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Course Management — قلب دوره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138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138" y="2651760"/>
            <a:ext cx="1310596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20828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7866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Lie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توپ کجاست؟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18942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18942" y="2651760"/>
            <a:ext cx="1310596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81632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8670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Distance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فاصله چقدر؟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79745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79745" y="2651760"/>
            <a:ext cx="1310596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42436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9473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Target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هدف کجاست؟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0549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40549" y="2651760"/>
            <a:ext cx="1310596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277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Hazard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خطر کجاست؟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1352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01352" y="2651760"/>
            <a:ext cx="1310596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64043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1080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Wind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باد چگونه؟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62156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62156" y="2651760"/>
            <a:ext cx="1310596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24846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71884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Club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کدام کلاب؟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2651760"/>
            <a:ext cx="1310596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2651760"/>
            <a:ext cx="1310596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85650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2971800"/>
            <a:ext cx="10911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Miss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کجا بهتر است خطا کنم؟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سؤال آخر بسیار مهم است: اگر ضربه اشتباه شد، بهتر است توپ کجا باشد؟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6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313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B74D"/>
                </a:solidFill>
                <a:latin typeface="Tahoma"/>
                <a:cs typeface="Tahoma"/>
              </a:rPr>
              <a:t>فصل ۲۳  |  مدیریت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81425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Tahoma"/>
                <a:cs typeface="Tahoma"/>
              </a:rPr>
              <a:t>« بازیکن حرفه‌ای نمی‌پرسد «چطور هیچ اشتباهی نکنم؟» بلکه می‌پرسد «اگر اشتباه کردم، کجا بهتر است اشتباه کنم؟» »</a:t>
            </a:r>
          </a:p>
          <a:p>
            <a:pPr algn="ctr" rtl="1">
              <a:lnSpc>
                <a:spcPct val="120000"/>
              </a:lnSpc>
              <a:spcBef>
                <a:spcPts val="1800"/>
              </a:spcBef>
              <a:spcAft>
                <a:spcPts val="800"/>
              </a:spcAft>
            </a:pPr>
            <a:r>
              <a:rPr sz="1600" b="0" i="0">
                <a:solidFill>
                  <a:srgbClr val="C9D6C8"/>
                </a:solidFill>
                <a:latin typeface="Tahoma"/>
                <a:cs typeface="Tahoma"/>
              </a:rPr>
              <a:t>مثال: اگر چپ Green بانکر و راست آن فضای امن است، هدف منطقی می‌تواند سمت راست باشد.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۲۴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Risk &amp; Reward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3007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96596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4175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Reward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اگر موفق شوم چه چیزی به دست می‌آورم؟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6596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Risk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اگر اشتباه کنم چه اتفاقی می‌افتد؟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هدف مستقیم به پرچم = پاداش و ریسک بیشتر؛ هدف وسط Green = پاداش و ریسک کمتر. با توجه به شرایط مسابقه تصمیم بگیرید.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۲۵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بازی روی باد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قبل از ضربه جهت باد را مشخص کنید؛ فقط به پرچم نگاه نکنید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باد می‌تواند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جهت توپ را تغییر دهد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Carry (فاصله هوایی) را تغییر دهد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ارتفاع توپ را تحت تأثیر قرار دهد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تمرین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یک Target مشخص کنید و با بادهای مختلف نتیجه را مقایسه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در باد موافق فاصله افزایش و در باد مخالف فاصله کاهش می‌یابد؛ کلاب و Trajectory را تطبیق دهید.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۲۶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بازی روی شیب‌ها (Lieهای نامتعارف)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33007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33007" y="196596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4175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Uphill Lie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روی شیب رو به بالا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96596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30552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Downhill Lie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روی شیب رو به پایین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365760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365760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4175" y="3822191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Ball Above Feet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بالاتر از سطح پاها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5181447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5181447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3822191"/>
            <a:ext cx="4779111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Ball Below Feet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توپ پایین‌تر از سطح پاها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در هر حالت Setup، تعادل، Ball Position و Club Selection ممکن است نیاز به تغییر داشته باشد.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۲۷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Pre-Shot Routine پیشرفته‌تر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424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42460" y="2651760"/>
            <a:ext cx="1926275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12989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21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پشت توپ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Target → Visualize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8758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87585" y="2651760"/>
            <a:ext cx="1926275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8114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731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انتخاب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Club → Practice Swing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271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32710" y="2651760"/>
            <a:ext cx="1926275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3239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4243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نزدیک توپ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Setup → Alignment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77835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77835" y="2651760"/>
            <a:ext cx="1926275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48364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7563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آرامش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Breath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2651760"/>
            <a:ext cx="1926275" cy="13716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2651760"/>
            <a:ext cx="1926275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93489" y="2267712"/>
            <a:ext cx="585216" cy="585216"/>
          </a:xfrm>
          <a:prstGeom prst="ellipse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ahoma"/>
                <a:cs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971800"/>
            <a:ext cx="1706819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F2A24"/>
                </a:solidFill>
                <a:latin typeface="Tahoma"/>
                <a:cs typeface="Tahoma"/>
              </a:rPr>
              <a:t>اجرا</a:t>
            </a:r>
          </a:p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Tahoma"/>
                <a:cs typeface="Tahoma"/>
              </a:rPr>
              <a:t>Swing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440680"/>
            <a:ext cx="10545775" cy="77724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440680"/>
            <a:ext cx="82296" cy="77724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532120"/>
            <a:ext cx="1004285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2A24"/>
                </a:solidFill>
                <a:latin typeface="Tahoma"/>
                <a:cs typeface="Tahoma"/>
              </a:rPr>
              <a:t>تصمیم‌گیری باید قبل از Setup کامل شود؛ وقتی روی توپ قرار گرفتید نباید تازه درباره هدف فکر کنید.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۲۸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Mental 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بعد از ضربه بد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پذیرش ← تحلیل کوتاه ← رها کردن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بعد از ضربه عالی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  —  هیجان کنترل‌شده ← حفظ روتین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یک ضربه خوب نباید باعث بی‌احتیاطی ضربه بعدی شود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کنترل احساسات یعنی واکنش یکسان به ضربه خوب و بد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روتین ثابت، لنگرگاه ذهنی بازیکن در فشار است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ثبات ذهنی، تفاوت بین بازیکن تمرین و بازیکن مسابقه است.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۲۹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بازی با هدف مشخص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0891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1965960"/>
            <a:ext cx="2453563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62059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راند ۱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روی Fairway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965960"/>
            <a:ext cx="2453563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4175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راند ۲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روی Approach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5123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5123" y="1965960"/>
            <a:ext cx="2453563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6291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راند ۳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روی Short Game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2453563" cy="141732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1965960"/>
            <a:ext cx="2453563" cy="9144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2130552"/>
            <a:ext cx="2051227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EF6C00"/>
                </a:solidFill>
                <a:latin typeface="Tahoma"/>
                <a:cs typeface="Tahoma"/>
              </a:rPr>
              <a:t>راند ۴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Tahoma"/>
                <a:cs typeface="Tahoma"/>
              </a:rPr>
              <a:t>تمرکز روی Putting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760720"/>
            <a:ext cx="10637215" cy="658368"/>
          </a:xfrm>
          <a:prstGeom prst="roundRect">
            <a:avLst>
              <a:gd name="adj" fmla="val 6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833872"/>
            <a:ext cx="1008857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Tahoma"/>
                <a:cs typeface="Tahoma"/>
              </a:rPr>
              <a:t>به‌جای «امروز ۱۸ Hole بازی می‌کنم» یک هدف مشخص تعیین کنید تا هر راند تبدیل به جلسه تمرینی واقعی شود.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orecard_0.6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6052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989320"/>
            <a:ext cx="4160520" cy="868680"/>
          </a:xfrm>
          <a:prstGeom prst="rect">
            <a:avLst/>
          </a:prstGeom>
          <a:solidFill>
            <a:srgbClr val="16211C">
              <a:alpha val="45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5989320"/>
            <a:ext cx="3611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Tahoma"/>
                <a:cs typeface="Tahoma"/>
              </a:rPr>
              <a:t>ثبت آمار، پایه تحلیل و رشد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502920"/>
            <a:ext cx="707105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۳۰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ثبت آمار بازی</a:t>
            </a:r>
          </a:p>
        </p:txBody>
      </p:sp>
      <p:sp>
        <p:nvSpPr>
          <p:cNvPr id="8" name="Rectangle 7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693389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95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1F2A24"/>
                </a:solidFill>
                <a:latin typeface="Tahoma"/>
                <a:cs typeface="Tahoma"/>
              </a:rPr>
              <a:t>بازیکن نیمه‌پیشرفته باید شروع به ثبت آمار کند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95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450" b="1" i="0">
                <a:solidFill>
                  <a:srgbClr val="EF6C00"/>
                </a:solidFill>
                <a:latin typeface="Tahoma"/>
                <a:cs typeface="Tahoma"/>
              </a:rPr>
              <a:t>موارد پیشنهادی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150" b="0" i="0">
                <a:solidFill>
                  <a:srgbClr val="1F2A24"/>
                </a:solidFill>
                <a:latin typeface="Tahoma"/>
                <a:cs typeface="Tahoma"/>
              </a:rPr>
              <a:t>Score و Fairway Hit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150" b="0" i="0">
                <a:solidFill>
                  <a:srgbClr val="1F2A24"/>
                </a:solidFill>
                <a:latin typeface="Tahoma"/>
                <a:cs typeface="Tahoma"/>
              </a:rPr>
              <a:t>Greens in Regulation (GIR) و Putts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150" b="0" i="0">
                <a:solidFill>
                  <a:srgbClr val="1F2A24"/>
                </a:solidFill>
                <a:latin typeface="Tahoma"/>
                <a:cs typeface="Tahoma"/>
              </a:rPr>
              <a:t>Penalty و Sand Saves و Up &amp; Down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150" b="0" i="0">
                <a:solidFill>
                  <a:srgbClr val="1F2A24"/>
                </a:solidFill>
                <a:latin typeface="Tahoma"/>
                <a:cs typeface="Tahoma"/>
              </a:rPr>
              <a:t>نوع خطا در هر ضربه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95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450" b="0" i="0">
                <a:solidFill>
                  <a:srgbClr val="1F2A24"/>
                </a:solidFill>
                <a:latin typeface="Tahoma"/>
                <a:cs typeface="Tahoma"/>
              </a:rPr>
              <a:t>در این سطح لازم نیست آمار زیاد باشد؛ مهم آمار قابل استفاده است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440680"/>
            <a:ext cx="6933895" cy="841248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63440" y="5440680"/>
            <a:ext cx="82296" cy="8412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5532120"/>
            <a:ext cx="6430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نکته مربی:  </a:t>
            </a:r>
            <a:r>
              <a:rPr sz="1400" b="0" i="0">
                <a:solidFill>
                  <a:srgbClr val="1F2A24"/>
                </a:solidFill>
                <a:latin typeface="Tahoma"/>
                <a:cs typeface="Tahoma"/>
              </a:rPr>
              <a:t>آمار خوب، تصمیم تمرینی را از حدس به واقعیت تبدیل می‌کند.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۳۱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تحلیل بعد از راند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45775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1" i="0">
                <a:solidFill>
                  <a:srgbClr val="EF6C00"/>
                </a:solidFill>
                <a:latin typeface="Tahoma"/>
                <a:cs typeface="Tahoma"/>
              </a:rPr>
              <a:t>بعد از بازی سه سؤال اصلی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۱) چه چیزی خوب بود؟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۲) بیشترین امتیاز را کجا از دست دادم؟</a:t>
            </a:r>
          </a:p>
          <a:p>
            <a:pPr algn="r" rtl="1" lv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EF6C00"/>
                </a:solidFill>
                <a:latin typeface="Tahoma"/>
                <a:cs typeface="Tahoma"/>
              </a:rPr>
              <a:t>–  </a:t>
            </a:r>
            <a:r>
              <a:rPr sz="1600" b="0" i="0">
                <a:solidFill>
                  <a:srgbClr val="1F2A24"/>
                </a:solidFill>
                <a:latin typeface="Tahoma"/>
                <a:cs typeface="Tahoma"/>
              </a:rPr>
              <a:t>۳) برای راند بعدی چه چیزی را تغییر می‌دهم؟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فقط یک یا دو هدف مشخص برای تمرین بعدی انتخاب کنید</a:t>
            </a:r>
          </a:p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900" b="0" i="0">
                <a:solidFill>
                  <a:srgbClr val="1F2A24"/>
                </a:solidFill>
                <a:latin typeface="Tahoma"/>
                <a:cs typeface="Tahoma"/>
              </a:rPr>
              <a:t>تمرین را روی ضعف پرهزینه‌تر متمرکز کنید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486400"/>
            <a:ext cx="10545775" cy="82296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82296" cy="82296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577840"/>
            <a:ext cx="1004285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💡 </a:t>
            </a:r>
            <a:r>
              <a:rPr sz="1450" b="1" i="0">
                <a:solidFill>
                  <a:srgbClr val="1F2A24"/>
                </a:solidFill>
                <a:latin typeface="Tahoma"/>
                <a:cs typeface="Tahoma"/>
              </a:rPr>
              <a:t>تحلیل مؤثر یعنی خروجی مشخص و قابل‌اجرا، نه فهرست بلند بالای اشکالات.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۳۲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تمرین عملی — ایستگاه‌ها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4" cy="38861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15258"/>
                <a:gridCol w="3515258"/>
                <a:gridCol w="3515258"/>
              </a:tblGrid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ایستگاه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تمرین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3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هدف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۱ — Iron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 توپ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Contact + Direction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۲ — Driver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 توپ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Fairway + Dispersion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۳ — Pitch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 توپ از فاصله‌های مختلف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Carry + Roll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۴ — Chip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 توپ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Landing Zone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۵ — Putting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 کوتاه + ۱۰ بلند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Start Line + Speed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۶ — Course Mgmt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سناریوهای واقعی روی زمین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Club؟ Target؟ Risk؟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03504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در ایستگاه ۶ بازیکن باید قبل از ضربه توضیح دهد: کلاب؟ هدف؟ ریسک؟ دلیل انتخاب؟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فصل ۳۳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برنامه ۱۲ جلسه‌ای نیمه‌پیشرفته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965960"/>
          <a:ext cx="10545772" cy="38861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جلسه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200" b="1" i="0">
                          <a:solidFill>
                            <a:srgbClr val="FFFFFF"/>
                          </a:solidFill>
                          <a:latin typeface="Tahoma"/>
                          <a:cs typeface="Tahoma"/>
                        </a:rPr>
                        <a:t>موضوع</a:t>
                      </a:r>
                    </a:p>
                  </a:txBody>
                  <a:tcPr anchor="ctr" marT="25400" marB="25400">
                    <a:solidFill>
                      <a:srgbClr val="EF6C00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ارزیابی فنی و آماری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۷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Pitching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۲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Club Face + Club Path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Chipping + Landing Zone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۳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Iron Distance Control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۹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Bunker + Short Game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Trajectory + Shot Shaping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Putting + Green Reading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۵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Driver + Dispersion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۱۱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Course Management + Risk/Reward</a:t>
                      </a:r>
                    </a:p>
                  </a:txBody>
                  <a:tcPr anchor="ctr" marT="12700" marB="12700">
                    <a:solidFill>
                      <a:srgbClr val="F6F8F3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1" i="0">
                          <a:solidFill>
                            <a:srgbClr val="EF6C00"/>
                          </a:solidFill>
                          <a:latin typeface="Tahoma"/>
                          <a:cs typeface="Tahoma"/>
                        </a:rPr>
                        <a:t>۶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Approach + Target Selection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۱۲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rtl="1"/>
                      <a:r>
                        <a:rPr sz="1100" b="0" i="0">
                          <a:solidFill>
                            <a:srgbClr val="1F2A24"/>
                          </a:solidFill>
                          <a:latin typeface="Tahoma"/>
                          <a:cs typeface="Tahoma"/>
                        </a:rPr>
                        <a:t>راند ارزیابی + تحلیل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035040"/>
            <a:ext cx="105457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●  </a:t>
            </a:r>
            <a:r>
              <a:rPr sz="1350" b="0" i="0">
                <a:solidFill>
                  <a:srgbClr val="5C6B62"/>
                </a:solidFill>
                <a:latin typeface="Tahoma"/>
                <a:cs typeface="Tahoma"/>
              </a:rPr>
              <a:t>هر جلسه با ارزیابی قبل و بعد همراه است تا پیشرفت قابل اندازه‌گیری باشد.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6968" y="502920"/>
            <a:ext cx="1054577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آزمون پایان دوره</a:t>
            </a:r>
          </a:p>
          <a:p>
            <a:pPr algn="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F2A24"/>
                </a:solidFill>
                <a:latin typeface="Tahoma"/>
                <a:cs typeface="Tahoma"/>
              </a:rPr>
              <a:t>آزمون پایان دوره نیمه‌پیشرفته</a:t>
            </a:r>
          </a:p>
        </p:txBody>
      </p:sp>
      <p:sp>
        <p:nvSpPr>
          <p:cNvPr id="5" name="Rectangle 4"/>
          <p:cNvSpPr/>
          <p:nvPr/>
        </p:nvSpPr>
        <p:spPr>
          <a:xfrm>
            <a:off x="9741103" y="1572768"/>
            <a:ext cx="1828800" cy="41148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12556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12556" y="1920240"/>
            <a:ext cx="3301898" cy="658368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12556" y="2487168"/>
            <a:ext cx="3301898" cy="9144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95436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تئوری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8588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چرا کلاب خاصی را انتخاب کرده؟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تفاوت Carry و Total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Risk و Reward چیست؟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باد را چگونه وارد تصمیم می‌کند؟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هدف‌گیری Green و خواندن Putt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تحلیل عملکرد خود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4898" y="1920240"/>
            <a:ext cx="3301898" cy="658368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4898" y="2487168"/>
            <a:ext cx="3301898" cy="9144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7778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عملی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930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Iron با Contact و فاصله کنترل‌شده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Driver با پراکندگی قابل قبول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Pitch در چند فاصله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Chip با کلاب‌های مختلف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Bunker Shot پایه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Lag Putting و خواندن Green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920240"/>
            <a:ext cx="3301898" cy="3886200"/>
          </a:xfrm>
          <a:prstGeom prst="roundRect">
            <a:avLst>
              <a:gd name="adj" fmla="val 6000"/>
            </a:avLst>
          </a:prstGeom>
          <a:solidFill>
            <a:srgbClr val="F6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301898" cy="658368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487168"/>
            <a:ext cx="3301898" cy="91440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1975104"/>
            <a:ext cx="2936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بازی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2788920"/>
            <a:ext cx="2844698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قبل از ضربه Target تعیین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خطرات را شناسایی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ریسک را ارزیابی کند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Pre-Shot Routine داشته باشد</a:t>
            </a:r>
          </a:p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 i="0">
                <a:solidFill>
                  <a:srgbClr val="EF6C00"/>
                </a:solidFill>
                <a:latin typeface="Tahoma"/>
                <a:cs typeface="Tahoma"/>
              </a:rPr>
              <a:t>☐  </a:t>
            </a: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Scorecard کامل و تحلیل بعد از راند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80760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F6C00"/>
                </a:solidFill>
                <a:latin typeface="Tahoma"/>
                <a:cs typeface="Tahoma"/>
              </a:rPr>
              <a:t>تسلط بر این موارد یعنی گذار از اجرای تکنیک به بازی کردن واقعی گلف.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F6C00"/>
                </a:solidFill>
                <a:latin typeface="Tahoma"/>
                <a:cs typeface="Tahoma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16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96313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B74D"/>
                </a:solidFill>
                <a:latin typeface="Tahoma"/>
                <a:cs typeface="Tahoma"/>
              </a:rPr>
              <a:t>معیار ورود به دوره پیشرفته  |  استقلال کامل در تصمیم‌گیری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9814255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Tahoma"/>
                <a:cs typeface="Tahoma"/>
              </a:rPr>
              <a:t>« کنار توپ بایستم و خودم بگویم: توپ اینجاست، فاصله این است، باد این جهت است، خطر آن سمت است، این کلاب مناسب‌تر است و اگر خطا کردم ترجیح می‌دهم توپ اینجا باشد. »</a:t>
            </a:r>
          </a:p>
          <a:p>
            <a:pPr algn="ctr" rtl="1">
              <a:lnSpc>
                <a:spcPct val="120000"/>
              </a:lnSpc>
              <a:spcBef>
                <a:spcPts val="1800"/>
              </a:spcBef>
              <a:spcAft>
                <a:spcPts val="800"/>
              </a:spcAft>
            </a:pPr>
            <a:r>
              <a:rPr sz="1600" b="0" i="0">
                <a:solidFill>
                  <a:srgbClr val="C9D6C8"/>
                </a:solidFill>
                <a:latin typeface="Tahoma"/>
                <a:cs typeface="Tahoma"/>
              </a:rPr>
              <a:t>این نقطه، آغاز ورود بازیکن از اجرای تکنیک به مرحله بازی کردن واقعی گلف است.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urse-aerial_1.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1C">
              <a:alpha val="72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103628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Tahoma"/>
                <a:cs typeface="Tahoma"/>
              </a:rPr>
              <a:t>مسیر چهار سطح آموزشی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0891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0891" y="2286000"/>
            <a:ext cx="2316403" cy="5669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70619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مقدماتی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5483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شناخت و تکنیک پایه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576843" y="2971800"/>
            <a:ext cx="310896" cy="457200"/>
          </a:xfrm>
          <a:prstGeom prst="leftArrow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78727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2286000"/>
            <a:ext cx="2316403" cy="566928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8455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تکمیلی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3319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تثبیت و کنترل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5894679" y="2971800"/>
            <a:ext cx="310896" cy="457200"/>
          </a:xfrm>
          <a:prstGeom prst="leftArrow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96563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96563" y="2286000"/>
            <a:ext cx="2316403" cy="566928"/>
          </a:xfrm>
          <a:prstGeom prst="rect">
            <a:avLst/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6291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نیمه‌پیشرفته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1155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استراتژی و مدیریت زمین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3212515" y="2971800"/>
            <a:ext cx="310896" cy="457200"/>
          </a:xfrm>
          <a:prstGeom prst="leftArrow">
            <a:avLst/>
          </a:prstGeom>
          <a:solidFill>
            <a:srgbClr val="FFB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2286000"/>
            <a:ext cx="2316403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2286000"/>
            <a:ext cx="2316403" cy="5669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2331720"/>
            <a:ext cx="2096947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ahoma"/>
                <a:cs typeface="Tahoma"/>
              </a:rPr>
              <a:t>پیشرفته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2971800"/>
            <a:ext cx="19872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A24"/>
                </a:solidFill>
                <a:latin typeface="Tahoma"/>
                <a:cs typeface="Tahoma"/>
              </a:rPr>
              <a:t>عملکرد رقابتی و تخصص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617720"/>
            <a:ext cx="9997135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 rtl="1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EAF3E8"/>
                </a:solidFill>
                <a:latin typeface="Tahoma"/>
                <a:cs typeface="Tahoma"/>
              </a:rPr>
              <a:t>گام نهایی: عملکرد رقابتی، مدیریت حرفه‌ای بازی و بازی در شرایط فشار.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ahoma"/>
                <a:cs typeface="Tahoma"/>
              </a:rPr>
              <a:t>Golf Academy  ·  Semi-Advanced · Level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0015" y="6400800"/>
            <a:ext cx="14630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rtl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74D"/>
                </a:solidFill>
                <a:latin typeface="Tahoma"/>
                <a:cs typeface="Tahoma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