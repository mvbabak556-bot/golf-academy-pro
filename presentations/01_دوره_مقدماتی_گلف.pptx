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embeddedFontLst>
    <p:embeddedFont>
      <p:font typeface="Vazirmatn" charset="178" pitchFamily="34"/>
      <p:regular r:id="rId35"/>
      <p:bold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font" Target="fonts/font_rId35.fntdata"/><Relationship Id="rId36" Type="http://schemas.openxmlformats.org/officeDocument/2006/relationships/font" Target="fonts/font_rId3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1-beginner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6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794760"/>
            <a:ext cx="12191695" cy="3063240"/>
          </a:xfrm>
          <a:prstGeom prst="rect">
            <a:avLst/>
          </a:prstGeom>
          <a:solidFill>
            <a:srgbClr val="16211C">
              <a:alpha val="5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65615" y="0"/>
            <a:ext cx="2926080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Puttclub</a:t>
            </a:r>
          </a:p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E2D6"/>
                </a:solidFill>
                <a:latin typeface="Vazirmatn"/>
                <a:cs typeface="Vazirmatn"/>
              </a:rPr>
              <a:t>آکادمی گلف پات‌کلاب  ·  الهام طالبی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1175" y="502920"/>
            <a:ext cx="3520440" cy="841248"/>
          </a:xfrm>
          <a:prstGeom prst="roundRect">
            <a:avLst>
              <a:gd name="adj" fmla="val 6000"/>
            </a:avLst>
          </a:prstGeom>
          <a:solidFill>
            <a:srgbClr val="FFFFFF">
              <a:alpha val="1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175" y="548640"/>
            <a:ext cx="3520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مدرس: الهام طالبی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CC65"/>
                </a:solidFill>
                <a:latin typeface="Vazirmatn"/>
                <a:cs typeface="Vazirmatn"/>
              </a:rPr>
              <a:t>مدرس درجه یک گلف ایران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36289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9CCC65"/>
                </a:solidFill>
                <a:latin typeface="Vazirmatn"/>
                <a:cs typeface="Vazirmatn"/>
              </a:rPr>
              <a:t>Puttclub  |  آکادمی گلف پات‌کلاب  |  سطح 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Vazirmatn"/>
                <a:cs typeface="Vazirmatn"/>
              </a:rPr>
              <a:t>دوره مقدماتی آموزش گلف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D7E2D6"/>
                </a:solidFill>
                <a:latin typeface="Vazirmatn"/>
                <a:cs typeface="Vazirmatn"/>
              </a:rPr>
              <a:t>آشنایی، اصول پایه و ساخت تکنیک صحیح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مخاطب: بازیکنان مبتدی و تازه‌واردان به گلف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هدف: اجرای ضربات پایه با اصول صحیح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۲۲ فصل آموزشی  ·  ۱۰ جلسه عملی  ·  آزمون پایان دوره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114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latin typeface="Vazirmatn"/>
                <a:cs typeface="Vazirmatn"/>
                <a:solidFill>
                  <a:srgbClr val="FFFFFF">
                    <a:alpha val="22000"/>
                  </a:srgbClr>
                </a:solidFill>
              </a:rPr>
              <a:t>۰۱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9713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Vazirmatn"/>
                <a:cs typeface="Vazirmatn"/>
              </a:rPr>
              <a:t>هدف نهایی دوره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AF3E8"/>
                </a:solidFill>
                <a:latin typeface="Vazirmatn"/>
                <a:cs typeface="Vazirmatn"/>
              </a:rPr>
              <a:t>ساختن پایه‌ای صحیح برای ادامه مسیر گلف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535" y="3429000"/>
            <a:ext cx="49377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ضربات پایه را با اصول صحیح اجرا 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زمین و تجهیزات را بشناسد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قوانین ابتدایی را رعایت 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یک بازی ساده را مدیریت 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امتیاز خود را درست ثبت کند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اول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گلف چیست؟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گلف ورزشی است که بازیکن توپ را از محل شروع Tee به داخل Hole می‌رساند.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و این کار را با کمترین تعداد ضربه انجام می‌دهد.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اما گلف فقط ضربه زدن به توپ نیست؛ یک بازیکن باید هم‌زمان بتواند: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ضربه صحیح اجرا کند و فاصله را تخمین بزند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کلاب مناسب را انتخاب کند و مسیر زمین را بشناسد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شرایط باد و شیب را در نظر بگیرد و تمرکز خود را حفظ کند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امتیاز را درست ثبت کند و قوانین و اخلاق ورزشی را رعایت کند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در گلف ابتدا حرکت صحیح را یاد می‌گیریم؛ سپس به فکر افزایش قدرت و فاصله هستیم.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urse-aerial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نمای هوایی یک زمین استاندارد گلف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دوم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آشنایی با زمین گلف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Tee Box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محل شروع بازی هر سوراخ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Fairway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مسیر اصلی و کوتاه‌تر چمن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Rough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چمن بلندتر اطراف Fairway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Bunker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ناحیه پر از شن با تکنیک خاص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Green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بخش کوتاه و صاف که Hole در آن 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Hole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هدف نهایی بازیکن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هر سوراخ از این بخش‌ها تشکیل شده و شناخت آن‌ها پایه تصمیم‌گیری است.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دوم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مسیر کلی یک سوراخ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24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42460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12989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21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TEE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شروع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58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87585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8114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31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FAIRWAY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مسیر اصلی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271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32710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APPROACH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نزدیک شدن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783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7835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8364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56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GREEN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محل Hole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93489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HOLE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هدف نهایی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بازی هر سوراخ از Tee آغاز و با رسیدن توپ به Hole پایان می‌یابد.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سوم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تجهیزات گلف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Driver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ضربات بسیار بلند، معمولاً از روی Tee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Wood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ضربات بلند از Fairway یا Tee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Hybrid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راحت‌تر از آهن‌های بلند برای مبتدی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365760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596" y="365760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2764" y="3822191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Iron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ضربات دقیق‌تر در فواصل مختلف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418" y="365760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4418" y="365760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5586" y="3822191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Wedge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ضربات کوتاه و نزدیک Green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5760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65760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822191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Putter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ضربات روی سطح Green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کلاب مناسب را بر اساس شرایط ضربه انتخاب می‌کنیم، نه بر اساس «قوی‌ترین» کلاب.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چهارم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آشنایی با اجزای Club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Grip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قسمتی که دست‌ها کلاب را می‌گیرند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Shaft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میله اصلی کلاب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Club Head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سر کلاب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365760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596" y="365760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2764" y="3822191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Club Face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سطحی که با توپ تماس پیدا می‌کند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418" y="365760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4418" y="3657600"/>
            <a:ext cx="336285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5586" y="3822191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Loft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زاویه Face که بر ارتفاع و مسیر توپ اثر دارد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ip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گرفتن صحیح و طبیعی کلاب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پنجم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گرفتن صحیح کلاب (Grip)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سه مدل رایج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Overlap، Interlock و Ten Finger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Overlap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یکی از روش‌های رایج بازیکنان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Interlock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دو انگشت دست‌ها در هم قفل می‌شوند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Ten Finger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تمام انگشتان روی Grip قرار می‌گیرند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کلاب را بیش از حد محکم نگیرید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دست‌ها در وضعیت طبیعی و فشار Grip ثابت باشد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تمرین: چند بار Grip ← Release ← Grip انجام دهید تا فشار مناسب دست را پیدا کنید.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tup-stanc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Setup متعادل و آماده حرکت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ششم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وضعیت قرارگیری پاها (Stance)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پاها تقریباً به اندازه عرض شانه باز شوند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زانوها کمی خم و وزن بدن متعادل باشد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پاها پایدار و بدن آزاد و بدون تنش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Stance یعنی وضعیت پاها نسبت به توپ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اشتباه رایج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باز کردن بیش از حد پاها برای قدرت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یا خشک کردن بدن برای ایجاد نیرو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تمرین: بدون کلاب مقابل توپ چند بار Setup تکرار شود تا تکرارپذیری ایجاد شود.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هفتم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وضعیت بدن در Address (Posture)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01606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01606" y="2651760"/>
            <a:ext cx="156712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92562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1333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۱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صاف بایستید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5876" y="2651760"/>
            <a:ext cx="156712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96833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5604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۲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از لگن به جلو خم شوید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2651760"/>
            <a:ext cx="156712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1104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9875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۳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زانوها کمی خم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418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4418" y="2651760"/>
            <a:ext cx="156712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05375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146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۴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دست‌ها آزاد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18689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18689" y="2651760"/>
            <a:ext cx="156712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09645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8417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۵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شانه‌ها رها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2651760"/>
            <a:ext cx="1567129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13916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۶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وزن متعادل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بدن را یک ساختار متعادل و آماده حرکت تصور کنید، نه اینکه خود را روی توپ خم کنید.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هشتم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تنظیم نسبت به هدف (Alignment)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2E7D32"/>
                </a:solidFill>
                <a:latin typeface="Vazirmatn"/>
                <a:cs typeface="Vazirmatn"/>
              </a:rPr>
              <a:t>ترتیب صحیح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Target ← Club Face ← Body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ابتدا Club Face را نسبت به هدف تنظیم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سپس پاها، زانوها، لگن و شانه‌ها را موازی خط هدف بچینید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2E7D32"/>
                </a:solidFill>
                <a:latin typeface="Vazirmatn"/>
                <a:cs typeface="Vazirmatn"/>
              </a:rPr>
              <a:t>تمرین Alignment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دو چوب روی زمین بگذارید؛ یکی در امتداد هدف و دیگری موازی آن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چند بار Setup بگیرید و بدون ضربه جهت بدن را بررسی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اول صورت کلاب به هدف، بعد بدن؛ این ترتیب را هرگز عوض نکنید.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نهم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آشنایی با مراحل Swing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50538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50538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7028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266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Setup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آماده شدن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741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3741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70231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3469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Takeaway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شروع حرکت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56944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56944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23434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6672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Backswing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حرکت به عقب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6638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9875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Transition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انتقال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3350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3350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9841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3078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Downswing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حرکت به توپ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16553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16553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83044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6281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Impact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تماس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69756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69756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36247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9484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Follow Through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ادامه حرکت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2651760"/>
            <a:ext cx="11181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2651760"/>
            <a:ext cx="1118196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9450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2971800"/>
            <a:ext cx="8987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Finish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پایان متعادل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در دوره مقدماتی Swing را پیچیده نکنید؛ مفهوم کلی و ترتیب مراحل مهم است.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wing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چرخش بدن و حرکت هماهنگ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Swing با Iron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هدف اصلی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تماس صحیح و تکرارپذیر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بدن می‌چرخد، دست‌ها حرکت می‌کنند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کلاب در مسیر مناسب به توپ می‌رسد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نباید تمام Swing فقط با دست‌ها انجام 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ترتیب ساده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Setup ← Turn ← Swing ← Impact ← Finish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تکرارپذیری Setup و تماس، مهم‌تر از قدرت در دوره مقدماتی است.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dress-iron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آماده‌سازی برای تماس Ball-First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یازدهم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تماس با توپ در Iron (Impact)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مفهوم مهم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Ball First (اول توپ)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کلاب ابتدا با توپ تماس می‌گیرد، سپس زمین را لمس می‌کند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نشانه مناسب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توپ ← سپس زمین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Divot معمولاً بعد از محل توپ ایجاد می‌شود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2E7D32"/>
                </a:solidFill>
                <a:latin typeface="Vazirmatn"/>
                <a:cs typeface="Vazirmatn"/>
              </a:rPr>
              <a:t>تمرین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ابتدا بدون توپ چند Swing آرام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نقطه پایین Swing را کنترل کنید، سپس توپ اضافه شود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اگر Divot جلوی توپ (بعد از توپ) ایجاد شود، یعنی تماس Ball-First داشته‌اید.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iver-te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Driver از روی 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دوازدهم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Swing با Wood و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هدف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تماس مناسب + سرعت کنترل‌شده + تعادل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برای Driver توپ جلوتر قرار می‌گیرد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Stance کمی بازتر و چرخش بدن بسیار مهم 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نباید با زور دست‌ها سرعت ایجاد کرد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قانون دوره مقدماتی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اول تماس صحیح، بعد سرعت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در Driver هم مانند آهن، تعادل و تماس بر قدرت مقدم است.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سیزدهم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ضربه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Pitch یک ضربه کوتاه با مسیر نسبتاً بلند در هواست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2E7D32"/>
                </a:solidFill>
                <a:latin typeface="Vazirmatn"/>
                <a:cs typeface="Vazirmatn"/>
              </a:rPr>
              <a:t>هدف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ارتفاع + کنترل فاصله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2E7D32"/>
                </a:solidFill>
                <a:latin typeface="Vazirmatn"/>
                <a:cs typeface="Vazirmatn"/>
              </a:rPr>
              <a:t>Setup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Stance نسبتاً باریک، وزن کمی بیشتر روی پای جلو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توپ نزدیک مرکز تا کمی جلو و دست‌ها کنترل‌شده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2E7D32"/>
                </a:solidFill>
                <a:latin typeface="Vazirmatn"/>
                <a:cs typeface="Vazirmatn"/>
              </a:rPr>
              <a:t>Swing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Backswing کوتاه ← Impact ← Follow Through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در Pitch نباید فقط با دست‌ها ضربه بزنیم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فاصله در Pitch با طول Swing و ریتم کنترل می‌شود، نه با زور بیشتر.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Chip نزدیک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چهاردهم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ضربه Chip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Chip معمولاً نزدیک Green استفاده می‌شود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هدف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  —  توپ کمی در هوا، بیشتر روی زمین بغلتد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Setup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  —  Stance باریک، وزن بیشتر روی پای جلو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توپ وسط یا کمی عقب، دست‌ها کمی جلوتر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حرکت مانند پاندول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  —  Back ← Impact ← Through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قبل از ضربه مشخص کنید توپ کجا فرود آید، سپس Roll را حساب کنید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اول نقطه فرود را انتخاب کنید؛ مقدار Roll را بعد از آن در نظر بگیرید.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پانزدهم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Putting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Putting یکی از مهم‌ترین مهارت‌های گلف 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2E7D32"/>
                </a:solidFill>
                <a:latin typeface="Vazirmatn"/>
                <a:cs typeface="Vazirmatn"/>
              </a:rPr>
              <a:t>چهار موضوع اصلی در دوره مقدماتی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Grip:: گرفتن صحیح Putter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Stance:: قرارگیری مناسب بدن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Alignment:: تنظیم نسبت به خط هدف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D32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Distance Control:: کنترل سرعت و فاصله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حرکت Putter باید ساده و کنترل‌شده باشد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بیشترین ضربه‌های یک راند روی Green زده می‌شود؛ روی Putting وقت بگذارید.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een-hol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توپ نزدیک Hole روی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شانزدهم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تمرین Putting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توپ‌ها را در فاصله‌های ۲، ۴ و ۶ متری قرار دهید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در ابتدا هدف فقط Hole کردن نیست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2E7D32"/>
                </a:solidFill>
                <a:latin typeface="Vazirmatn"/>
                <a:cs typeface="Vazirmatn"/>
              </a:rPr>
              <a:t>هدف اصلی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کنترل سرعت توپ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توپ باید در اطراف Hole متوقف 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سپس تمرین Short Putts را انجام دهید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حس فاصله با تکرار ساخته می‌شود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اگر توپ همیشه با سرعت مناسب به Hole برسد، شانس Hole شدن بسیار بالا می‌رود.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هفدهم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قوانین پایه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0891" y="196596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196596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62059" y="213055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Tee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محل شروع هر سوراخ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6596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96596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213055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Hole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هدف نهایی توپ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5123" y="196596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5123" y="196596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6291" y="213055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Stroke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هر ضربه به توپ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96596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13055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Penalty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جریمه خطا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0891" y="321564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0891" y="321564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059" y="338023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Out of Bounds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خارج از محدوده مجاز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21564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21564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4175" y="338023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Lost Ball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گم‌شده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5123" y="321564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5123" y="321564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6291" y="338023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Penalty Area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منطقه جریمه (آب و...)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21564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21564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3380232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Bunker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موانع شنی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0891" y="446532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0891" y="446532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2059" y="4629911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Ground Under Repair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زمین در دست تعمیر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446532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3007" y="446532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175" y="4629911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Provisional Ball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موقت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05123" y="446532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05123" y="446532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6291" y="4629911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Local Rules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قوانین محلی زمین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465320"/>
            <a:ext cx="2453563" cy="9753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465320"/>
            <a:ext cx="2453563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4629911"/>
            <a:ext cx="2051227" cy="701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Vazirmatn"/>
                <a:cs typeface="Vazirmatn"/>
              </a:rPr>
              <a:t>Scorecard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ثبت امتیاز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قوانین محلی زمین (Local Rules) ممکن است شرایط خاصی ایجاد کنند.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هجدهم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امتیازگیری (Score)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4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نتیجه</a:t>
                      </a:r>
                    </a:p>
                  </a:txBody>
                  <a:tcPr anchor="ctr" marT="25400" marB="25400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تعداد ضربه</a:t>
                      </a:r>
                    </a:p>
                  </a:txBody>
                  <a:tcPr anchor="ctr" marT="25400" marB="25400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نسبت به Par 4</a:t>
                      </a:r>
                    </a:p>
                  </a:txBody>
                  <a:tcPr anchor="ctr" marT="25400" marB="25400">
                    <a:solidFill>
                      <a:srgbClr val="2E7D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Birdie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۳ ضربه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یک ضربه کمتر از Par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Par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۴ ضربه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هم‌سطح Par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Bogey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۵ ضربه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یک ضربه بیشتر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Double Bogey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۶ ضربه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دو ضربه بیشتر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8348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هدف گلف کمترین تعداد ضربه است؛ از همان ابتدا عادت کنید هر ضربه را ثبت کنید.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نوزدهم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Course Management مقدماتی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حتی بازیکن مبتدی باید قبل از ضربه فکر کند. پنج پرسش پایه: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۱) هدف من کجاست؟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۲) خطر کجاست؟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۳) فاصله چقدر است؟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۴) کدام Club مناسب‌تر است؟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۵) ضربه بعدی من از کجا خواهد بود؟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این پنج سؤال، پایه تصمیم‌گیری در زمین را تشکیل می‌دهند.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بیستم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آداب و فرهنگ گلف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هنگام ضربه دیگران سکوت کنید و ایمنی را رعایت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به بازیکنان احترام بگذارید و زمین را خراب نکنید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آثار ضربه (Divot) را ترمیم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Bunker را بعد از بازی مرتب (Rake)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به‌موقع حاضر شوید و امتیاز واقعی خود را ثبت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یک گلف‌باز خوب فقط ضربه خوب نمی‌زند؛ رفتار خوبی هم دارد.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بیست‌ویکم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روتین ساده تمرکز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24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42460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12989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21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ببین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موقعیت را ببین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58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87585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8114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31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تصمیم بگیر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انتخاب ضربه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271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32710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آماده شو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Setup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783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7835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8364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56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ضربه بزن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اجرا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1926275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93489" y="2267712"/>
            <a:ext cx="585216" cy="5852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رها کن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پذیرش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بعد از ضربه: پذیرش ← یک نفس ← تصمیم جدید؛ ضربه قبلی را مدام تحلیل نکن.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فصل بیست‌ودوم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برنامه عملی ۱۰ جلسه‌ای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40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2E7D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آشنایی + تجهیزات + زمین + قوانین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۶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Pitching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۲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Grip + Stance + Posture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۷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Iron Swing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۳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Alignment + Setup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۸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Wood / Driver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Putting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۹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ترکیب ضربات + Course Management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2E7D32"/>
                          </a:solidFill>
                          <a:latin typeface="Vazirmatn"/>
                          <a:cs typeface="Vazirmatn"/>
                        </a:rPr>
                        <a:t>۵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Chipping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بازی آموزشی + ارزیابی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50407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هر جلسه با تمرین عملی، تصویر آموزشی، خطاهای رایج و نکته مربی همراه است.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آزمون پایان دوره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آزمون پایان دوره مقدماتی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12556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12556" y="1920240"/>
            <a:ext cx="330189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12556" y="2487168"/>
            <a:ext cx="3301898" cy="9144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تئوری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8588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اجزای زمین را توضیح دهد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کلاب‌های اصلی را بشناسد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اصطلاحات پایه را بداند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قوانین ابتدایی را رعایت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Scorecard را تکمیل کند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1920240"/>
            <a:ext cx="330189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4898" y="2487168"/>
            <a:ext cx="3301898" cy="9144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7778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فنی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930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Grip صحیح داشته باشد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Setup مناسب ایجاد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Alignment صحیح داشته باشد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Putting پایه اجرا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Chip و Pitch پایه اجرا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Iron و Wood Swing پایه اجرا کند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330189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3301898" cy="91440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رفتاری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ایمنی را رعایت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آداب گلف را رعایت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در بازی منظم باشد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7D32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امتیاز را صادقانه ثبت کند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80760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Vazirmatn"/>
                <a:cs typeface="Vazirmatn"/>
              </a:rPr>
              <a:t>بازیکن با تسلط بر این موارد آماده ورود به دوره تکمیلی است.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Vazirmatn"/>
                <a:cs typeface="Vazirmat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313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CCC65"/>
                </a:solidFill>
                <a:latin typeface="Vazirmatn"/>
                <a:cs typeface="Vazirmatn"/>
              </a:rPr>
              <a:t>نتیجه نهایی  |  انتظار درست از دوره مقدماتی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81425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Vazirmatn"/>
                <a:cs typeface="Vazirmatn"/>
              </a:rPr>
              <a:t>« در پایان این دوره، «گلف را کامل یاد نگرفته‌اید»؛ بلکه پایه صحیح ادامه مسیر را ساخته‌اید. »</a:t>
            </a:r>
          </a:p>
          <a:p>
            <a:pPr algn="ctr" rtl="1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</a:pPr>
            <a:r>
              <a:rPr sz="1600" b="0" i="0">
                <a:solidFill>
                  <a:srgbClr val="C9D6C8"/>
                </a:solidFill>
                <a:latin typeface="Vazirmatn"/>
                <a:cs typeface="Vazirmatn"/>
              </a:rPr>
              <a:t>مقدماتی: شناخت + تکنیک پایه  ·  تکمیلی: تثبیت + کنترل  ·  نیمه‌پیشرفته: استراتژی  ·  پیشرفته: عملکرد رقابتی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urse-aerial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7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مسیر چهار سطح آموزشی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0891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2286000"/>
            <a:ext cx="2316403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70619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مقدماتی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483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شناخت و تکنیک پایه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576843" y="2971800"/>
            <a:ext cx="310896" cy="457200"/>
          </a:xfrm>
          <a:prstGeom prst="leftArrow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2286000"/>
            <a:ext cx="2316403" cy="56692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تکمیلی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19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تثبیت و کنترل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894679" y="2971800"/>
            <a:ext cx="310896" cy="457200"/>
          </a:xfrm>
          <a:prstGeom prst="leftArrow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6563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96563" y="2286000"/>
            <a:ext cx="2316403" cy="56692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6291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نیمه‌پیشرفته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1155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استراتژی و مدیریت زمین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212515" y="2971800"/>
            <a:ext cx="310896" cy="457200"/>
          </a:xfrm>
          <a:prstGeom prst="leftArrow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286000"/>
            <a:ext cx="2316403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پیشرفته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عملکرد رقابتی و تخصص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999713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AF3E8"/>
                </a:solidFill>
                <a:latin typeface="Vazirmatn"/>
                <a:cs typeface="Vazirmatn"/>
              </a:rPr>
              <a:t>ساخت بازیکنی تکنیکی، باهوش، منضبط، مستقل و آماده مسابقه.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CCC65"/>
                </a:solidFill>
                <a:latin typeface="Vazirmatn"/>
                <a:cs typeface="Vazirmatn"/>
              </a:rPr>
              <a:t>⛳ Puttclub  —  آکادمی گلف پات‌کلاب   |   مدرس: الهام طالبی (مدرس درجه یک گلف ایران)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Beginner · Level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CCC65"/>
                </a:solidFill>
                <a:latin typeface="Vazirmatn"/>
                <a:cs typeface="Vazirmatn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